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después del lab. Enlace: hace una hora escribieron un compose a mano con volúmenes, redes y un .env; la S3 se quedó en cómo se hablan dos servicios y hoy abrimos el resto del sistema: las seis piezas que lo rodean y los datos. La portada lo dice: el enlace que en la S3 no llegaba hoy llega, en verde, a un centro con seis nodos alrededor. Tiempo: 1 minuto. Transición: "Este es el mapa de las dos horas".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frases: hoy cerramos cómo se hablan los servicios (gRPC y el criterio) y abrimos las seis piezas que quedaron pendientes de la S3; terminamos, como cada sábado, con una decisión: FarmaYa a las 09:44. Hoy no hay demo: el sistema corriendo se desglosa en el lab de la S5. Los títulos son hipervínculos para saltar si el tiempo aprieta. Válvulas, en orden: la slide 5 (REST o gRPC) en 2 minutos con la pura tabla si a las 08:16 vamos tarde; la 14 (12-factor) en una frase si a las 09:25 vamos tarde; la 16 (seis familias) en 30 segundos; la 18 (FarmaYa) nunca se recorta. Tiempo: 2 minutos. Transición: "Primero, lo que quedó de la S3 en cuatro frases".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de 5 minutos, sin volver a explicar: cuatro frases que se leen en voz alta y se comprueban con el dato duro de cada tarjeta. 1) El timeout: en la demo el cliente lanzó HttpTimeoutException a los 2 015 ms y el servidor cobró a los 5 000; el cliente solo sabe que dejó de esperar, no si se cobró. 2) Exactly-once no se entrega, se construye: at-least-once más deduplicación; los Dos Generales lo prueban, TCP entrega bytes y no efectos, y Kafka lo garantiza solo dentro de Kafka. 3) REST hace la red explícita: recursos, verbos con contrato y códigos que toda la infraestructura entiende; RFC 9110 separa seguro de idempotente (DELETE cambia estado y es idempotente); el proyecto vive en el nivel 2 de Richardson. 4) Idempotencia real: una clave por intención, como Stripe (24 horas de retención, 409 si la primera sigue en vuelo), más una reserva atómica fuera del proceso: INSERT con UNIQUE, no un Map en memoria, por la carrera TOCTOU y las N réplicas. Recordar la tarea opcional s03/opcional-idempotencia/, sin calificación; pregunta rápida: ¿quién la hizo y qué le costó más? Tiempo: 5 minutos. Transición: "En la S3 dijimos que RPC volvería; volvió con nombre: gRPC".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lo anunció Google el 26 de febrero de 2015, sobre HTTP/2; retoma a Birrell y Nelson (1984) con contratos .proto que protoc convierte en stubs. Leer el .proto de la izquierda: un servicio, un método, un mensaje con campos numerados. Recorrer los cuatro pasos del diagrama: 1) el contrato en .proto; 2) protoc genera un stub por lenguaje, así el cliente en Java y el servidor en Go hablan sin ponerse de acuerdo en nada más; 3) el cliente llama al stub como si fuera una función local, la idea de 1984; 4) los bytes viajan en Protobuf sobre HTTP/2 y vuelve una respuesta o un stream. Los datos duros: el objeto {"id":42,"nombre":"Ada","activo":true} pesa 38 bytes en JSON compacto y 9 en Protobuf, 08 2A 12 03 41 64 61 18 01: 08 es el tag del campo 1 como varint y 2A es 42; 12 03 41 64 61 es el campo 2 con longitud 3 y "Ada"; 18 01 es el campo 3 en true. No viajan nombres de campo, solo números y varints; por eso la regla sagrada es no reutilizar jamás el número de un campo eliminado: se declara reserved, porque un cliente viejo interpretaría los bytes con el tipo equivocado y corrompería datos en silencio. En proto3 los valores por defecto no se serializan: con activo en false son 7 bytes, y el receptor no distingue "no enviado" de "false" salvo con optional. El deadline es la lección de 1984: cada llamada lleva un instante absoluto que viaja con la petición; si se vence, DEADLINE_EXCEEDED, nada de esperar para siempre. Streaming nativo en las dos direcciones. No se depura con curl ni con el navegador: grpcurl; y el navegador necesita gRPC-Web más un proxy, porque no expone los trailers de HTTP/2 donde gRPC manda el estado final. Cuidado con las cifras de blogs ("100 000 RPS contra 15 000"): en benchmarks con código público gRPC rinde entre 2 y 10 veces más para mensajes pequeños, y el factor depende del lenguaje, del payload y de la reutilización de conexiones. Tiempo: 8 minutos. Transición: "Entonces, ¿REST o gRPC? Depende de dónde".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Válvula 1: si a las 08:16 vamos tarde, esta slide se da en 2 minutos con la pura tabla. Recorrer la tabla fila por fila: formato en el cable (JSON texto contra Protobuf binario), contrato (opcional con OpenAPI contra obligatorio en .proto), transporte (HTTP/1.1 o superior contra HTTP/2), streaming (limitado contra nativo y bidireccional), depuración (curl y navegador contra herramientas dedicadas), clientes (cualquier cliente HTTP contra código generado por lenguaje) y uso dominante (APIs públicas y el borde contra tráfico interno servicio a servicio). Las dos tarjetas: la frontera pública favorece REST por interoperabilidad y legibilidad, y el costo en bytes se paga una sola vez en el borde; el tráfico interno favorece gRPC porque son miles de llamadas entre servicios, el ahorro binario se multiplica y el contrato obligatorio evita divergencias entre equipos. No es una regla: es un trade-off. Mexi Banco: del gateway a los servicios es REST hoy; de transferencias a cuentas es el candidato natural a gRPC. El sistema de referencia habla REST por dentro; en este curso gRPC es criterio de diseño, no laboratorio. Pregunta rápida: ¿qué pierden si exponen gRPC directo a la app móvil? El navegador y las herramientas. Tiempo: 7 minutos. Transición: "Y ahora la pregunta de la semana, la de la Lectura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Interactiva, 10 minutos. Pedir el voto en el chat con una letra y dar 60 segundos. Respuesta: B, el factor III, "store config in the environment": config es todo lo que varía entre despliegues (credenciales, URLs de backing services, valores por entorno), y vive en variables de entorno, fuera del código y fuera de la imagen. Por qué no A: la config dentro de la imagen obliga a reconstruirla para cambiar un valor y mete credenciales en el artefacto. Por qué no C: la base de datos es a su vez un backing service cuya URL es config; algo tiene que decirle al proceso dónde está. Por qué no D: los perfiles por entorno en el código producen, dice el documento, "a combinatorial explosion of config". La prueba de fuego es del propio 12factor.net: "whether the codebase could be made open source at any moment, without compromising any credentials"; pedirles que piensen en su rama de hoy y en el .env del lab. Luego proyectar las dos preguntas más votadas de la Discussion #25 (12-factor y Borg) y responderlas en un minuto cada una; Borg queda como puente al "¿y en tres máquinas?" del cierre del lab y a Kubernetes en la S5. Tiempo: 10 minutos. Transición: "Con eso en la cabeza, partamos el monolito".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dibujo que se va a repetir seis veces: clientes a la izquierda, gateway, los tres servicios de Mexi Banco con su almacén, el broker en ámbar entre transferencias y notificaciones, y las piezas transversales a la derecha. Cada número rojo es un problema que el monolito no tenía; cada uno tiene una pieza con nombre. Leer las seis preguntas en voz alta. Tiempo: 4 minutos. Transición: "Problema 1: la puerta".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Ventanilla única del banco: identificación, caja correcta, no pasan 500 personas a la vez, y el cliente nunca ve cuántas oficinas hay detrás. En el sistema de referencia todas las URLs pasan por el 8080; lo van a ver en el lab de la S5. El costo: un solo punto que si falla deja a todos afuera, como Cloudflare en noviembre de 2025. Error común: "gateway = balanceador"; trabaja en capa 7 y los servicios siguen validando. Tiempo: 8 minutos. Transición: "Problema 2: encontrarse".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tortillería de la esquina es un nombre; Insurgentes 40 es una dirección. Anotar la IP en el código es guardar el número de un celular rentado. El registro es la lista de asistencia: cada instancia firma cada 30 segundos; si deja de firmar, a los 90 se le borra, aunque un heartbeat perdido no prueba que murió. En el lab de hoy ya lo vivieron en pequeño: en la red de compose los contenedores se encuentran por nombre, no por IP; el dashboard de Eureka en el 8761 lo verán en el lab de la S5. Error común: "con DNS ya está resuelto": hay cachés y TTL en cada capa, incluida la JVM. Tiempo: 8 minutos. Transición: "Problema 3: la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uniforme de Oxxo es igual en todas las sucursales; el gafete se lo dan al llegar. Factor III de 12factor.net, la Lectura 3 que acaban de votar: config es todo lo que varía entre despliegues, y vive en el entorno; el .env que escribieron hoy en el lab es exactamente el gafete, y el config server es el mismo gafete entregado desde un solo lugar a N servicios. La configuración es código con mayor radio de explosión: se versiona, se valida y se despliega por etapas, como enseñó Fastly. Tiempo: 6 minutos. Transición: "Problema 4: el otro está caído".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libreta de pedidos de la tortillería: el cliente anota y se va sin necesitar al tortillero libre; el tortillero tacha al entregar (ack tras procesar); el pedido ilegible va a otra hoja (DLQ). A diferencia de la libreta, el broker reentrega: si el consumidor muere antes del ack, el mensaje vuelve, por eso el consumidor deduplica (otra vez idempotencia). Cola contra log: en la cola el ack destruye el mensaje; en Kafka leer no borra y cada grupo avanza su offset. Error común: "la cola reintenta hasta que funcione": un mensaje venenoso bloquea a los demás, de ahí el límite y la DLQ. Tiempo: 10 minutos. Transición: "Problema 5: leer lo mismo mil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lista de precios junto a la caja: si el precio está, cobras (hit); si no, llamas al proveedor y lo anotas (miss); "válido hasta" es el TTL. Una caché es una copia que se permite estar desactualizada; lo difícil no es guardar, es invalidar, y el TTL es la red de seguridad. La estampida: si la caché se vacía de golpe todo va al origen (Slack 2022). Se mide en la S9. Error común: "invalidar es borrar la llave": hay carreras entre escribir la base y borrar la caché. Tiempo: 8 minutos. Transición: "Y el sexto problema: ver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de guía del paquete: los logs son la bitácora de cada bodega, las métricas el tablero de la empresa y la traza la línea de tiempo del paquete por todas las bodegas. Sin un identificador que viaje con la petición hay veinte bitácoras y ninguna historia; ese identificador es el trace id de traceparent. Una traza en Jaeger la van a ver en el lab de la S5. Se instrumenta en la S8. Error común: "con logs basta". Tiempo: 8 minutos. Transición: "Cuatro de estas piezas ya las había descrito alguien en 2011: 12-factor".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Válvula 2: si a las 09:25 vamos tarde, se reduce a una frase dicha desde la slide 10: "config server, discovery, broker y observabilidad son los factores III, VI, IV y XI de la lectura". Las cuatro piezas que acaban de ver ya las había descrito Adam Wiggins en 2011 (12factor.net, Heroku) como factores. III Config es el config server: el uniforme y el gafete, y hoy en el lab el .env. VI Procesos sin estado es lo que hace posible discovery con N réplicas: cualquier instancia atiende porque el estado vive en backing services, no en el proceso. IV Backing services: broker, caché y base de datos son recursos adjuntos por URL; se cambia el Redis local por uno gestionado sin tocar código, solo la config. XI Logs como flujos de eventos: el proceso escribe a stdout sin preocuparse del destino y alguien más los junta, que es la observabilidad. Los otros ocho factores los cubre el lab de hoy (I Codebase, II Dependencies, V Build, release, run, X Dev/prod parity) y la S5 (VII Port binding, VIII Concurrency, IX Disposability, XII Admin processes). Tiempo: 5 minutos. Transición: "Falta hablar de dónde viven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muebles del banco de barrio: libro mayor, expediente por cliente, cajita de fichas de turno, archivero de estadísticas, mapa de avales y bodega de contratos escaneados; ningún mueble sirve para todo. En el mapa: cuentas y transferencias en PostgreSQL (libro mayor, UNIQUE), notificaciones en MongoDB (documento completo por lectura), Redis como caché. La base compartida es el antipatrón clásico: acopla esquemas y nadie puede desplegar solo. Lo que se paga: no hay transacción entre almacenes; Twilio (2013) reconstruyó saldos porque la verdad vivía en una relacional aparte. Error común: "NoSQL es más rápido"; rápido sin decir para qué consulta no significa nada. Tiempo: 8 minutos. Transición: "El menú".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Válvula 3: si el reloj aprieta, 30 segundos y se manda a leer en casa. Slide de referencia. Recorrer solo las filas relacional, documental y llave-valor (son las tres del sistema de referencia) y dejar las otras nombradas. El criterio es el patrón de acceso: cómo se escribe, cómo se lee, qué se pregunta; no la moda del motor. Tiempo: 2 minutos. Transición: "Juntemos todo en un dibujo".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Recapitulación de 4 minutos con el dibujo completo: una frase por pieza, siguiendo los chips de abajo, y la pregunta al grupo de qué pieza faltaba en el lab de hoy (todas: su compose tenía servicios y almacenes, sin gateway, sin discovery, sin broker; eso es lo que se desglosa en la S5). Recordar dónde se profundiza cada una: caché y datos en S9, broker en S10 y S11, observabilidad y resiliencia en S8, consistencia en S6. Tiempo: 4 minutos. Transición: "Y ahora, como cada sábado, la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Ritual de 12 minutos, siempre al mismo momento y nunca se recorta: 4 minutos para decidir por equipo en el chat con el formato de tres líneas, 2 equipos defienden 2 minutos cada uno, y el profesor mueve el piso ("¿y si la pasarela NO acepta Idempotency-Key?", "¿y si el 30 % de los pedidos son urgentes?"). No hay respuesta correcta: se evalúa que nombren el requisito y el sacrificio. Conectar con las dos sesiones: A es at-least-once (la slide 8 de la S3, semánticas) y exige la clave de la slide 15 de la S3 (Idempotency-Key), con la reserva atómica de la slide 16 de la S3 si la pasarela no deduplica; B es at-most-once; C es el broker de la slide 11, con el consumidor idempotente y la notificación del resultado. Cerrar: "cada sesión termina con una decisión, no con un resumen". Tiempo: 12 minutos. Transición: "Para la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Lanzamiento de la Lectura 4 con mecánica: Ongaro y Ousterhout, "In Search of an Understandable Consensus Algorithm" (Raft, 2014), secciones 1 a 5; 2 preguntas + 1 hallazgo en la Discussion de la semana; en tiempo hasta el sábado 19 a las 06:59, tarde hasta el domingo. El lab de la S5 es el sistema del curso desglosado con compose: cómo se hablan los contenedores y las piezas de hoy en vivo (gateway, discovery, config, RabbitMQ, Redis, Jaeger), y al final Kubernetes básico, que responde al "¿y en tres máquinas?" con el que cerró el lab. Requisitos: el lab de hoy entregado en entregas/apellido_nombre/s04/ con push antes del domingo, y pensar con quién quieren equipo: los equipos de 4 se forman en la S5. Tiempo: 2 minutos. Transición: "Ocho preguntas para saber qué estudiar 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1 minuto: leer las ocho a velocidad; la que no puedan responder es la que se estudia. Las cuatro primeras son de la S3, las cuatro últimas de hoy. Son las preguntas del exit ticket de la guía. Despedida y recordatorio de la lectura. Tiempo: 1 minuto. Transición: "Las fuentes quedan en la última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referencias; no se lee en clase. Los enlaces completos están en el informe de investigación de la S03 y en lecturas/README.md del repo. Tiempo: 1 minuto. Cierre de la sesión; no hay transición.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5.xml"/><Relationship Id="rId5" Type="http://schemas.openxmlformats.org/officeDocument/2006/relationships/slide" Target="slide17.xml"/><Relationship Id="rId6" Type="http://schemas.openxmlformats.org/officeDocument/2006/relationships/slide" Target="slide18.xml"/><Relationship Id="rId7" Type="http://schemas.openxmlformats.org/officeDocument/2006/relationships/slide" Target="slide19.xml"/><Relationship Id="rId8" Type="http://schemas.openxmlformats.org/officeDocument/2006/relationships/image" Target="../media/image-2-1.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slideLayout" Target="../slideLayouts/slideLayout1.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slideLayout" Target="../slideLayouts/slideLayout1.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slideLayout" Target="../slideLayouts/slideLayout1.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2960" y="1463040"/>
            <a:ext cx="7863840" cy="3520440"/>
          </a:xfrm>
          <a:prstGeom prst="roundRect">
            <a:avLst/>
          </a:prstGeom>
          <a:solidFill>
            <a:srgbClr val="FFFFFF"/>
          </a:solidFill>
          <a:ln w="12700">
            <a:solidFill>
              <a:srgbClr val="FFFFFF"/>
            </a:solidFill>
            <a:prstDash val="solid"/>
          </a:ln>
        </p:spPr>
      </p:sp>
      <p:sp>
        <p:nvSpPr>
          <p:cNvPr id="3" name="Text 1"/>
          <p:cNvSpPr txBox="1"/>
          <p:nvPr/>
        </p:nvSpPr>
        <p:spPr>
          <a:xfrm>
            <a:off x="1143000" y="1691640"/>
            <a:ext cx="7315200" cy="365760"/>
          </a:xfrm>
          <a:prstGeom prst="rect">
            <a:avLst/>
          </a:prstGeom>
          <a:noFill/>
          <a:ln/>
        </p:spPr>
        <p:txBody>
          <a:bodyPr wrap="square" lIns="0" tIns="0" rIns="0" bIns="0" rtlCol="0" anchor="t"/>
          <a:lstStyle/>
          <a:p>
            <a:pPr indent="0" marL="0">
              <a:buNone/>
            </a:pPr>
            <a:r>
              <a:rPr lang="en-US" sz="1400" b="1" dirty="0">
                <a:solidFill>
                  <a:srgbClr val="4B6178"/>
                </a:solidFill>
                <a:latin typeface="Calibri" pitchFamily="34" charset="0"/>
                <a:ea typeface="Calibri" pitchFamily="34" charset="-122"/>
                <a:cs typeface="Calibri" pitchFamily="34" charset="-120"/>
              </a:rPr>
              <a:t>Sistemas Distribuidos 2027-1 · Grupo 2 · Sesión 4</a:t>
            </a:r>
            <a:endParaRPr lang="en-US" sz="1400" dirty="0"/>
          </a:p>
        </p:txBody>
      </p:sp>
      <p:sp>
        <p:nvSpPr>
          <p:cNvPr id="4" name="Text 2"/>
          <p:cNvSpPr txBox="1"/>
          <p:nvPr/>
        </p:nvSpPr>
        <p:spPr>
          <a:xfrm>
            <a:off x="1143000" y="2103120"/>
            <a:ext cx="6400800" cy="1371600"/>
          </a:xfrm>
          <a:prstGeom prst="rect">
            <a:avLst/>
          </a:prstGeom>
          <a:noFill/>
          <a:ln/>
        </p:spPr>
        <p:txBody>
          <a:bodyPr wrap="square" lIns="0" tIns="0" rIns="0" bIns="0" rtlCol="0" anchor="t"/>
          <a:lstStyle/>
          <a:p>
            <a:pPr indent="0" marL="0">
              <a:buNone/>
            </a:pPr>
            <a:r>
              <a:rPr lang="en-US" sz="3600" b="1" dirty="0">
                <a:solidFill>
                  <a:srgbClr val="12253D"/>
                </a:solidFill>
                <a:latin typeface="Calibri" pitchFamily="34" charset="0"/>
                <a:ea typeface="Calibri" pitchFamily="34" charset="-122"/>
                <a:cs typeface="Calibri" pitchFamily="34" charset="-120"/>
              </a:rPr>
              <a:t>Anatomía de un sistema real, segunda parte</a:t>
            </a:r>
            <a:endParaRPr lang="en-US" sz="3600" dirty="0"/>
          </a:p>
        </p:txBody>
      </p:sp>
      <p:sp>
        <p:nvSpPr>
          <p:cNvPr id="5" name="Text 3"/>
          <p:cNvSpPr txBox="1"/>
          <p:nvPr/>
        </p:nvSpPr>
        <p:spPr>
          <a:xfrm>
            <a:off x="1143000" y="3566160"/>
            <a:ext cx="7315200" cy="640080"/>
          </a:xfrm>
          <a:prstGeom prst="rect">
            <a:avLst/>
          </a:prstGeom>
          <a:noFill/>
          <a:ln/>
        </p:spPr>
        <p:txBody>
          <a:bodyPr wrap="square" lIns="0" tIns="0" rIns="0" bIns="0" rtlCol="0" anchor="t"/>
          <a:lstStyle/>
          <a:p>
            <a:pPr indent="0" marL="0">
              <a:buNone/>
            </a:pPr>
            <a:r>
              <a:rPr lang="en-US" sz="1700" dirty="0">
                <a:solidFill>
                  <a:srgbClr val="4B6178"/>
                </a:solidFill>
                <a:latin typeface="Calibri" pitchFamily="34" charset="0"/>
                <a:ea typeface="Calibri" pitchFamily="34" charset="-122"/>
                <a:cs typeface="Calibri" pitchFamily="34" charset="-120"/>
              </a:rPr>
              <a:t>Las seis piezas, los datos y en qué idioma se hablan los servicios</a:t>
            </a:r>
            <a:endParaRPr lang="en-US" sz="1700" dirty="0"/>
          </a:p>
        </p:txBody>
      </p:sp>
      <p:sp>
        <p:nvSpPr>
          <p:cNvPr id="6" name="Text 4"/>
          <p:cNvSpPr txBox="1"/>
          <p:nvPr/>
        </p:nvSpPr>
        <p:spPr>
          <a:xfrm>
            <a:off x="1143000" y="4434840"/>
            <a:ext cx="7315200" cy="36576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Sábado 12 de septiembre de 2026 · Prof. Oscar Ruiz · FI-UNAM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El mapa de la sesión: 120 minutos, una decisión al final</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2/21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Apertura</a:t>
            </a:r>
            <a:endParaRPr lang="en-US" sz="1000" dirty="0"/>
          </a:p>
        </p:txBody>
      </p:sp>
      <p:sp>
        <p:nvSpPr>
          <p:cNvPr id="5" name="Shape 3"/>
          <p:cNvSpPr/>
          <p:nvPr/>
        </p:nvSpPr>
        <p:spPr>
          <a:xfrm>
            <a:off x="457200" y="1371600"/>
            <a:ext cx="5440680" cy="1024128"/>
          </a:xfrm>
          <a:prstGeom prst="roundRect">
            <a:avLst>
              <a:gd name="adj" fmla="val 7143"/>
            </a:avLst>
          </a:prstGeom>
          <a:solidFill>
            <a:srgbClr val="FFFFFF"/>
          </a:solidFill>
          <a:ln w="12700">
            <a:solidFill>
              <a:srgbClr val="D9E2EE"/>
            </a:solidFill>
            <a:prstDash val="solid"/>
          </a:ln>
        </p:spPr>
      </p:sp>
      <p:sp>
        <p:nvSpPr>
          <p:cNvPr id="6" name="Shape 4"/>
          <p:cNvSpPr/>
          <p:nvPr/>
        </p:nvSpPr>
        <p:spPr>
          <a:xfrm>
            <a:off x="621792" y="1591056"/>
            <a:ext cx="566928" cy="566928"/>
          </a:xfrm>
          <a:prstGeom prst="ellipse">
            <a:avLst/>
          </a:prstGeom>
          <a:solidFill>
            <a:srgbClr val="E8EEF6"/>
          </a:solidFill>
          <a:ln w="12700">
            <a:solidFill>
              <a:srgbClr val="E8EEF6"/>
            </a:solidFill>
            <a:prstDash val="solid"/>
          </a:ln>
        </p:spPr>
      </p:sp>
      <p:sp>
        <p:nvSpPr>
          <p:cNvPr id="7" name="Text 5"/>
          <p:cNvSpPr txBox="1"/>
          <p:nvPr/>
        </p:nvSpPr>
        <p:spPr>
          <a:xfrm>
            <a:off x="621792" y="1591056"/>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B</a:t>
            </a:r>
            <a:endParaRPr lang="en-US" sz="1800" dirty="0"/>
          </a:p>
        </p:txBody>
      </p:sp>
      <p:sp>
        <p:nvSpPr>
          <p:cNvPr id="8" name="Text 6">
            <a:hlinkClick r:id="rId1" tooltip="" action="ppaction://hlinksldjump"/>
          </p:cNvPr>
          <p:cNvSpPr txBox="1"/>
          <p:nvPr/>
        </p:nvSpPr>
        <p:spPr>
          <a:xfrm>
            <a:off x="1371600" y="1517904"/>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Cómo se hablan: el cierre</a:t>
            </a:r>
            <a:endParaRPr lang="en-US" sz="1600" dirty="0"/>
          </a:p>
        </p:txBody>
      </p:sp>
      <p:sp>
        <p:nvSpPr>
          <p:cNvPr id="9" name="Text 7"/>
          <p:cNvSpPr txBox="1"/>
          <p:nvPr/>
        </p:nvSpPr>
        <p:spPr>
          <a:xfrm>
            <a:off x="1371600" y="1901952"/>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puente, gRPC, REST o gRPC</a:t>
            </a:r>
            <a:endParaRPr lang="en-US" sz="1200" dirty="0"/>
          </a:p>
        </p:txBody>
      </p:sp>
      <p:sp>
        <p:nvSpPr>
          <p:cNvPr id="10" name="Shape 8"/>
          <p:cNvSpPr/>
          <p:nvPr/>
        </p:nvSpPr>
        <p:spPr>
          <a:xfrm>
            <a:off x="4892040" y="1719072"/>
            <a:ext cx="868680" cy="310896"/>
          </a:xfrm>
          <a:prstGeom prst="roundRect">
            <a:avLst>
              <a:gd name="adj" fmla="val 50000"/>
            </a:avLst>
          </a:prstGeom>
          <a:solidFill>
            <a:srgbClr val="E8EEF6"/>
          </a:solidFill>
          <a:ln w="12700">
            <a:solidFill>
              <a:srgbClr val="E8EEF6"/>
            </a:solidFill>
            <a:prstDash val="solid"/>
          </a:ln>
        </p:spPr>
      </p:sp>
      <p:sp>
        <p:nvSpPr>
          <p:cNvPr id="11" name="Text 9"/>
          <p:cNvSpPr txBox="1"/>
          <p:nvPr/>
        </p:nvSpPr>
        <p:spPr>
          <a:xfrm>
            <a:off x="4892040" y="1719072"/>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20 min</a:t>
            </a:r>
            <a:endParaRPr lang="en-US" sz="1100" dirty="0"/>
          </a:p>
        </p:txBody>
      </p:sp>
      <p:sp>
        <p:nvSpPr>
          <p:cNvPr id="12" name="Shape 10"/>
          <p:cNvSpPr/>
          <p:nvPr/>
        </p:nvSpPr>
        <p:spPr>
          <a:xfrm>
            <a:off x="6172200" y="1371600"/>
            <a:ext cx="5440680" cy="1024128"/>
          </a:xfrm>
          <a:prstGeom prst="roundRect">
            <a:avLst>
              <a:gd name="adj" fmla="val 7143"/>
            </a:avLst>
          </a:prstGeom>
          <a:solidFill>
            <a:srgbClr val="FFFFFF"/>
          </a:solidFill>
          <a:ln w="12700">
            <a:solidFill>
              <a:srgbClr val="D9E2EE"/>
            </a:solidFill>
            <a:prstDash val="solid"/>
          </a:ln>
        </p:spPr>
      </p:sp>
      <p:sp>
        <p:nvSpPr>
          <p:cNvPr id="13" name="Shape 11"/>
          <p:cNvSpPr/>
          <p:nvPr/>
        </p:nvSpPr>
        <p:spPr>
          <a:xfrm>
            <a:off x="6336792" y="1591056"/>
            <a:ext cx="566928" cy="566928"/>
          </a:xfrm>
          <a:prstGeom prst="ellipse">
            <a:avLst/>
          </a:prstGeom>
          <a:solidFill>
            <a:srgbClr val="E8EEF6"/>
          </a:solidFill>
          <a:ln w="12700">
            <a:solidFill>
              <a:srgbClr val="E8EEF6"/>
            </a:solidFill>
            <a:prstDash val="solid"/>
          </a:ln>
        </p:spPr>
      </p:sp>
      <p:sp>
        <p:nvSpPr>
          <p:cNvPr id="14" name="Text 12"/>
          <p:cNvSpPr txBox="1"/>
          <p:nvPr/>
        </p:nvSpPr>
        <p:spPr>
          <a:xfrm>
            <a:off x="6336792" y="1591056"/>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0</a:t>
            </a:r>
            <a:endParaRPr lang="en-US" sz="1800" dirty="0"/>
          </a:p>
        </p:txBody>
      </p:sp>
      <p:sp>
        <p:nvSpPr>
          <p:cNvPr id="15" name="Text 13">
            <a:hlinkClick r:id="rId2" tooltip="" action="ppaction://hlinksldjump"/>
          </p:cNvPr>
          <p:cNvSpPr txBox="1"/>
          <p:nvPr/>
        </p:nvSpPr>
        <p:spPr>
          <a:xfrm>
            <a:off x="7086600" y="1517904"/>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La pregunta de la semana</a:t>
            </a:r>
            <a:endParaRPr lang="en-US" sz="1600" dirty="0"/>
          </a:p>
        </p:txBody>
      </p:sp>
      <p:sp>
        <p:nvSpPr>
          <p:cNvPr id="16" name="Text 14"/>
          <p:cNvSpPr txBox="1"/>
          <p:nvPr/>
        </p:nvSpPr>
        <p:spPr>
          <a:xfrm>
            <a:off x="7086600" y="1901952"/>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12-factor, factor III</a:t>
            </a:r>
            <a:endParaRPr lang="en-US" sz="1200" dirty="0"/>
          </a:p>
        </p:txBody>
      </p:sp>
      <p:sp>
        <p:nvSpPr>
          <p:cNvPr id="17" name="Shape 15"/>
          <p:cNvSpPr/>
          <p:nvPr/>
        </p:nvSpPr>
        <p:spPr>
          <a:xfrm>
            <a:off x="10607040" y="1719072"/>
            <a:ext cx="868680" cy="310896"/>
          </a:xfrm>
          <a:prstGeom prst="roundRect">
            <a:avLst>
              <a:gd name="adj" fmla="val 50000"/>
            </a:avLst>
          </a:prstGeom>
          <a:solidFill>
            <a:srgbClr val="E8EEF6"/>
          </a:solidFill>
          <a:ln w="12700">
            <a:solidFill>
              <a:srgbClr val="E8EEF6"/>
            </a:solidFill>
            <a:prstDash val="solid"/>
          </a:ln>
        </p:spPr>
      </p:sp>
      <p:sp>
        <p:nvSpPr>
          <p:cNvPr id="18" name="Text 16"/>
          <p:cNvSpPr txBox="1"/>
          <p:nvPr/>
        </p:nvSpPr>
        <p:spPr>
          <a:xfrm>
            <a:off x="10607040" y="1719072"/>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10 min</a:t>
            </a:r>
            <a:endParaRPr lang="en-US" sz="1100" dirty="0"/>
          </a:p>
        </p:txBody>
      </p:sp>
      <p:sp>
        <p:nvSpPr>
          <p:cNvPr id="19" name="Shape 17"/>
          <p:cNvSpPr/>
          <p:nvPr/>
        </p:nvSpPr>
        <p:spPr>
          <a:xfrm>
            <a:off x="457200" y="2578608"/>
            <a:ext cx="5440680" cy="1024128"/>
          </a:xfrm>
          <a:prstGeom prst="roundRect">
            <a:avLst>
              <a:gd name="adj" fmla="val 7143"/>
            </a:avLst>
          </a:prstGeom>
          <a:solidFill>
            <a:srgbClr val="FFFFFF"/>
          </a:solidFill>
          <a:ln w="12700">
            <a:solidFill>
              <a:srgbClr val="D9E2EE"/>
            </a:solidFill>
            <a:prstDash val="solid"/>
          </a:ln>
        </p:spPr>
      </p:sp>
      <p:sp>
        <p:nvSpPr>
          <p:cNvPr id="20" name="Shape 18"/>
          <p:cNvSpPr/>
          <p:nvPr/>
        </p:nvSpPr>
        <p:spPr>
          <a:xfrm>
            <a:off x="621792" y="2798064"/>
            <a:ext cx="566928" cy="566928"/>
          </a:xfrm>
          <a:prstGeom prst="ellipse">
            <a:avLst/>
          </a:prstGeom>
          <a:solidFill>
            <a:srgbClr val="E8EEF6"/>
          </a:solidFill>
          <a:ln w="12700">
            <a:solidFill>
              <a:srgbClr val="E8EEF6"/>
            </a:solidFill>
            <a:prstDash val="solid"/>
          </a:ln>
        </p:spPr>
      </p:sp>
      <p:sp>
        <p:nvSpPr>
          <p:cNvPr id="21" name="Text 19"/>
          <p:cNvSpPr txBox="1"/>
          <p:nvPr/>
        </p:nvSpPr>
        <p:spPr>
          <a:xfrm>
            <a:off x="621792" y="2798064"/>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C</a:t>
            </a:r>
            <a:endParaRPr lang="en-US" sz="1800" dirty="0"/>
          </a:p>
        </p:txBody>
      </p:sp>
      <p:sp>
        <p:nvSpPr>
          <p:cNvPr id="22" name="Text 20">
            <a:hlinkClick r:id="rId3" tooltip="" action="ppaction://hlinksldjump"/>
          </p:cNvPr>
          <p:cNvSpPr txBox="1"/>
          <p:nvPr/>
        </p:nvSpPr>
        <p:spPr>
          <a:xfrm>
            <a:off x="1371600" y="2724912"/>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Las seis piezas</a:t>
            </a:r>
            <a:endParaRPr lang="en-US" sz="1600" dirty="0"/>
          </a:p>
        </p:txBody>
      </p:sp>
      <p:sp>
        <p:nvSpPr>
          <p:cNvPr id="23" name="Text 21"/>
          <p:cNvSpPr txBox="1"/>
          <p:nvPr/>
        </p:nvSpPr>
        <p:spPr>
          <a:xfrm>
            <a:off x="1371600" y="3108960"/>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gateway a observabilidad</a:t>
            </a:r>
            <a:endParaRPr lang="en-US" sz="1200" dirty="0"/>
          </a:p>
        </p:txBody>
      </p:sp>
      <p:sp>
        <p:nvSpPr>
          <p:cNvPr id="24" name="Shape 22"/>
          <p:cNvSpPr/>
          <p:nvPr/>
        </p:nvSpPr>
        <p:spPr>
          <a:xfrm>
            <a:off x="4892040" y="2926080"/>
            <a:ext cx="868680" cy="310896"/>
          </a:xfrm>
          <a:prstGeom prst="roundRect">
            <a:avLst>
              <a:gd name="adj" fmla="val 50000"/>
            </a:avLst>
          </a:prstGeom>
          <a:solidFill>
            <a:srgbClr val="E8EEF6"/>
          </a:solidFill>
          <a:ln w="12700">
            <a:solidFill>
              <a:srgbClr val="E8EEF6"/>
            </a:solidFill>
            <a:prstDash val="solid"/>
          </a:ln>
        </p:spPr>
      </p:sp>
      <p:sp>
        <p:nvSpPr>
          <p:cNvPr id="25" name="Text 23"/>
          <p:cNvSpPr txBox="1"/>
          <p:nvPr/>
        </p:nvSpPr>
        <p:spPr>
          <a:xfrm>
            <a:off x="4892040" y="2926080"/>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57 min</a:t>
            </a:r>
            <a:endParaRPr lang="en-US" sz="1100" dirty="0"/>
          </a:p>
        </p:txBody>
      </p:sp>
      <p:sp>
        <p:nvSpPr>
          <p:cNvPr id="26" name="Shape 24"/>
          <p:cNvSpPr/>
          <p:nvPr/>
        </p:nvSpPr>
        <p:spPr>
          <a:xfrm>
            <a:off x="6172200" y="2578608"/>
            <a:ext cx="5440680" cy="1024128"/>
          </a:xfrm>
          <a:prstGeom prst="roundRect">
            <a:avLst>
              <a:gd name="adj" fmla="val 7143"/>
            </a:avLst>
          </a:prstGeom>
          <a:solidFill>
            <a:srgbClr val="FFFFFF"/>
          </a:solidFill>
          <a:ln w="12700">
            <a:solidFill>
              <a:srgbClr val="D9E2EE"/>
            </a:solidFill>
            <a:prstDash val="solid"/>
          </a:ln>
        </p:spPr>
      </p:sp>
      <p:sp>
        <p:nvSpPr>
          <p:cNvPr id="27" name="Shape 25"/>
          <p:cNvSpPr/>
          <p:nvPr/>
        </p:nvSpPr>
        <p:spPr>
          <a:xfrm>
            <a:off x="6336792" y="2798064"/>
            <a:ext cx="566928" cy="566928"/>
          </a:xfrm>
          <a:prstGeom prst="ellipse">
            <a:avLst/>
          </a:prstGeom>
          <a:solidFill>
            <a:srgbClr val="E8EEF6"/>
          </a:solidFill>
          <a:ln w="12700">
            <a:solidFill>
              <a:srgbClr val="E8EEF6"/>
            </a:solidFill>
            <a:prstDash val="solid"/>
          </a:ln>
        </p:spPr>
      </p:sp>
      <p:sp>
        <p:nvSpPr>
          <p:cNvPr id="28" name="Text 26"/>
          <p:cNvSpPr txBox="1"/>
          <p:nvPr/>
        </p:nvSpPr>
        <p:spPr>
          <a:xfrm>
            <a:off x="6336792" y="2798064"/>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E</a:t>
            </a:r>
            <a:endParaRPr lang="en-US" sz="1800" dirty="0"/>
          </a:p>
        </p:txBody>
      </p:sp>
      <p:sp>
        <p:nvSpPr>
          <p:cNvPr id="29" name="Text 27">
            <a:hlinkClick r:id="rId4" tooltip="" action="ppaction://hlinksldjump"/>
          </p:cNvPr>
          <p:cNvSpPr txBox="1"/>
          <p:nvPr/>
        </p:nvSpPr>
        <p:spPr>
          <a:xfrm>
            <a:off x="7086600" y="2724912"/>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Los datos</a:t>
            </a:r>
            <a:endParaRPr lang="en-US" sz="1600" dirty="0"/>
          </a:p>
        </p:txBody>
      </p:sp>
      <p:sp>
        <p:nvSpPr>
          <p:cNvPr id="30" name="Text 28"/>
          <p:cNvSpPr txBox="1"/>
          <p:nvPr/>
        </p:nvSpPr>
        <p:spPr>
          <a:xfrm>
            <a:off x="7086600" y="3108960"/>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políglota, familias</a:t>
            </a:r>
            <a:endParaRPr lang="en-US" sz="1200" dirty="0"/>
          </a:p>
        </p:txBody>
      </p:sp>
      <p:sp>
        <p:nvSpPr>
          <p:cNvPr id="31" name="Shape 29"/>
          <p:cNvSpPr/>
          <p:nvPr/>
        </p:nvSpPr>
        <p:spPr>
          <a:xfrm>
            <a:off x="10607040" y="2926080"/>
            <a:ext cx="868680" cy="310896"/>
          </a:xfrm>
          <a:prstGeom prst="roundRect">
            <a:avLst>
              <a:gd name="adj" fmla="val 50000"/>
            </a:avLst>
          </a:prstGeom>
          <a:solidFill>
            <a:srgbClr val="E8EEF6"/>
          </a:solidFill>
          <a:ln w="12700">
            <a:solidFill>
              <a:srgbClr val="E8EEF6"/>
            </a:solidFill>
            <a:prstDash val="solid"/>
          </a:ln>
        </p:spPr>
      </p:sp>
      <p:sp>
        <p:nvSpPr>
          <p:cNvPr id="32" name="Text 30"/>
          <p:cNvSpPr txBox="1"/>
          <p:nvPr/>
        </p:nvSpPr>
        <p:spPr>
          <a:xfrm>
            <a:off x="10607040" y="2926080"/>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10 min</a:t>
            </a:r>
            <a:endParaRPr lang="en-US" sz="1100" dirty="0"/>
          </a:p>
        </p:txBody>
      </p:sp>
      <p:sp>
        <p:nvSpPr>
          <p:cNvPr id="33" name="Shape 31"/>
          <p:cNvSpPr/>
          <p:nvPr/>
        </p:nvSpPr>
        <p:spPr>
          <a:xfrm>
            <a:off x="457200" y="3785616"/>
            <a:ext cx="5440680" cy="1024128"/>
          </a:xfrm>
          <a:prstGeom prst="roundRect">
            <a:avLst>
              <a:gd name="adj" fmla="val 7143"/>
            </a:avLst>
          </a:prstGeom>
          <a:solidFill>
            <a:srgbClr val="FFFFFF"/>
          </a:solidFill>
          <a:ln w="12700">
            <a:solidFill>
              <a:srgbClr val="D9E2EE"/>
            </a:solidFill>
            <a:prstDash val="solid"/>
          </a:ln>
        </p:spPr>
      </p:sp>
      <p:sp>
        <p:nvSpPr>
          <p:cNvPr id="34" name="Shape 32"/>
          <p:cNvSpPr/>
          <p:nvPr/>
        </p:nvSpPr>
        <p:spPr>
          <a:xfrm>
            <a:off x="621792" y="4005072"/>
            <a:ext cx="566928" cy="566928"/>
          </a:xfrm>
          <a:prstGeom prst="ellipse">
            <a:avLst/>
          </a:prstGeom>
          <a:solidFill>
            <a:srgbClr val="E8EEF6"/>
          </a:solidFill>
          <a:ln w="12700">
            <a:solidFill>
              <a:srgbClr val="E8EEF6"/>
            </a:solidFill>
            <a:prstDash val="solid"/>
          </a:ln>
        </p:spPr>
      </p:sp>
      <p:sp>
        <p:nvSpPr>
          <p:cNvPr id="35" name="Text 33"/>
          <p:cNvSpPr txBox="1"/>
          <p:nvPr/>
        </p:nvSpPr>
        <p:spPr>
          <a:xfrm>
            <a:off x="621792" y="4005072"/>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R</a:t>
            </a:r>
            <a:endParaRPr lang="en-US" sz="1800" dirty="0"/>
          </a:p>
        </p:txBody>
      </p:sp>
      <p:sp>
        <p:nvSpPr>
          <p:cNvPr id="36" name="Text 34">
            <a:hlinkClick r:id="rId5" tooltip="" action="ppaction://hlinksldjump"/>
          </p:cNvPr>
          <p:cNvSpPr txBox="1"/>
          <p:nvPr/>
        </p:nvSpPr>
        <p:spPr>
          <a:xfrm>
            <a:off x="1371600" y="3931920"/>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Recapitulación</a:t>
            </a:r>
            <a:endParaRPr lang="en-US" sz="1600" dirty="0"/>
          </a:p>
        </p:txBody>
      </p:sp>
      <p:sp>
        <p:nvSpPr>
          <p:cNvPr id="37" name="Text 35"/>
          <p:cNvSpPr txBox="1"/>
          <p:nvPr/>
        </p:nvSpPr>
        <p:spPr>
          <a:xfrm>
            <a:off x="1371600" y="4315968"/>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el mapa completo</a:t>
            </a:r>
            <a:endParaRPr lang="en-US" sz="1200" dirty="0"/>
          </a:p>
        </p:txBody>
      </p:sp>
      <p:sp>
        <p:nvSpPr>
          <p:cNvPr id="38" name="Shape 36"/>
          <p:cNvSpPr/>
          <p:nvPr/>
        </p:nvSpPr>
        <p:spPr>
          <a:xfrm>
            <a:off x="4892040" y="4133088"/>
            <a:ext cx="868680" cy="310896"/>
          </a:xfrm>
          <a:prstGeom prst="roundRect">
            <a:avLst>
              <a:gd name="adj" fmla="val 50000"/>
            </a:avLst>
          </a:prstGeom>
          <a:solidFill>
            <a:srgbClr val="E8EEF6"/>
          </a:solidFill>
          <a:ln w="12700">
            <a:solidFill>
              <a:srgbClr val="E8EEF6"/>
            </a:solidFill>
            <a:prstDash val="solid"/>
          </a:ln>
        </p:spPr>
      </p:sp>
      <p:sp>
        <p:nvSpPr>
          <p:cNvPr id="39" name="Text 37"/>
          <p:cNvSpPr txBox="1"/>
          <p:nvPr/>
        </p:nvSpPr>
        <p:spPr>
          <a:xfrm>
            <a:off x="4892040" y="4133088"/>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4 min</a:t>
            </a:r>
            <a:endParaRPr lang="en-US" sz="1100" dirty="0"/>
          </a:p>
        </p:txBody>
      </p:sp>
      <p:sp>
        <p:nvSpPr>
          <p:cNvPr id="40" name="Shape 38"/>
          <p:cNvSpPr/>
          <p:nvPr/>
        </p:nvSpPr>
        <p:spPr>
          <a:xfrm>
            <a:off x="6172200" y="3785616"/>
            <a:ext cx="5440680" cy="1024128"/>
          </a:xfrm>
          <a:prstGeom prst="roundRect">
            <a:avLst>
              <a:gd name="adj" fmla="val 7143"/>
            </a:avLst>
          </a:prstGeom>
          <a:solidFill>
            <a:srgbClr val="FFFFFF"/>
          </a:solidFill>
          <a:ln w="12700">
            <a:solidFill>
              <a:srgbClr val="D9E2EE"/>
            </a:solidFill>
            <a:prstDash val="solid"/>
          </a:ln>
        </p:spPr>
      </p:sp>
      <p:sp>
        <p:nvSpPr>
          <p:cNvPr id="41" name="Shape 39"/>
          <p:cNvSpPr/>
          <p:nvPr/>
        </p:nvSpPr>
        <p:spPr>
          <a:xfrm>
            <a:off x="6336792" y="4005072"/>
            <a:ext cx="566928" cy="566928"/>
          </a:xfrm>
          <a:prstGeom prst="ellipse">
            <a:avLst/>
          </a:prstGeom>
          <a:solidFill>
            <a:srgbClr val="2563EB"/>
          </a:solidFill>
          <a:ln w="12700">
            <a:solidFill>
              <a:srgbClr val="2563EB"/>
            </a:solidFill>
            <a:prstDash val="solid"/>
          </a:ln>
        </p:spPr>
      </p:sp>
      <p:sp>
        <p:nvSpPr>
          <p:cNvPr id="42" name="Text 40"/>
          <p:cNvSpPr txBox="1"/>
          <p:nvPr/>
        </p:nvSpPr>
        <p:spPr>
          <a:xfrm>
            <a:off x="6336792" y="400507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a:t>
            </a:r>
            <a:endParaRPr lang="en-US" sz="1800" dirty="0"/>
          </a:p>
        </p:txBody>
      </p:sp>
      <p:sp>
        <p:nvSpPr>
          <p:cNvPr id="43" name="Text 41">
            <a:hlinkClick r:id="rId6" tooltip="" action="ppaction://hlinksldjump"/>
          </p:cNvPr>
          <p:cNvSpPr txBox="1"/>
          <p:nvPr/>
        </p:nvSpPr>
        <p:spPr>
          <a:xfrm>
            <a:off x="7086600" y="3931920"/>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La decisión de hoy · 09:44</a:t>
            </a:r>
            <a:endParaRPr lang="en-US" sz="1600" dirty="0"/>
          </a:p>
        </p:txBody>
      </p:sp>
      <p:sp>
        <p:nvSpPr>
          <p:cNvPr id="44" name="Text 42"/>
          <p:cNvSpPr txBox="1"/>
          <p:nvPr/>
        </p:nvSpPr>
        <p:spPr>
          <a:xfrm>
            <a:off x="7086600" y="4315968"/>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FarmaYa: ¿reintentar o no?</a:t>
            </a:r>
            <a:endParaRPr lang="en-US" sz="1200" dirty="0"/>
          </a:p>
        </p:txBody>
      </p:sp>
      <p:sp>
        <p:nvSpPr>
          <p:cNvPr id="45" name="Shape 43"/>
          <p:cNvSpPr/>
          <p:nvPr/>
        </p:nvSpPr>
        <p:spPr>
          <a:xfrm>
            <a:off x="10607040" y="4133088"/>
            <a:ext cx="868680" cy="310896"/>
          </a:xfrm>
          <a:prstGeom prst="roundRect">
            <a:avLst>
              <a:gd name="adj" fmla="val 50000"/>
            </a:avLst>
          </a:prstGeom>
          <a:solidFill>
            <a:srgbClr val="E8EEF6"/>
          </a:solidFill>
          <a:ln w="12700">
            <a:solidFill>
              <a:srgbClr val="E8EEF6"/>
            </a:solidFill>
            <a:prstDash val="solid"/>
          </a:ln>
        </p:spPr>
      </p:sp>
      <p:sp>
        <p:nvSpPr>
          <p:cNvPr id="46" name="Text 44"/>
          <p:cNvSpPr txBox="1"/>
          <p:nvPr/>
        </p:nvSpPr>
        <p:spPr>
          <a:xfrm>
            <a:off x="10607040" y="4133088"/>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12 min</a:t>
            </a:r>
            <a:endParaRPr lang="en-US" sz="1100" dirty="0"/>
          </a:p>
        </p:txBody>
      </p:sp>
      <p:sp>
        <p:nvSpPr>
          <p:cNvPr id="47" name="Shape 45"/>
          <p:cNvSpPr/>
          <p:nvPr/>
        </p:nvSpPr>
        <p:spPr>
          <a:xfrm>
            <a:off x="457200" y="4992624"/>
            <a:ext cx="5440680" cy="1024128"/>
          </a:xfrm>
          <a:prstGeom prst="roundRect">
            <a:avLst>
              <a:gd name="adj" fmla="val 7143"/>
            </a:avLst>
          </a:prstGeom>
          <a:solidFill>
            <a:srgbClr val="FFFFFF"/>
          </a:solidFill>
          <a:ln w="12700">
            <a:solidFill>
              <a:srgbClr val="D9E2EE"/>
            </a:solidFill>
            <a:prstDash val="solid"/>
          </a:ln>
        </p:spPr>
      </p:sp>
      <p:sp>
        <p:nvSpPr>
          <p:cNvPr id="48" name="Shape 46"/>
          <p:cNvSpPr/>
          <p:nvPr/>
        </p:nvSpPr>
        <p:spPr>
          <a:xfrm>
            <a:off x="621792" y="5212080"/>
            <a:ext cx="566928" cy="566928"/>
          </a:xfrm>
          <a:prstGeom prst="ellipse">
            <a:avLst/>
          </a:prstGeom>
          <a:solidFill>
            <a:srgbClr val="E8EEF6"/>
          </a:solidFill>
          <a:ln w="12700">
            <a:solidFill>
              <a:srgbClr val="E8EEF6"/>
            </a:solidFill>
            <a:prstDash val="solid"/>
          </a:ln>
        </p:spPr>
      </p:sp>
      <p:sp>
        <p:nvSpPr>
          <p:cNvPr id="49" name="Text 47"/>
          <p:cNvSpPr txBox="1"/>
          <p:nvPr/>
        </p:nvSpPr>
        <p:spPr>
          <a:xfrm>
            <a:off x="621792" y="5212080"/>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G</a:t>
            </a:r>
            <a:endParaRPr lang="en-US" sz="1800" dirty="0"/>
          </a:p>
        </p:txBody>
      </p:sp>
      <p:sp>
        <p:nvSpPr>
          <p:cNvPr id="50" name="Text 48">
            <a:hlinkClick r:id="rId7" tooltip="" action="ppaction://hlinksldjump"/>
          </p:cNvPr>
          <p:cNvSpPr txBox="1"/>
          <p:nvPr/>
        </p:nvSpPr>
        <p:spPr>
          <a:xfrm>
            <a:off x="1371600" y="5138928"/>
            <a:ext cx="347472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Para la S5</a:t>
            </a:r>
            <a:endParaRPr lang="en-US" sz="1600" dirty="0"/>
          </a:p>
        </p:txBody>
      </p:sp>
      <p:sp>
        <p:nvSpPr>
          <p:cNvPr id="51" name="Text 49"/>
          <p:cNvSpPr txBox="1"/>
          <p:nvPr/>
        </p:nvSpPr>
        <p:spPr>
          <a:xfrm>
            <a:off x="1371600" y="5522976"/>
            <a:ext cx="347472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Raft y compose</a:t>
            </a:r>
            <a:endParaRPr lang="en-US" sz="1200" dirty="0"/>
          </a:p>
        </p:txBody>
      </p:sp>
      <p:sp>
        <p:nvSpPr>
          <p:cNvPr id="52" name="Shape 50"/>
          <p:cNvSpPr/>
          <p:nvPr/>
        </p:nvSpPr>
        <p:spPr>
          <a:xfrm>
            <a:off x="4892040" y="5340096"/>
            <a:ext cx="868680" cy="310896"/>
          </a:xfrm>
          <a:prstGeom prst="roundRect">
            <a:avLst>
              <a:gd name="adj" fmla="val 50000"/>
            </a:avLst>
          </a:prstGeom>
          <a:solidFill>
            <a:srgbClr val="E8EEF6"/>
          </a:solidFill>
          <a:ln w="12700">
            <a:solidFill>
              <a:srgbClr val="E8EEF6"/>
            </a:solidFill>
            <a:prstDash val="solid"/>
          </a:ln>
        </p:spPr>
      </p:sp>
      <p:sp>
        <p:nvSpPr>
          <p:cNvPr id="53" name="Text 51"/>
          <p:cNvSpPr txBox="1"/>
          <p:nvPr/>
        </p:nvSpPr>
        <p:spPr>
          <a:xfrm>
            <a:off x="4892040" y="5340096"/>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4 min</a:t>
            </a:r>
            <a:endParaRPr lang="en-US" sz="1100" dirty="0"/>
          </a:p>
        </p:txBody>
      </p:sp>
      <p:sp>
        <p:nvSpPr>
          <p:cNvPr id="54" name="Shape 52"/>
          <p:cNvSpPr/>
          <p:nvPr/>
        </p:nvSpPr>
        <p:spPr>
          <a:xfrm>
            <a:off x="6172200" y="4992624"/>
            <a:ext cx="5440680" cy="1024128"/>
          </a:xfrm>
          <a:prstGeom prst="roundRect">
            <a:avLst>
              <a:gd name="adj" fmla="val 7143"/>
            </a:avLst>
          </a:prstGeom>
          <a:solidFill>
            <a:srgbClr val="DBEAFE"/>
          </a:solidFill>
          <a:ln w="12700">
            <a:solidFill>
              <a:srgbClr val="DBEAFE"/>
            </a:solidFill>
            <a:prstDash val="solid"/>
          </a:ln>
        </p:spPr>
      </p:sp>
      <p:pic>
        <p:nvPicPr>
          <p:cNvPr id="55" name="Image 0" descr="preencoded.png">    </p:cNvPr>
          <p:cNvPicPr>
            <a:picLocks noChangeAspect="1"/>
          </p:cNvPicPr>
          <p:nvPr/>
        </p:nvPicPr>
        <p:blipFill>
          <a:blip r:embed="rId8"/>
          <a:stretch>
            <a:fillRect/>
          </a:stretch>
        </p:blipFill>
        <p:spPr>
          <a:xfrm>
            <a:off x="6483096" y="5358384"/>
            <a:ext cx="292608" cy="292608"/>
          </a:xfrm>
          <a:prstGeom prst="rect">
            <a:avLst/>
          </a:prstGeom>
        </p:spPr>
      </p:pic>
      <p:sp>
        <p:nvSpPr>
          <p:cNvPr id="56" name="Text 53"/>
          <p:cNvSpPr txBox="1"/>
          <p:nvPr/>
        </p:nvSpPr>
        <p:spPr>
          <a:xfrm>
            <a:off x="7086600" y="5138928"/>
            <a:ext cx="4343400" cy="73152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Hoy no hay demo: el sistema corriendo se desglosa en el lab de la S5.</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Lo que quedó de la S3, en cuatro frases</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3/21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Cómo se hablan</a:t>
            </a:r>
            <a:endParaRPr lang="en-US" sz="1000" dirty="0"/>
          </a:p>
        </p:txBody>
      </p:sp>
      <p:sp>
        <p:nvSpPr>
          <p:cNvPr id="5" name="Shape 3"/>
          <p:cNvSpPr/>
          <p:nvPr/>
        </p:nvSpPr>
        <p:spPr>
          <a:xfrm>
            <a:off x="457200" y="1371600"/>
            <a:ext cx="2651760" cy="3566160"/>
          </a:xfrm>
          <a:prstGeom prst="roundRect">
            <a:avLst>
              <a:gd name="adj" fmla="val 2759"/>
            </a:avLst>
          </a:prstGeom>
          <a:solidFill>
            <a:srgbClr val="FFFFFF"/>
          </a:solidFill>
          <a:ln w="12700">
            <a:solidFill>
              <a:srgbClr val="D9E2EE"/>
            </a:solidFill>
            <a:prstDash val="solid"/>
          </a:ln>
        </p:spPr>
      </p:sp>
      <p:sp>
        <p:nvSpPr>
          <p:cNvPr id="6" name="Shape 4"/>
          <p:cNvSpPr/>
          <p:nvPr/>
        </p:nvSpPr>
        <p:spPr>
          <a:xfrm>
            <a:off x="640080" y="1554480"/>
            <a:ext cx="457200" cy="457200"/>
          </a:xfrm>
          <a:prstGeom prst="ellipse">
            <a:avLst/>
          </a:prstGeom>
          <a:solidFill>
            <a:srgbClr val="DBEAFE"/>
          </a:solidFill>
          <a:ln w="12700">
            <a:solidFill>
              <a:srgbClr val="DBEAFE"/>
            </a:solidFill>
            <a:prstDash val="solid"/>
          </a:ln>
        </p:spPr>
      </p:sp>
      <p:sp>
        <p:nvSpPr>
          <p:cNvPr id="7" name="Text 5"/>
          <p:cNvSpPr txBox="1"/>
          <p:nvPr/>
        </p:nvSpPr>
        <p:spPr>
          <a:xfrm>
            <a:off x="640080" y="1554480"/>
            <a:ext cx="457200" cy="45720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1</a:t>
            </a:r>
            <a:endParaRPr lang="en-US" sz="1600" dirty="0"/>
          </a:p>
        </p:txBody>
      </p:sp>
      <p:pic>
        <p:nvPicPr>
          <p:cNvPr id="8" name="Image 0" descr="preencoded.png">    </p:cNvPr>
          <p:cNvPicPr>
            <a:picLocks noChangeAspect="1"/>
          </p:cNvPicPr>
          <p:nvPr/>
        </p:nvPicPr>
        <p:blipFill>
          <a:blip r:embed="rId1"/>
          <a:stretch>
            <a:fillRect/>
          </a:stretch>
        </p:blipFill>
        <p:spPr>
          <a:xfrm>
            <a:off x="2560320" y="1645920"/>
            <a:ext cx="274320" cy="274320"/>
          </a:xfrm>
          <a:prstGeom prst="rect">
            <a:avLst/>
          </a:prstGeom>
        </p:spPr>
      </p:pic>
      <p:sp>
        <p:nvSpPr>
          <p:cNvPr id="9" name="Text 6"/>
          <p:cNvSpPr txBox="1"/>
          <p:nvPr/>
        </p:nvSpPr>
        <p:spPr>
          <a:xfrm>
            <a:off x="1234440" y="1554480"/>
            <a:ext cx="1371600" cy="45720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Timeout</a:t>
            </a:r>
            <a:endParaRPr lang="en-US" sz="1500" dirty="0"/>
          </a:p>
        </p:txBody>
      </p:sp>
      <p:sp>
        <p:nvSpPr>
          <p:cNvPr id="10" name="Text 7"/>
          <p:cNvSpPr txBox="1"/>
          <p:nvPr/>
        </p:nvSpPr>
        <p:spPr>
          <a:xfrm>
            <a:off x="640080" y="2240280"/>
            <a:ext cx="2286000" cy="1600200"/>
          </a:xfrm>
          <a:prstGeom prst="rect">
            <a:avLst/>
          </a:prstGeom>
          <a:noFill/>
          <a:ln/>
        </p:spPr>
        <p:txBody>
          <a:bodyPr wrap="square" lIns="0" tIns="0" rIns="0" bIns="0" rtlCol="0" anchor="t"/>
          <a:lstStyle/>
          <a:p>
            <a:pPr indent="0" marL="0">
              <a:buNone/>
            </a:pPr>
            <a:r>
              <a:rPr lang="en-US" sz="1700" dirty="0">
                <a:solidFill>
                  <a:srgbClr val="12253D"/>
                </a:solidFill>
                <a:latin typeface="Calibri" pitchFamily="34" charset="0"/>
                <a:ea typeface="Calibri" pitchFamily="34" charset="-122"/>
                <a:cs typeface="Calibri" pitchFamily="34" charset="-120"/>
              </a:rPr>
              <a:t>No dice qué pasó: solo que dejaste de esperar.</a:t>
            </a:r>
            <a:endParaRPr lang="en-US" sz="1700" dirty="0"/>
          </a:p>
        </p:txBody>
      </p:sp>
      <p:sp>
        <p:nvSpPr>
          <p:cNvPr id="11" name="Shape 8"/>
          <p:cNvSpPr/>
          <p:nvPr/>
        </p:nvSpPr>
        <p:spPr>
          <a:xfrm>
            <a:off x="530352" y="3977640"/>
            <a:ext cx="2505456" cy="786384"/>
          </a:xfrm>
          <a:prstGeom prst="roundRect">
            <a:avLst>
              <a:gd name="adj" fmla="val 6977"/>
            </a:avLst>
          </a:prstGeom>
          <a:solidFill>
            <a:srgbClr val="1E293B"/>
          </a:solidFill>
          <a:ln w="12700">
            <a:solidFill>
              <a:srgbClr val="1E293B"/>
            </a:solidFill>
            <a:prstDash val="solid"/>
          </a:ln>
        </p:spPr>
      </p:sp>
      <p:sp>
        <p:nvSpPr>
          <p:cNvPr id="12" name="Text 9"/>
          <p:cNvSpPr txBox="1"/>
          <p:nvPr/>
        </p:nvSpPr>
        <p:spPr>
          <a:xfrm>
            <a:off x="694944" y="4114800"/>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2015 ms: timeout</a:t>
            </a:r>
            <a:endParaRPr lang="en-US" sz="950" dirty="0"/>
          </a:p>
        </p:txBody>
      </p:sp>
      <p:sp>
        <p:nvSpPr>
          <p:cNvPr id="13" name="Text 10"/>
          <p:cNvSpPr txBox="1"/>
          <p:nvPr/>
        </p:nvSpPr>
        <p:spPr>
          <a:xfrm>
            <a:off x="694944" y="4370832"/>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5000 ms: cobro</a:t>
            </a:r>
            <a:endParaRPr lang="en-US" sz="950" dirty="0"/>
          </a:p>
        </p:txBody>
      </p:sp>
      <p:sp>
        <p:nvSpPr>
          <p:cNvPr id="14" name="Shape 11"/>
          <p:cNvSpPr/>
          <p:nvPr/>
        </p:nvSpPr>
        <p:spPr>
          <a:xfrm>
            <a:off x="3291840" y="1371600"/>
            <a:ext cx="2651760" cy="3566160"/>
          </a:xfrm>
          <a:prstGeom prst="roundRect">
            <a:avLst>
              <a:gd name="adj" fmla="val 2759"/>
            </a:avLst>
          </a:prstGeom>
          <a:solidFill>
            <a:srgbClr val="FFFFFF"/>
          </a:solidFill>
          <a:ln w="12700">
            <a:solidFill>
              <a:srgbClr val="D9E2EE"/>
            </a:solidFill>
            <a:prstDash val="solid"/>
          </a:ln>
        </p:spPr>
      </p:sp>
      <p:sp>
        <p:nvSpPr>
          <p:cNvPr id="15" name="Shape 12"/>
          <p:cNvSpPr/>
          <p:nvPr/>
        </p:nvSpPr>
        <p:spPr>
          <a:xfrm>
            <a:off x="3474720" y="1554480"/>
            <a:ext cx="457200" cy="457200"/>
          </a:xfrm>
          <a:prstGeom prst="ellipse">
            <a:avLst/>
          </a:prstGeom>
          <a:solidFill>
            <a:srgbClr val="DBEAFE"/>
          </a:solidFill>
          <a:ln w="12700">
            <a:solidFill>
              <a:srgbClr val="DBEAFE"/>
            </a:solidFill>
            <a:prstDash val="solid"/>
          </a:ln>
        </p:spPr>
      </p:sp>
      <p:sp>
        <p:nvSpPr>
          <p:cNvPr id="16" name="Text 13"/>
          <p:cNvSpPr txBox="1"/>
          <p:nvPr/>
        </p:nvSpPr>
        <p:spPr>
          <a:xfrm>
            <a:off x="3474720" y="1554480"/>
            <a:ext cx="457200" cy="45720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2</a:t>
            </a:r>
            <a:endParaRPr lang="en-US" sz="1600" dirty="0"/>
          </a:p>
        </p:txBody>
      </p:sp>
      <p:pic>
        <p:nvPicPr>
          <p:cNvPr id="17" name="Image 1" descr="preencoded.png">    </p:cNvPr>
          <p:cNvPicPr>
            <a:picLocks noChangeAspect="1"/>
          </p:cNvPicPr>
          <p:nvPr/>
        </p:nvPicPr>
        <p:blipFill>
          <a:blip r:embed="rId2"/>
          <a:stretch>
            <a:fillRect/>
          </a:stretch>
        </p:blipFill>
        <p:spPr>
          <a:xfrm>
            <a:off x="5394960" y="1645920"/>
            <a:ext cx="274320" cy="274320"/>
          </a:xfrm>
          <a:prstGeom prst="rect">
            <a:avLst/>
          </a:prstGeom>
        </p:spPr>
      </p:pic>
      <p:sp>
        <p:nvSpPr>
          <p:cNvPr id="18" name="Text 14"/>
          <p:cNvSpPr txBox="1"/>
          <p:nvPr/>
        </p:nvSpPr>
        <p:spPr>
          <a:xfrm>
            <a:off x="4069080" y="1554480"/>
            <a:ext cx="1371600" cy="45720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Exactly-once</a:t>
            </a:r>
            <a:endParaRPr lang="en-US" sz="1500" dirty="0"/>
          </a:p>
        </p:txBody>
      </p:sp>
      <p:sp>
        <p:nvSpPr>
          <p:cNvPr id="19" name="Text 15"/>
          <p:cNvSpPr txBox="1"/>
          <p:nvPr/>
        </p:nvSpPr>
        <p:spPr>
          <a:xfrm>
            <a:off x="3474720" y="2240280"/>
            <a:ext cx="2286000" cy="1600200"/>
          </a:xfrm>
          <a:prstGeom prst="rect">
            <a:avLst/>
          </a:prstGeom>
          <a:noFill/>
          <a:ln/>
        </p:spPr>
        <p:txBody>
          <a:bodyPr wrap="square" lIns="0" tIns="0" rIns="0" bIns="0" rtlCol="0" anchor="t"/>
          <a:lstStyle/>
          <a:p>
            <a:pPr indent="0" marL="0">
              <a:buNone/>
            </a:pPr>
            <a:r>
              <a:rPr lang="en-US" sz="1700" dirty="0">
                <a:solidFill>
                  <a:srgbClr val="12253D"/>
                </a:solidFill>
                <a:latin typeface="Calibri" pitchFamily="34" charset="0"/>
                <a:ea typeface="Calibri" pitchFamily="34" charset="-122"/>
                <a:cs typeface="Calibri" pitchFamily="34" charset="-120"/>
              </a:rPr>
              <a:t>No se entrega: at-least-once más deduplicación.</a:t>
            </a:r>
            <a:endParaRPr lang="en-US" sz="1700" dirty="0"/>
          </a:p>
        </p:txBody>
      </p:sp>
      <p:sp>
        <p:nvSpPr>
          <p:cNvPr id="20" name="Shape 16"/>
          <p:cNvSpPr/>
          <p:nvPr/>
        </p:nvSpPr>
        <p:spPr>
          <a:xfrm>
            <a:off x="3364992" y="3977640"/>
            <a:ext cx="2505456" cy="786384"/>
          </a:xfrm>
          <a:prstGeom prst="roundRect">
            <a:avLst>
              <a:gd name="adj" fmla="val 6977"/>
            </a:avLst>
          </a:prstGeom>
          <a:solidFill>
            <a:srgbClr val="1E293B"/>
          </a:solidFill>
          <a:ln w="12700">
            <a:solidFill>
              <a:srgbClr val="1E293B"/>
            </a:solidFill>
            <a:prstDash val="solid"/>
          </a:ln>
        </p:spPr>
      </p:sp>
      <p:sp>
        <p:nvSpPr>
          <p:cNvPr id="21" name="Text 17"/>
          <p:cNvSpPr txBox="1"/>
          <p:nvPr/>
        </p:nvSpPr>
        <p:spPr>
          <a:xfrm>
            <a:off x="3529584" y="4114800"/>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at-least-once + dedup</a:t>
            </a:r>
            <a:endParaRPr lang="en-US" sz="950" dirty="0"/>
          </a:p>
        </p:txBody>
      </p:sp>
      <p:sp>
        <p:nvSpPr>
          <p:cNvPr id="22" name="Text 18"/>
          <p:cNvSpPr txBox="1"/>
          <p:nvPr/>
        </p:nvSpPr>
        <p:spPr>
          <a:xfrm>
            <a:off x="3529584" y="4370832"/>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Dos Generales, TCP, Kafka</a:t>
            </a:r>
            <a:endParaRPr lang="en-US" sz="950" dirty="0"/>
          </a:p>
        </p:txBody>
      </p:sp>
      <p:sp>
        <p:nvSpPr>
          <p:cNvPr id="23" name="Shape 19"/>
          <p:cNvSpPr/>
          <p:nvPr/>
        </p:nvSpPr>
        <p:spPr>
          <a:xfrm>
            <a:off x="6126480" y="1371600"/>
            <a:ext cx="2651760" cy="3566160"/>
          </a:xfrm>
          <a:prstGeom prst="roundRect">
            <a:avLst>
              <a:gd name="adj" fmla="val 2759"/>
            </a:avLst>
          </a:prstGeom>
          <a:solidFill>
            <a:srgbClr val="FFFFFF"/>
          </a:solidFill>
          <a:ln w="12700">
            <a:solidFill>
              <a:srgbClr val="D9E2EE"/>
            </a:solidFill>
            <a:prstDash val="solid"/>
          </a:ln>
        </p:spPr>
      </p:sp>
      <p:sp>
        <p:nvSpPr>
          <p:cNvPr id="24" name="Shape 20"/>
          <p:cNvSpPr/>
          <p:nvPr/>
        </p:nvSpPr>
        <p:spPr>
          <a:xfrm>
            <a:off x="6309360" y="1554480"/>
            <a:ext cx="457200" cy="457200"/>
          </a:xfrm>
          <a:prstGeom prst="ellipse">
            <a:avLst/>
          </a:prstGeom>
          <a:solidFill>
            <a:srgbClr val="DBEAFE"/>
          </a:solidFill>
          <a:ln w="12700">
            <a:solidFill>
              <a:srgbClr val="DBEAFE"/>
            </a:solidFill>
            <a:prstDash val="solid"/>
          </a:ln>
        </p:spPr>
      </p:sp>
      <p:sp>
        <p:nvSpPr>
          <p:cNvPr id="25" name="Text 21"/>
          <p:cNvSpPr txBox="1"/>
          <p:nvPr/>
        </p:nvSpPr>
        <p:spPr>
          <a:xfrm>
            <a:off x="6309360" y="1554480"/>
            <a:ext cx="457200" cy="45720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3</a:t>
            </a:r>
            <a:endParaRPr lang="en-US" sz="1600" dirty="0"/>
          </a:p>
        </p:txBody>
      </p:sp>
      <p:pic>
        <p:nvPicPr>
          <p:cNvPr id="26" name="Image 2" descr="preencoded.png">    </p:cNvPr>
          <p:cNvPicPr>
            <a:picLocks noChangeAspect="1"/>
          </p:cNvPicPr>
          <p:nvPr/>
        </p:nvPicPr>
        <p:blipFill>
          <a:blip r:embed="rId3"/>
          <a:stretch>
            <a:fillRect/>
          </a:stretch>
        </p:blipFill>
        <p:spPr>
          <a:xfrm>
            <a:off x="8229600" y="1645920"/>
            <a:ext cx="274320" cy="274320"/>
          </a:xfrm>
          <a:prstGeom prst="rect">
            <a:avLst/>
          </a:prstGeom>
        </p:spPr>
      </p:pic>
      <p:sp>
        <p:nvSpPr>
          <p:cNvPr id="27" name="Text 22"/>
          <p:cNvSpPr txBox="1"/>
          <p:nvPr/>
        </p:nvSpPr>
        <p:spPr>
          <a:xfrm>
            <a:off x="6903720" y="1554480"/>
            <a:ext cx="1371600" cy="45720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REST</a:t>
            </a:r>
            <a:endParaRPr lang="en-US" sz="1500" dirty="0"/>
          </a:p>
        </p:txBody>
      </p:sp>
      <p:sp>
        <p:nvSpPr>
          <p:cNvPr id="28" name="Text 23"/>
          <p:cNvSpPr txBox="1"/>
          <p:nvPr/>
        </p:nvSpPr>
        <p:spPr>
          <a:xfrm>
            <a:off x="6309360" y="2240280"/>
            <a:ext cx="2286000" cy="1600200"/>
          </a:xfrm>
          <a:prstGeom prst="rect">
            <a:avLst/>
          </a:prstGeom>
          <a:noFill/>
          <a:ln/>
        </p:spPr>
        <p:txBody>
          <a:bodyPr wrap="square" lIns="0" tIns="0" rIns="0" bIns="0" rtlCol="0" anchor="t"/>
          <a:lstStyle/>
          <a:p>
            <a:pPr indent="0" marL="0">
              <a:buNone/>
            </a:pPr>
            <a:r>
              <a:rPr lang="en-US" sz="1700" dirty="0">
                <a:solidFill>
                  <a:srgbClr val="12253D"/>
                </a:solidFill>
                <a:latin typeface="Calibri" pitchFamily="34" charset="0"/>
                <a:ea typeface="Calibri" pitchFamily="34" charset="-122"/>
                <a:cs typeface="Calibri" pitchFamily="34" charset="-120"/>
              </a:rPr>
              <a:t>La red explícita: recursos, verbos con contrato.</a:t>
            </a:r>
            <a:endParaRPr lang="en-US" sz="1700" dirty="0"/>
          </a:p>
        </p:txBody>
      </p:sp>
      <p:sp>
        <p:nvSpPr>
          <p:cNvPr id="29" name="Shape 24"/>
          <p:cNvSpPr/>
          <p:nvPr/>
        </p:nvSpPr>
        <p:spPr>
          <a:xfrm>
            <a:off x="6199632" y="3977640"/>
            <a:ext cx="2505456" cy="786384"/>
          </a:xfrm>
          <a:prstGeom prst="roundRect">
            <a:avLst>
              <a:gd name="adj" fmla="val 6977"/>
            </a:avLst>
          </a:prstGeom>
          <a:solidFill>
            <a:srgbClr val="1E293B"/>
          </a:solidFill>
          <a:ln w="12700">
            <a:solidFill>
              <a:srgbClr val="1E293B"/>
            </a:solidFill>
            <a:prstDash val="solid"/>
          </a:ln>
        </p:spPr>
      </p:sp>
      <p:sp>
        <p:nvSpPr>
          <p:cNvPr id="30" name="Text 25"/>
          <p:cNvSpPr txBox="1"/>
          <p:nvPr/>
        </p:nvSpPr>
        <p:spPr>
          <a:xfrm>
            <a:off x="6364224" y="4114800"/>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seguro ≠ idempotente</a:t>
            </a:r>
            <a:endParaRPr lang="en-US" sz="950" dirty="0"/>
          </a:p>
        </p:txBody>
      </p:sp>
      <p:sp>
        <p:nvSpPr>
          <p:cNvPr id="31" name="Text 26"/>
          <p:cNvSpPr txBox="1"/>
          <p:nvPr/>
        </p:nvSpPr>
        <p:spPr>
          <a:xfrm>
            <a:off x="6364224" y="4370832"/>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RFC 9110, nivel 2</a:t>
            </a:r>
            <a:endParaRPr lang="en-US" sz="950" dirty="0"/>
          </a:p>
        </p:txBody>
      </p:sp>
      <p:sp>
        <p:nvSpPr>
          <p:cNvPr id="32" name="Shape 27"/>
          <p:cNvSpPr/>
          <p:nvPr/>
        </p:nvSpPr>
        <p:spPr>
          <a:xfrm>
            <a:off x="8961120" y="1371600"/>
            <a:ext cx="2651760" cy="3566160"/>
          </a:xfrm>
          <a:prstGeom prst="roundRect">
            <a:avLst>
              <a:gd name="adj" fmla="val 2759"/>
            </a:avLst>
          </a:prstGeom>
          <a:solidFill>
            <a:srgbClr val="FFFFFF"/>
          </a:solidFill>
          <a:ln w="12700">
            <a:solidFill>
              <a:srgbClr val="D9E2EE"/>
            </a:solidFill>
            <a:prstDash val="solid"/>
          </a:ln>
        </p:spPr>
      </p:sp>
      <p:sp>
        <p:nvSpPr>
          <p:cNvPr id="33" name="Shape 28"/>
          <p:cNvSpPr/>
          <p:nvPr/>
        </p:nvSpPr>
        <p:spPr>
          <a:xfrm>
            <a:off x="9144000" y="1554480"/>
            <a:ext cx="457200" cy="457200"/>
          </a:xfrm>
          <a:prstGeom prst="ellipse">
            <a:avLst/>
          </a:prstGeom>
          <a:solidFill>
            <a:srgbClr val="DBEAFE"/>
          </a:solidFill>
          <a:ln w="12700">
            <a:solidFill>
              <a:srgbClr val="DBEAFE"/>
            </a:solidFill>
            <a:prstDash val="solid"/>
          </a:ln>
        </p:spPr>
      </p:sp>
      <p:sp>
        <p:nvSpPr>
          <p:cNvPr id="34" name="Text 29"/>
          <p:cNvSpPr txBox="1"/>
          <p:nvPr/>
        </p:nvSpPr>
        <p:spPr>
          <a:xfrm>
            <a:off x="9144000" y="1554480"/>
            <a:ext cx="457200" cy="45720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4</a:t>
            </a:r>
            <a:endParaRPr lang="en-US" sz="1600" dirty="0"/>
          </a:p>
        </p:txBody>
      </p:sp>
      <p:pic>
        <p:nvPicPr>
          <p:cNvPr id="35" name="Image 3" descr="preencoded.png">    </p:cNvPr>
          <p:cNvPicPr>
            <a:picLocks noChangeAspect="1"/>
          </p:cNvPicPr>
          <p:nvPr/>
        </p:nvPicPr>
        <p:blipFill>
          <a:blip r:embed="rId4"/>
          <a:stretch>
            <a:fillRect/>
          </a:stretch>
        </p:blipFill>
        <p:spPr>
          <a:xfrm>
            <a:off x="11064240" y="1645920"/>
            <a:ext cx="274320" cy="274320"/>
          </a:xfrm>
          <a:prstGeom prst="rect">
            <a:avLst/>
          </a:prstGeom>
        </p:spPr>
      </p:pic>
      <p:sp>
        <p:nvSpPr>
          <p:cNvPr id="36" name="Text 30"/>
          <p:cNvSpPr txBox="1"/>
          <p:nvPr/>
        </p:nvSpPr>
        <p:spPr>
          <a:xfrm>
            <a:off x="9738360" y="1554480"/>
            <a:ext cx="1371600" cy="45720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Idempotencia</a:t>
            </a:r>
            <a:endParaRPr lang="en-US" sz="1500" dirty="0"/>
          </a:p>
        </p:txBody>
      </p:sp>
      <p:sp>
        <p:nvSpPr>
          <p:cNvPr id="37" name="Text 31"/>
          <p:cNvSpPr txBox="1"/>
          <p:nvPr/>
        </p:nvSpPr>
        <p:spPr>
          <a:xfrm>
            <a:off x="9144000" y="2240280"/>
            <a:ext cx="2286000" cy="1600200"/>
          </a:xfrm>
          <a:prstGeom prst="rect">
            <a:avLst/>
          </a:prstGeom>
          <a:noFill/>
          <a:ln/>
        </p:spPr>
        <p:txBody>
          <a:bodyPr wrap="square" lIns="0" tIns="0" rIns="0" bIns="0" rtlCol="0" anchor="t"/>
          <a:lstStyle/>
          <a:p>
            <a:pPr indent="0" marL="0">
              <a:buNone/>
            </a:pPr>
            <a:r>
              <a:rPr lang="en-US" sz="1700" dirty="0">
                <a:solidFill>
                  <a:srgbClr val="12253D"/>
                </a:solidFill>
                <a:latin typeface="Calibri" pitchFamily="34" charset="0"/>
                <a:ea typeface="Calibri" pitchFamily="34" charset="-122"/>
                <a:cs typeface="Calibri" pitchFamily="34" charset="-120"/>
              </a:rPr>
              <a:t>Clave por intención más reserva atómica fuera del proceso.</a:t>
            </a:r>
            <a:endParaRPr lang="en-US" sz="1700" dirty="0"/>
          </a:p>
        </p:txBody>
      </p:sp>
      <p:sp>
        <p:nvSpPr>
          <p:cNvPr id="38" name="Shape 32"/>
          <p:cNvSpPr/>
          <p:nvPr/>
        </p:nvSpPr>
        <p:spPr>
          <a:xfrm>
            <a:off x="9034272" y="3977640"/>
            <a:ext cx="2505456" cy="786384"/>
          </a:xfrm>
          <a:prstGeom prst="roundRect">
            <a:avLst>
              <a:gd name="adj" fmla="val 6977"/>
            </a:avLst>
          </a:prstGeom>
          <a:solidFill>
            <a:srgbClr val="1E293B"/>
          </a:solidFill>
          <a:ln w="12700">
            <a:solidFill>
              <a:srgbClr val="1E293B"/>
            </a:solidFill>
            <a:prstDash val="solid"/>
          </a:ln>
        </p:spPr>
      </p:sp>
      <p:sp>
        <p:nvSpPr>
          <p:cNvPr id="39" name="Text 33"/>
          <p:cNvSpPr txBox="1"/>
          <p:nvPr/>
        </p:nvSpPr>
        <p:spPr>
          <a:xfrm>
            <a:off x="9198864" y="4114800"/>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Idempotency-Key: 24 h, 409</a:t>
            </a:r>
            <a:endParaRPr lang="en-US" sz="950" dirty="0"/>
          </a:p>
        </p:txBody>
      </p:sp>
      <p:sp>
        <p:nvSpPr>
          <p:cNvPr id="40" name="Text 34"/>
          <p:cNvSpPr txBox="1"/>
          <p:nvPr/>
        </p:nvSpPr>
        <p:spPr>
          <a:xfrm>
            <a:off x="9198864" y="4370832"/>
            <a:ext cx="2231136"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UNIQUE, no un Map</a:t>
            </a:r>
            <a:endParaRPr lang="en-US" sz="950" dirty="0"/>
          </a:p>
        </p:txBody>
      </p:sp>
      <p:sp>
        <p:nvSpPr>
          <p:cNvPr id="41" name="Shape 35"/>
          <p:cNvSpPr/>
          <p:nvPr/>
        </p:nvSpPr>
        <p:spPr>
          <a:xfrm>
            <a:off x="457200" y="5166360"/>
            <a:ext cx="11247120" cy="685800"/>
          </a:xfrm>
          <a:prstGeom prst="roundRect">
            <a:avLst>
              <a:gd name="adj" fmla="val 10667"/>
            </a:avLst>
          </a:prstGeom>
          <a:solidFill>
            <a:srgbClr val="DBEAFE"/>
          </a:solidFill>
          <a:ln w="12700">
            <a:solidFill>
              <a:srgbClr val="DBEAFE"/>
            </a:solidFill>
            <a:prstDash val="solid"/>
          </a:ln>
        </p:spPr>
      </p:sp>
      <p:pic>
        <p:nvPicPr>
          <p:cNvPr id="42" name="Image 4" descr="preencoded.png">    </p:cNvPr>
          <p:cNvPicPr>
            <a:picLocks noChangeAspect="1"/>
          </p:cNvPicPr>
          <p:nvPr/>
        </p:nvPicPr>
        <p:blipFill>
          <a:blip r:embed="rId5"/>
          <a:stretch>
            <a:fillRect/>
          </a:stretch>
        </p:blipFill>
        <p:spPr>
          <a:xfrm>
            <a:off x="685800" y="5367528"/>
            <a:ext cx="274320" cy="274320"/>
          </a:xfrm>
          <a:prstGeom prst="rect">
            <a:avLst/>
          </a:prstGeom>
        </p:spPr>
      </p:pic>
      <p:sp>
        <p:nvSpPr>
          <p:cNvPr id="43" name="Text 36"/>
          <p:cNvSpPr txBox="1"/>
          <p:nvPr/>
        </p:nvSpPr>
        <p:spPr>
          <a:xfrm>
            <a:off x="1143000" y="5166360"/>
            <a:ext cx="10424160" cy="68580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Tarea opcional: s03/opcional-idempotencia/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gRPC: RPC vuelve, con contrato y con deadline</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4/21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Cómo se hablan</a:t>
            </a:r>
            <a:endParaRPr lang="en-US" sz="1000" dirty="0"/>
          </a:p>
        </p:txBody>
      </p:sp>
      <p:sp>
        <p:nvSpPr>
          <p:cNvPr id="5" name="Shape 3"/>
          <p:cNvSpPr/>
          <p:nvPr/>
        </p:nvSpPr>
        <p:spPr>
          <a:xfrm>
            <a:off x="457200" y="1508760"/>
            <a:ext cx="3840480" cy="2450592"/>
          </a:xfrm>
          <a:prstGeom prst="roundRect">
            <a:avLst>
              <a:gd name="adj" fmla="val 2239"/>
            </a:avLst>
          </a:prstGeom>
          <a:solidFill>
            <a:srgbClr val="1E293B"/>
          </a:solidFill>
          <a:ln w="12700">
            <a:solidFill>
              <a:srgbClr val="1E293B"/>
            </a:solidFill>
            <a:prstDash val="solid"/>
          </a:ln>
        </p:spPr>
      </p:sp>
      <p:sp>
        <p:nvSpPr>
          <p:cNvPr id="6" name="Text 4"/>
          <p:cNvSpPr txBox="1"/>
          <p:nvPr/>
        </p:nvSpPr>
        <p:spPr>
          <a:xfrm>
            <a:off x="621792" y="1645920"/>
            <a:ext cx="3566160" cy="310896"/>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service Pagos {</a:t>
            </a:r>
            <a:endParaRPr lang="en-US" sz="1050" dirty="0"/>
          </a:p>
        </p:txBody>
      </p:sp>
      <p:sp>
        <p:nvSpPr>
          <p:cNvPr id="7" name="Shape 5"/>
          <p:cNvSpPr/>
          <p:nvPr/>
        </p:nvSpPr>
        <p:spPr>
          <a:xfrm>
            <a:off x="530352" y="1938528"/>
            <a:ext cx="3694176" cy="329184"/>
          </a:xfrm>
          <a:prstGeom prst="roundRect">
            <a:avLst>
              <a:gd name="adj" fmla="val 8333"/>
            </a:avLst>
          </a:prstGeom>
          <a:solidFill>
            <a:srgbClr val="334155"/>
          </a:solidFill>
          <a:ln w="12700">
            <a:solidFill>
              <a:srgbClr val="334155"/>
            </a:solidFill>
            <a:prstDash val="solid"/>
          </a:ln>
        </p:spPr>
      </p:sp>
      <p:sp>
        <p:nvSpPr>
          <p:cNvPr id="8" name="Text 6"/>
          <p:cNvSpPr txBox="1"/>
          <p:nvPr/>
        </p:nvSpPr>
        <p:spPr>
          <a:xfrm>
            <a:off x="621792" y="1956816"/>
            <a:ext cx="3566160" cy="310896"/>
          </a:xfrm>
          <a:prstGeom prst="rect">
            <a:avLst/>
          </a:prstGeom>
          <a:noFill/>
          <a:ln/>
        </p:spPr>
        <p:txBody>
          <a:bodyPr wrap="square" lIns="0" tIns="0" rIns="0" bIns="0" rtlCol="0" anchor="ctr"/>
          <a:lstStyle/>
          <a:p>
            <a:pPr indent="0" marL="0">
              <a:buNone/>
            </a:pPr>
            <a:r>
              <a:rPr lang="en-US" sz="1050" dirty="0">
                <a:solidFill>
                  <a:srgbClr val="FDE68A"/>
                </a:solidFill>
                <a:latin typeface="Courier New" pitchFamily="34" charset="0"/>
                <a:ea typeface="Courier New" pitchFamily="34" charset="-122"/>
                <a:cs typeface="Courier New" pitchFamily="34" charset="-120"/>
              </a:rPr>
              <a:t>  rpc Autorizar(Cargo) returns (Resultado);</a:t>
            </a:r>
            <a:endParaRPr lang="en-US" sz="1050" dirty="0"/>
          </a:p>
        </p:txBody>
      </p:sp>
      <p:sp>
        <p:nvSpPr>
          <p:cNvPr id="9" name="Text 7"/>
          <p:cNvSpPr txBox="1"/>
          <p:nvPr/>
        </p:nvSpPr>
        <p:spPr>
          <a:xfrm>
            <a:off x="621792" y="2267712"/>
            <a:ext cx="3566160" cy="310896"/>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10" name="Text 8"/>
          <p:cNvSpPr txBox="1"/>
          <p:nvPr/>
        </p:nvSpPr>
        <p:spPr>
          <a:xfrm>
            <a:off x="621792" y="2578608"/>
            <a:ext cx="3566160" cy="310896"/>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message Cargo {</a:t>
            </a:r>
            <a:endParaRPr lang="en-US" sz="1050" dirty="0"/>
          </a:p>
        </p:txBody>
      </p:sp>
      <p:sp>
        <p:nvSpPr>
          <p:cNvPr id="11" name="Text 9"/>
          <p:cNvSpPr txBox="1"/>
          <p:nvPr/>
        </p:nvSpPr>
        <p:spPr>
          <a:xfrm>
            <a:off x="621792" y="2889504"/>
            <a:ext cx="3566160" cy="310896"/>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  string cuenta = 1;</a:t>
            </a:r>
            <a:endParaRPr lang="en-US" sz="1050" dirty="0"/>
          </a:p>
        </p:txBody>
      </p:sp>
      <p:sp>
        <p:nvSpPr>
          <p:cNvPr id="12" name="Text 10"/>
          <p:cNvSpPr txBox="1"/>
          <p:nvPr/>
        </p:nvSpPr>
        <p:spPr>
          <a:xfrm>
            <a:off x="621792" y="3200400"/>
            <a:ext cx="3566160" cy="310896"/>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  double monto  = 2;</a:t>
            </a:r>
            <a:endParaRPr lang="en-US" sz="1050" dirty="0"/>
          </a:p>
        </p:txBody>
      </p:sp>
      <p:sp>
        <p:nvSpPr>
          <p:cNvPr id="13" name="Text 11"/>
          <p:cNvSpPr txBox="1"/>
          <p:nvPr/>
        </p:nvSpPr>
        <p:spPr>
          <a:xfrm>
            <a:off x="621792" y="3511296"/>
            <a:ext cx="3566160" cy="310896"/>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14" name="Shape 12"/>
          <p:cNvSpPr/>
          <p:nvPr/>
        </p:nvSpPr>
        <p:spPr>
          <a:xfrm>
            <a:off x="5440680" y="1508760"/>
            <a:ext cx="2286000" cy="502920"/>
          </a:xfrm>
          <a:prstGeom prst="roundRect">
            <a:avLst>
              <a:gd name="adj" fmla="val 14545"/>
            </a:avLst>
          </a:prstGeom>
          <a:solidFill>
            <a:srgbClr val="E8EEF6"/>
          </a:solidFill>
          <a:ln w="12700">
            <a:solidFill>
              <a:srgbClr val="4B6178"/>
            </a:solidFill>
            <a:prstDash val="solid"/>
          </a:ln>
        </p:spPr>
      </p:sp>
      <p:sp>
        <p:nvSpPr>
          <p:cNvPr id="15" name="Text 13"/>
          <p:cNvSpPr txBox="1"/>
          <p:nvPr/>
        </p:nvSpPr>
        <p:spPr>
          <a:xfrm>
            <a:off x="5532120" y="1508760"/>
            <a:ext cx="2103120" cy="50292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contrato .proto</a:t>
            </a:r>
            <a:endParaRPr lang="en-US" sz="1200" dirty="0"/>
          </a:p>
        </p:txBody>
      </p:sp>
      <p:sp>
        <p:nvSpPr>
          <p:cNvPr id="16" name="Shape 14"/>
          <p:cNvSpPr/>
          <p:nvPr/>
        </p:nvSpPr>
        <p:spPr>
          <a:xfrm>
            <a:off x="5074920" y="1581912"/>
            <a:ext cx="347472" cy="347472"/>
          </a:xfrm>
          <a:prstGeom prst="ellipse">
            <a:avLst/>
          </a:prstGeom>
          <a:solidFill>
            <a:srgbClr val="2563EB"/>
          </a:solidFill>
          <a:ln w="12700">
            <a:solidFill>
              <a:srgbClr val="2563EB"/>
            </a:solidFill>
            <a:prstDash val="solid"/>
          </a:ln>
        </p:spPr>
      </p:sp>
      <p:sp>
        <p:nvSpPr>
          <p:cNvPr id="17" name="Text 15"/>
          <p:cNvSpPr txBox="1"/>
          <p:nvPr/>
        </p:nvSpPr>
        <p:spPr>
          <a:xfrm>
            <a:off x="5074920" y="1581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Shape 16"/>
          <p:cNvSpPr/>
          <p:nvPr/>
        </p:nvSpPr>
        <p:spPr>
          <a:xfrm>
            <a:off x="5897880" y="2011680"/>
            <a:ext cx="0" cy="1371600"/>
          </a:xfrm>
          <a:prstGeom prst="line">
            <a:avLst/>
          </a:prstGeom>
          <a:noFill/>
          <a:ln w="22225">
            <a:solidFill>
              <a:srgbClr val="4B6178"/>
            </a:solidFill>
            <a:prstDash val="dash"/>
            <a:tailEnd type="triangle"/>
          </a:ln>
        </p:spPr>
      </p:sp>
      <p:sp>
        <p:nvSpPr>
          <p:cNvPr id="19" name="Shape 17"/>
          <p:cNvSpPr/>
          <p:nvPr/>
        </p:nvSpPr>
        <p:spPr>
          <a:xfrm>
            <a:off x="7406640" y="2011680"/>
            <a:ext cx="0" cy="1371600"/>
          </a:xfrm>
          <a:prstGeom prst="line">
            <a:avLst/>
          </a:prstGeom>
          <a:noFill/>
          <a:ln w="22225">
            <a:solidFill>
              <a:srgbClr val="4B6178"/>
            </a:solidFill>
            <a:prstDash val="dash"/>
            <a:tailEnd type="triangle"/>
          </a:ln>
        </p:spPr>
      </p:sp>
      <p:sp>
        <p:nvSpPr>
          <p:cNvPr id="20" name="Shape 18"/>
          <p:cNvSpPr/>
          <p:nvPr/>
        </p:nvSpPr>
        <p:spPr>
          <a:xfrm>
            <a:off x="6217920" y="2377440"/>
            <a:ext cx="347472" cy="347472"/>
          </a:xfrm>
          <a:prstGeom prst="ellipse">
            <a:avLst/>
          </a:prstGeom>
          <a:solidFill>
            <a:srgbClr val="2563EB"/>
          </a:solidFill>
          <a:ln w="12700">
            <a:solidFill>
              <a:srgbClr val="2563EB"/>
            </a:solidFill>
            <a:prstDash val="solid"/>
          </a:ln>
        </p:spPr>
      </p:sp>
      <p:sp>
        <p:nvSpPr>
          <p:cNvPr id="21" name="Text 19"/>
          <p:cNvSpPr txBox="1"/>
          <p:nvPr/>
        </p:nvSpPr>
        <p:spPr>
          <a:xfrm>
            <a:off x="6217920" y="23774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txBox="1"/>
          <p:nvPr/>
        </p:nvSpPr>
        <p:spPr>
          <a:xfrm>
            <a:off x="6629400" y="2377440"/>
            <a:ext cx="731520" cy="347472"/>
          </a:xfrm>
          <a:prstGeom prst="rect">
            <a:avLst/>
          </a:prstGeom>
          <a:noFill/>
          <a:ln/>
        </p:spPr>
        <p:txBody>
          <a:bodyPr wrap="square" lIns="0" tIns="0" rIns="0" bIns="0" rtlCol="0" anchor="ctr"/>
          <a:lstStyle/>
          <a:p>
            <a:pPr indent="0" marL="0">
              <a:buNone/>
            </a:pPr>
            <a:r>
              <a:rPr lang="en-US" sz="1100" i="1" dirty="0">
                <a:solidFill>
                  <a:srgbClr val="4B6178"/>
                </a:solidFill>
                <a:latin typeface="Calibri" pitchFamily="34" charset="0"/>
                <a:ea typeface="Calibri" pitchFamily="34" charset="-122"/>
                <a:cs typeface="Calibri" pitchFamily="34" charset="-120"/>
              </a:rPr>
              <a:t>protoc</a:t>
            </a:r>
            <a:endParaRPr lang="en-US" sz="1100" dirty="0"/>
          </a:p>
        </p:txBody>
      </p:sp>
      <p:sp>
        <p:nvSpPr>
          <p:cNvPr id="23" name="Shape 21"/>
          <p:cNvSpPr/>
          <p:nvPr/>
        </p:nvSpPr>
        <p:spPr>
          <a:xfrm>
            <a:off x="4526280" y="3383280"/>
            <a:ext cx="868680" cy="548640"/>
          </a:xfrm>
          <a:prstGeom prst="roundRect">
            <a:avLst>
              <a:gd name="adj" fmla="val 13333"/>
            </a:avLst>
          </a:prstGeom>
          <a:solidFill>
            <a:srgbClr val="FFFFFF"/>
          </a:solidFill>
          <a:ln w="15875">
            <a:solidFill>
              <a:srgbClr val="12253D"/>
            </a:solidFill>
            <a:prstDash val="solid"/>
          </a:ln>
        </p:spPr>
      </p:sp>
      <p:sp>
        <p:nvSpPr>
          <p:cNvPr id="24" name="Text 22"/>
          <p:cNvSpPr txBox="1"/>
          <p:nvPr/>
        </p:nvSpPr>
        <p:spPr>
          <a:xfrm>
            <a:off x="4617720" y="3383280"/>
            <a:ext cx="68580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cliente</a:t>
            </a:r>
            <a:endParaRPr lang="en-US" sz="1200" dirty="0"/>
          </a:p>
        </p:txBody>
      </p:sp>
      <p:sp>
        <p:nvSpPr>
          <p:cNvPr id="25" name="Shape 23"/>
          <p:cNvSpPr/>
          <p:nvPr/>
        </p:nvSpPr>
        <p:spPr>
          <a:xfrm>
            <a:off x="5532120" y="3383280"/>
            <a:ext cx="731520" cy="548640"/>
          </a:xfrm>
          <a:prstGeom prst="roundRect">
            <a:avLst>
              <a:gd name="adj" fmla="val 13333"/>
            </a:avLst>
          </a:prstGeom>
          <a:solidFill>
            <a:srgbClr val="E8EEF6"/>
          </a:solidFill>
          <a:ln w="12700">
            <a:solidFill>
              <a:srgbClr val="4B6178"/>
            </a:solidFill>
            <a:prstDash val="solid"/>
          </a:ln>
        </p:spPr>
      </p:sp>
      <p:sp>
        <p:nvSpPr>
          <p:cNvPr id="26" name="Text 24"/>
          <p:cNvSpPr txBox="1"/>
          <p:nvPr/>
        </p:nvSpPr>
        <p:spPr>
          <a:xfrm>
            <a:off x="5623560" y="3383280"/>
            <a:ext cx="54864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stub</a:t>
            </a:r>
            <a:endParaRPr lang="en-US" sz="1200" dirty="0"/>
          </a:p>
        </p:txBody>
      </p:sp>
      <p:sp>
        <p:nvSpPr>
          <p:cNvPr id="27" name="Shape 25"/>
          <p:cNvSpPr/>
          <p:nvPr/>
        </p:nvSpPr>
        <p:spPr>
          <a:xfrm>
            <a:off x="6400800" y="3200400"/>
            <a:ext cx="502920" cy="1874520"/>
          </a:xfrm>
          <a:prstGeom prst="roundRect">
            <a:avLst/>
          </a:prstGeom>
          <a:solidFill>
            <a:srgbClr val="F5F8FC">
              <a:alpha val="0"/>
            </a:srgbClr>
          </a:solidFill>
          <a:ln w="12700">
            <a:solidFill>
              <a:srgbClr val="4B6178"/>
            </a:solidFill>
            <a:prstDash val="dash"/>
          </a:ln>
        </p:spPr>
      </p:sp>
      <p:sp>
        <p:nvSpPr>
          <p:cNvPr id="28" name="Text 26"/>
          <p:cNvSpPr txBox="1"/>
          <p:nvPr/>
        </p:nvSpPr>
        <p:spPr>
          <a:xfrm>
            <a:off x="6400800" y="2907792"/>
            <a:ext cx="50292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29" name="Shape 27"/>
          <p:cNvSpPr/>
          <p:nvPr/>
        </p:nvSpPr>
        <p:spPr>
          <a:xfrm>
            <a:off x="7040880" y="3383280"/>
            <a:ext cx="731520" cy="548640"/>
          </a:xfrm>
          <a:prstGeom prst="roundRect">
            <a:avLst>
              <a:gd name="adj" fmla="val 13333"/>
            </a:avLst>
          </a:prstGeom>
          <a:solidFill>
            <a:srgbClr val="E8EEF6"/>
          </a:solidFill>
          <a:ln w="12700">
            <a:solidFill>
              <a:srgbClr val="4B6178"/>
            </a:solidFill>
            <a:prstDash val="solid"/>
          </a:ln>
        </p:spPr>
      </p:sp>
      <p:sp>
        <p:nvSpPr>
          <p:cNvPr id="30" name="Text 28"/>
          <p:cNvSpPr txBox="1"/>
          <p:nvPr/>
        </p:nvSpPr>
        <p:spPr>
          <a:xfrm>
            <a:off x="7132320" y="3383280"/>
            <a:ext cx="54864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stub</a:t>
            </a:r>
            <a:endParaRPr lang="en-US" sz="1200" dirty="0"/>
          </a:p>
        </p:txBody>
      </p:sp>
      <p:sp>
        <p:nvSpPr>
          <p:cNvPr id="31" name="Shape 29"/>
          <p:cNvSpPr/>
          <p:nvPr/>
        </p:nvSpPr>
        <p:spPr>
          <a:xfrm>
            <a:off x="7909560" y="3383280"/>
            <a:ext cx="731520" cy="548640"/>
          </a:xfrm>
          <a:prstGeom prst="roundRect">
            <a:avLst>
              <a:gd name="adj" fmla="val 13333"/>
            </a:avLst>
          </a:prstGeom>
          <a:solidFill>
            <a:srgbClr val="FFFFFF"/>
          </a:solidFill>
          <a:ln w="15875">
            <a:solidFill>
              <a:srgbClr val="12253D"/>
            </a:solidFill>
            <a:prstDash val="solid"/>
          </a:ln>
        </p:spPr>
      </p:sp>
      <p:sp>
        <p:nvSpPr>
          <p:cNvPr id="32" name="Text 30"/>
          <p:cNvSpPr txBox="1"/>
          <p:nvPr/>
        </p:nvSpPr>
        <p:spPr>
          <a:xfrm>
            <a:off x="8001000" y="3383280"/>
            <a:ext cx="54864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Pagos</a:t>
            </a:r>
            <a:endParaRPr lang="en-US" sz="1200" dirty="0"/>
          </a:p>
        </p:txBody>
      </p:sp>
      <p:sp>
        <p:nvSpPr>
          <p:cNvPr id="33" name="Shape 31"/>
          <p:cNvSpPr/>
          <p:nvPr/>
        </p:nvSpPr>
        <p:spPr>
          <a:xfrm>
            <a:off x="5394960" y="3657600"/>
            <a:ext cx="137160" cy="0"/>
          </a:xfrm>
          <a:prstGeom prst="line">
            <a:avLst/>
          </a:prstGeom>
          <a:noFill/>
          <a:ln w="22225">
            <a:solidFill>
              <a:srgbClr val="12253D"/>
            </a:solidFill>
            <a:prstDash val="solid"/>
            <a:tailEnd type="triangle"/>
          </a:ln>
        </p:spPr>
      </p:sp>
      <p:sp>
        <p:nvSpPr>
          <p:cNvPr id="34" name="Shape 32"/>
          <p:cNvSpPr/>
          <p:nvPr/>
        </p:nvSpPr>
        <p:spPr>
          <a:xfrm>
            <a:off x="6263640" y="3657600"/>
            <a:ext cx="777240" cy="0"/>
          </a:xfrm>
          <a:prstGeom prst="line">
            <a:avLst/>
          </a:prstGeom>
          <a:noFill/>
          <a:ln w="22225">
            <a:solidFill>
              <a:srgbClr val="12253D"/>
            </a:solidFill>
            <a:prstDash val="solid"/>
            <a:tailEnd type="triangle"/>
          </a:ln>
        </p:spPr>
      </p:sp>
      <p:sp>
        <p:nvSpPr>
          <p:cNvPr id="35" name="Shape 33"/>
          <p:cNvSpPr/>
          <p:nvPr/>
        </p:nvSpPr>
        <p:spPr>
          <a:xfrm>
            <a:off x="7772400" y="3657600"/>
            <a:ext cx="137160" cy="0"/>
          </a:xfrm>
          <a:prstGeom prst="line">
            <a:avLst/>
          </a:prstGeom>
          <a:noFill/>
          <a:ln w="22225">
            <a:solidFill>
              <a:srgbClr val="12253D"/>
            </a:solidFill>
            <a:prstDash val="solid"/>
            <a:tailEnd type="triangle"/>
          </a:ln>
        </p:spPr>
      </p:sp>
      <p:sp>
        <p:nvSpPr>
          <p:cNvPr id="36" name="Shape 34"/>
          <p:cNvSpPr/>
          <p:nvPr/>
        </p:nvSpPr>
        <p:spPr>
          <a:xfrm>
            <a:off x="4572000" y="4069080"/>
            <a:ext cx="347472" cy="347472"/>
          </a:xfrm>
          <a:prstGeom prst="ellipse">
            <a:avLst/>
          </a:prstGeom>
          <a:solidFill>
            <a:srgbClr val="2563EB"/>
          </a:solidFill>
          <a:ln w="12700">
            <a:solidFill>
              <a:srgbClr val="2563EB"/>
            </a:solidFill>
            <a:prstDash val="solid"/>
          </a:ln>
        </p:spPr>
      </p:sp>
      <p:sp>
        <p:nvSpPr>
          <p:cNvPr id="37" name="Text 35"/>
          <p:cNvSpPr txBox="1"/>
          <p:nvPr/>
        </p:nvSpPr>
        <p:spPr>
          <a:xfrm>
            <a:off x="4572000" y="40690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8" name="Text 36"/>
          <p:cNvSpPr txBox="1"/>
          <p:nvPr/>
        </p:nvSpPr>
        <p:spPr>
          <a:xfrm>
            <a:off x="4983480" y="4069080"/>
            <a:ext cx="960120" cy="347472"/>
          </a:xfrm>
          <a:prstGeom prst="rect">
            <a:avLst/>
          </a:prstGeom>
          <a:noFill/>
          <a:ln/>
        </p:spPr>
        <p:txBody>
          <a:bodyPr wrap="square" lIns="0" tIns="0" rIns="0" bIns="0" rtlCol="0" anchor="ctr"/>
          <a:lstStyle/>
          <a:p>
            <a:pPr indent="0" marL="0">
              <a:buNone/>
            </a:pPr>
            <a:r>
              <a:rPr lang="en-US" sz="950" dirty="0">
                <a:solidFill>
                  <a:srgbClr val="4B6178"/>
                </a:solidFill>
                <a:latin typeface="Calibri" pitchFamily="34" charset="0"/>
                <a:ea typeface="Calibri" pitchFamily="34" charset="-122"/>
                <a:cs typeface="Calibri" pitchFamily="34" charset="-120"/>
              </a:rPr>
              <a:t>llamada local</a:t>
            </a:r>
            <a:endParaRPr lang="en-US" sz="950" dirty="0"/>
          </a:p>
        </p:txBody>
      </p:sp>
      <p:sp>
        <p:nvSpPr>
          <p:cNvPr id="39" name="Text 37"/>
          <p:cNvSpPr txBox="1"/>
          <p:nvPr/>
        </p:nvSpPr>
        <p:spPr>
          <a:xfrm>
            <a:off x="6035040" y="4069080"/>
            <a:ext cx="1234440" cy="274320"/>
          </a:xfrm>
          <a:prstGeom prst="rect">
            <a:avLst/>
          </a:prstGeom>
          <a:solidFill>
            <a:srgbClr val="F5F8FC"/>
          </a:solidFill>
          <a:ln/>
        </p:spPr>
        <p:txBody>
          <a:bodyPr wrap="square" lIns="0" tIns="0" rIns="0" bIns="0" rtlCol="0" anchor="t"/>
          <a:lstStyle/>
          <a:p>
            <a:pPr algn="ctr" indent="0" marL="0">
              <a:buNone/>
            </a:pPr>
            <a:r>
              <a:rPr lang="en-US" sz="950" dirty="0">
                <a:solidFill>
                  <a:srgbClr val="12253D"/>
                </a:solidFill>
                <a:latin typeface="Calibri" pitchFamily="34" charset="0"/>
                <a:ea typeface="Calibri" pitchFamily="34" charset="-122"/>
                <a:cs typeface="Calibri" pitchFamily="34" charset="-120"/>
              </a:rPr>
              <a:t>Protobuf, HTTP/2</a:t>
            </a:r>
            <a:endParaRPr lang="en-US" sz="950" dirty="0"/>
          </a:p>
        </p:txBody>
      </p:sp>
      <p:sp>
        <p:nvSpPr>
          <p:cNvPr id="40" name="Shape 38"/>
          <p:cNvSpPr/>
          <p:nvPr/>
        </p:nvSpPr>
        <p:spPr>
          <a:xfrm>
            <a:off x="6478524" y="4407408"/>
            <a:ext cx="347472" cy="347472"/>
          </a:xfrm>
          <a:prstGeom prst="ellipse">
            <a:avLst/>
          </a:prstGeom>
          <a:solidFill>
            <a:srgbClr val="2563EB"/>
          </a:solidFill>
          <a:ln w="12700">
            <a:solidFill>
              <a:srgbClr val="2563EB"/>
            </a:solidFill>
            <a:prstDash val="solid"/>
          </a:ln>
        </p:spPr>
      </p:sp>
      <p:sp>
        <p:nvSpPr>
          <p:cNvPr id="41" name="Text 39"/>
          <p:cNvSpPr txBox="1"/>
          <p:nvPr/>
        </p:nvSpPr>
        <p:spPr>
          <a:xfrm>
            <a:off x="6478524" y="44074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2" name="Shape 40"/>
          <p:cNvSpPr/>
          <p:nvPr/>
        </p:nvSpPr>
        <p:spPr>
          <a:xfrm flipH="1">
            <a:off x="6263640" y="4937760"/>
            <a:ext cx="777240" cy="0"/>
          </a:xfrm>
          <a:prstGeom prst="line">
            <a:avLst/>
          </a:prstGeom>
          <a:noFill/>
          <a:ln w="22225">
            <a:solidFill>
              <a:srgbClr val="15803D"/>
            </a:solidFill>
            <a:prstDash val="solid"/>
            <a:tailEnd type="triangle"/>
          </a:ln>
        </p:spPr>
      </p:sp>
      <p:sp>
        <p:nvSpPr>
          <p:cNvPr id="43" name="Text 41"/>
          <p:cNvSpPr txBox="1"/>
          <p:nvPr/>
        </p:nvSpPr>
        <p:spPr>
          <a:xfrm>
            <a:off x="5943600" y="5102352"/>
            <a:ext cx="1417320" cy="274320"/>
          </a:xfrm>
          <a:prstGeom prst="rect">
            <a:avLst/>
          </a:prstGeom>
          <a:solidFill>
            <a:srgbClr val="F5F8FC"/>
          </a:solidFill>
          <a:ln/>
        </p:spPr>
        <p:txBody>
          <a:bodyPr wrap="square" lIns="0" tIns="0" rIns="0" bIns="0" rtlCol="0" anchor="t"/>
          <a:lstStyle/>
          <a:p>
            <a:pPr algn="ctr" indent="0" marL="0">
              <a:buNone/>
            </a:pPr>
            <a:r>
              <a:rPr lang="en-US" sz="950" dirty="0">
                <a:solidFill>
                  <a:srgbClr val="15803D"/>
                </a:solidFill>
                <a:latin typeface="Calibri" pitchFamily="34" charset="0"/>
                <a:ea typeface="Calibri" pitchFamily="34" charset="-122"/>
                <a:cs typeface="Calibri" pitchFamily="34" charset="-120"/>
              </a:rPr>
              <a:t>respuesta o stream</a:t>
            </a:r>
            <a:endParaRPr lang="en-US" sz="950" dirty="0"/>
          </a:p>
        </p:txBody>
      </p:sp>
      <p:sp>
        <p:nvSpPr>
          <p:cNvPr id="44" name="Shape 42"/>
          <p:cNvSpPr/>
          <p:nvPr/>
        </p:nvSpPr>
        <p:spPr>
          <a:xfrm>
            <a:off x="8823960" y="1371600"/>
            <a:ext cx="2907792" cy="1508760"/>
          </a:xfrm>
          <a:prstGeom prst="roundRect">
            <a:avLst>
              <a:gd name="adj" fmla="val 4848"/>
            </a:avLst>
          </a:prstGeom>
          <a:solidFill>
            <a:srgbClr val="FFFFFF"/>
          </a:solidFill>
          <a:ln w="12700">
            <a:solidFill>
              <a:srgbClr val="D9E2EE"/>
            </a:solidFill>
            <a:prstDash val="solid"/>
          </a:ln>
        </p:spPr>
      </p:sp>
      <p:sp>
        <p:nvSpPr>
          <p:cNvPr id="45" name="Text 43"/>
          <p:cNvSpPr txBox="1"/>
          <p:nvPr/>
        </p:nvSpPr>
        <p:spPr>
          <a:xfrm>
            <a:off x="8961120" y="1371600"/>
            <a:ext cx="2633472" cy="457200"/>
          </a:xfrm>
          <a:prstGeom prst="rect">
            <a:avLst/>
          </a:prstGeom>
          <a:noFill/>
          <a:ln/>
        </p:spPr>
        <p:txBody>
          <a:bodyPr wrap="square" lIns="0" tIns="0" rIns="0" bIns="0" rtlCol="0" anchor="b"/>
          <a:lstStyle/>
          <a:p>
            <a:pPr indent="0" marL="0">
              <a:buNone/>
            </a:pPr>
            <a:r>
              <a:rPr lang="en-US" sz="2400" b="1" dirty="0">
                <a:solidFill>
                  <a:srgbClr val="12253D"/>
                </a:solidFill>
                <a:latin typeface="Calibri" pitchFamily="34" charset="0"/>
                <a:ea typeface="Calibri" pitchFamily="34" charset="-122"/>
                <a:cs typeface="Calibri" pitchFamily="34" charset="-120"/>
              </a:rPr>
              <a:t>38 → 9 bytes</a:t>
            </a:r>
            <a:endParaRPr lang="en-US" sz="2400" dirty="0"/>
          </a:p>
        </p:txBody>
      </p:sp>
      <p:sp>
        <p:nvSpPr>
          <p:cNvPr id="46" name="Shape 44"/>
          <p:cNvSpPr/>
          <p:nvPr/>
        </p:nvSpPr>
        <p:spPr>
          <a:xfrm>
            <a:off x="8878824" y="1901952"/>
            <a:ext cx="2798064" cy="731520"/>
          </a:xfrm>
          <a:prstGeom prst="roundRect">
            <a:avLst>
              <a:gd name="adj" fmla="val 7500"/>
            </a:avLst>
          </a:prstGeom>
          <a:solidFill>
            <a:srgbClr val="1E293B"/>
          </a:solidFill>
          <a:ln w="12700">
            <a:solidFill>
              <a:srgbClr val="1E293B"/>
            </a:solidFill>
            <a:prstDash val="solid"/>
          </a:ln>
        </p:spPr>
      </p:sp>
      <p:sp>
        <p:nvSpPr>
          <p:cNvPr id="47" name="Text 45"/>
          <p:cNvSpPr txBox="1"/>
          <p:nvPr/>
        </p:nvSpPr>
        <p:spPr>
          <a:xfrm>
            <a:off x="9043416" y="2039112"/>
            <a:ext cx="2523744" cy="228600"/>
          </a:xfrm>
          <a:prstGeom prst="rect">
            <a:avLst/>
          </a:prstGeom>
          <a:noFill/>
          <a:ln/>
        </p:spPr>
        <p:txBody>
          <a:bodyPr wrap="square" lIns="0" tIns="0" rIns="0" bIns="0" rtlCol="0" anchor="ctr"/>
          <a:lstStyle/>
          <a:p>
            <a:pPr indent="0" marL="0">
              <a:buNone/>
            </a:pPr>
            <a:r>
              <a:rPr lang="en-US" sz="800" dirty="0">
                <a:solidFill>
                  <a:srgbClr val="E2E8F0"/>
                </a:solidFill>
                <a:latin typeface="Courier New" pitchFamily="34" charset="0"/>
                <a:ea typeface="Courier New" pitchFamily="34" charset="-122"/>
                <a:cs typeface="Courier New" pitchFamily="34" charset="-120"/>
              </a:rPr>
              <a:t>{"id":42,"nombre":"Ada","activo":true}</a:t>
            </a:r>
            <a:endParaRPr lang="en-US" sz="800" dirty="0"/>
          </a:p>
        </p:txBody>
      </p:sp>
      <p:sp>
        <p:nvSpPr>
          <p:cNvPr id="48" name="Shape 46"/>
          <p:cNvSpPr/>
          <p:nvPr/>
        </p:nvSpPr>
        <p:spPr>
          <a:xfrm>
            <a:off x="8951976" y="2249424"/>
            <a:ext cx="2651760" cy="246888"/>
          </a:xfrm>
          <a:prstGeom prst="roundRect">
            <a:avLst>
              <a:gd name="adj" fmla="val 11111"/>
            </a:avLst>
          </a:prstGeom>
          <a:solidFill>
            <a:srgbClr val="334155"/>
          </a:solidFill>
          <a:ln w="12700">
            <a:solidFill>
              <a:srgbClr val="334155"/>
            </a:solidFill>
            <a:prstDash val="solid"/>
          </a:ln>
        </p:spPr>
      </p:sp>
      <p:sp>
        <p:nvSpPr>
          <p:cNvPr id="49" name="Text 47"/>
          <p:cNvSpPr txBox="1"/>
          <p:nvPr/>
        </p:nvSpPr>
        <p:spPr>
          <a:xfrm>
            <a:off x="9043416" y="2267712"/>
            <a:ext cx="2523744" cy="228600"/>
          </a:xfrm>
          <a:prstGeom prst="rect">
            <a:avLst/>
          </a:prstGeom>
          <a:noFill/>
          <a:ln/>
        </p:spPr>
        <p:txBody>
          <a:bodyPr wrap="square" lIns="0" tIns="0" rIns="0" bIns="0" rtlCol="0" anchor="ctr"/>
          <a:lstStyle/>
          <a:p>
            <a:pPr indent="0" marL="0">
              <a:buNone/>
            </a:pPr>
            <a:r>
              <a:rPr lang="en-US" sz="800" dirty="0">
                <a:solidFill>
                  <a:srgbClr val="FDE68A"/>
                </a:solidFill>
                <a:latin typeface="Courier New" pitchFamily="34" charset="0"/>
                <a:ea typeface="Courier New" pitchFamily="34" charset="-122"/>
                <a:cs typeface="Courier New" pitchFamily="34" charset="-120"/>
              </a:rPr>
              <a:t>08 2A 12 03 41 64 61 18 01</a:t>
            </a:r>
            <a:endParaRPr lang="en-US" sz="800" dirty="0"/>
          </a:p>
        </p:txBody>
      </p:sp>
      <p:sp>
        <p:nvSpPr>
          <p:cNvPr id="50" name="Text 48"/>
          <p:cNvSpPr txBox="1"/>
          <p:nvPr/>
        </p:nvSpPr>
        <p:spPr>
          <a:xfrm>
            <a:off x="8961120" y="2651760"/>
            <a:ext cx="2633472" cy="228600"/>
          </a:xfrm>
          <a:prstGeom prst="rect">
            <a:avLst/>
          </a:prstGeom>
          <a:noFill/>
          <a:ln/>
        </p:spPr>
        <p:txBody>
          <a:bodyPr wrap="square" lIns="0" tIns="0" rIns="0" bIns="0" rtlCol="0" anchor="t"/>
          <a:lstStyle/>
          <a:p>
            <a:pPr indent="0" marL="0">
              <a:buNone/>
            </a:pPr>
            <a:r>
              <a:rPr lang="en-US" sz="950" dirty="0">
                <a:solidFill>
                  <a:srgbClr val="4B6178"/>
                </a:solidFill>
                <a:latin typeface="Calibri" pitchFamily="34" charset="0"/>
                <a:ea typeface="Calibri" pitchFamily="34" charset="-122"/>
                <a:cs typeface="Calibri" pitchFamily="34" charset="-120"/>
              </a:rPr>
              <a:t>sin nombres de campo</a:t>
            </a:r>
            <a:endParaRPr lang="en-US" sz="950" dirty="0"/>
          </a:p>
        </p:txBody>
      </p:sp>
      <p:sp>
        <p:nvSpPr>
          <p:cNvPr id="51" name="Shape 49"/>
          <p:cNvSpPr/>
          <p:nvPr/>
        </p:nvSpPr>
        <p:spPr>
          <a:xfrm>
            <a:off x="8823960" y="3017520"/>
            <a:ext cx="2907792" cy="1143000"/>
          </a:xfrm>
          <a:prstGeom prst="roundRect">
            <a:avLst>
              <a:gd name="adj" fmla="val 6400"/>
            </a:avLst>
          </a:prstGeom>
          <a:solidFill>
            <a:srgbClr val="FFFFFF"/>
          </a:solidFill>
          <a:ln w="12700">
            <a:solidFill>
              <a:srgbClr val="D9E2EE"/>
            </a:solidFill>
            <a:prstDash val="solid"/>
          </a:ln>
        </p:spPr>
      </p:sp>
      <p:sp>
        <p:nvSpPr>
          <p:cNvPr id="52" name="Text 50"/>
          <p:cNvSpPr txBox="1"/>
          <p:nvPr/>
        </p:nvSpPr>
        <p:spPr>
          <a:xfrm>
            <a:off x="8961120" y="3063240"/>
            <a:ext cx="2633472" cy="457200"/>
          </a:xfrm>
          <a:prstGeom prst="rect">
            <a:avLst/>
          </a:prstGeom>
          <a:noFill/>
          <a:ln/>
        </p:spPr>
        <p:txBody>
          <a:bodyPr wrap="square" lIns="0" tIns="0" rIns="0" bIns="0" rtlCol="0" anchor="b"/>
          <a:lstStyle/>
          <a:p>
            <a:pPr algn="l" indent="0" marL="0">
              <a:buNone/>
            </a:pPr>
            <a:r>
              <a:rPr lang="en-US" sz="2400" b="1" dirty="0">
                <a:solidFill>
                  <a:srgbClr val="B45309"/>
                </a:solidFill>
                <a:latin typeface="Calibri" pitchFamily="34" charset="0"/>
                <a:ea typeface="Calibri" pitchFamily="34" charset="-122"/>
                <a:cs typeface="Calibri" pitchFamily="34" charset="-120"/>
              </a:rPr>
              <a:t>deadline</a:t>
            </a:r>
            <a:endParaRPr lang="en-US" sz="2400" dirty="0"/>
          </a:p>
        </p:txBody>
      </p:sp>
      <p:sp>
        <p:nvSpPr>
          <p:cNvPr id="53" name="Text 51"/>
          <p:cNvSpPr txBox="1"/>
          <p:nvPr/>
        </p:nvSpPr>
        <p:spPr>
          <a:xfrm>
            <a:off x="8961120" y="3520440"/>
            <a:ext cx="2633472"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en cada llamada: la lección de 1984</a:t>
            </a:r>
            <a:endParaRPr lang="en-US" sz="1200" dirty="0"/>
          </a:p>
        </p:txBody>
      </p:sp>
      <p:sp>
        <p:nvSpPr>
          <p:cNvPr id="54" name="Shape 52"/>
          <p:cNvSpPr/>
          <p:nvPr/>
        </p:nvSpPr>
        <p:spPr>
          <a:xfrm>
            <a:off x="8823960" y="4297680"/>
            <a:ext cx="2907792" cy="1325880"/>
          </a:xfrm>
          <a:prstGeom prst="roundRect">
            <a:avLst>
              <a:gd name="adj" fmla="val 5517"/>
            </a:avLst>
          </a:prstGeom>
          <a:solidFill>
            <a:srgbClr val="FFFFFF"/>
          </a:solidFill>
          <a:ln w="12700">
            <a:solidFill>
              <a:srgbClr val="D9E2EE"/>
            </a:solidFill>
            <a:prstDash val="solid"/>
          </a:ln>
        </p:spPr>
      </p:sp>
      <p:sp>
        <p:nvSpPr>
          <p:cNvPr id="55" name="Text 53"/>
          <p:cNvSpPr txBox="1"/>
          <p:nvPr/>
        </p:nvSpPr>
        <p:spPr>
          <a:xfrm>
            <a:off x="8961120" y="4343400"/>
            <a:ext cx="2633472" cy="457200"/>
          </a:xfrm>
          <a:prstGeom prst="rect">
            <a:avLst/>
          </a:prstGeom>
          <a:noFill/>
          <a:ln/>
        </p:spPr>
        <p:txBody>
          <a:bodyPr wrap="square" lIns="0" tIns="0" rIns="0" bIns="0" rtlCol="0" anchor="b"/>
          <a:lstStyle/>
          <a:p>
            <a:pPr algn="l" indent="0" marL="0">
              <a:buNone/>
            </a:pPr>
            <a:r>
              <a:rPr lang="en-US" sz="2400" b="1" dirty="0">
                <a:solidFill>
                  <a:srgbClr val="12253D"/>
                </a:solidFill>
                <a:latin typeface="Calibri" pitchFamily="34" charset="0"/>
                <a:ea typeface="Calibri" pitchFamily="34" charset="-122"/>
                <a:cs typeface="Calibri" pitchFamily="34" charset="-120"/>
              </a:rPr>
              <a:t>26-feb-2015</a:t>
            </a:r>
            <a:endParaRPr lang="en-US" sz="2400" dirty="0"/>
          </a:p>
        </p:txBody>
      </p:sp>
      <p:sp>
        <p:nvSpPr>
          <p:cNvPr id="56" name="Text 54"/>
          <p:cNvSpPr txBox="1"/>
          <p:nvPr/>
        </p:nvSpPr>
        <p:spPr>
          <a:xfrm>
            <a:off x="8961120" y="4800600"/>
            <a:ext cx="2633472"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Google, HTTP/2, streaming nativo, grpcurl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REST o gRPC: mismo problema, trade-offs distintos</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5/21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Cómo se hablan  ·  válvula: se salta si falta tiempo</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6949440" cy="914400"/>
        </p:xfrm>
        <a:graphic>
          <a:graphicData uri="http://schemas.openxmlformats.org/drawingml/2006/table">
            <a:tbl>
              <a:tblPr/>
              <a:tblGrid>
                <a:gridCol w="1828800"/>
                <a:gridCol w="2468880"/>
                <a:gridCol w="2651760"/>
              </a:tblGrid>
              <a:tr h="384048">
                <a:tc>
                  <a:txBody>
                    <a:bodyPr/>
                    <a:lstStyle/>
                    <a:p>
                      <a:pPr indent="0" marL="0">
                        <a:buNone/>
                      </a:pP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REST</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gRPC</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Formato en el cable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JSON, texto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Protobuf, binario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Contrato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opcional (OpenAPI)</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obligatorio (.proto)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Transporte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HTTP/1.1 o superior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HTTP/2</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Streaming</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limitado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nativo, bidireccional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Depuración</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curl y navegador, legible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herramientas dedicadas (grpcurl)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cualquier cliente HTTP</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código generado por lenguaje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Uso dominante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APIs públicas, el borde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interno, servicio a servicio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6" name="Shape 3"/>
          <p:cNvSpPr/>
          <p:nvPr/>
        </p:nvSpPr>
        <p:spPr>
          <a:xfrm>
            <a:off x="7635240" y="1325880"/>
            <a:ext cx="4096512" cy="1481328"/>
          </a:xfrm>
          <a:prstGeom prst="roundRect">
            <a:avLst>
              <a:gd name="adj" fmla="val 4938"/>
            </a:avLst>
          </a:prstGeom>
          <a:solidFill>
            <a:srgbClr val="FFFFFF"/>
          </a:solidFill>
          <a:ln w="12700">
            <a:solidFill>
              <a:srgbClr val="D9E2EE"/>
            </a:solidFill>
            <a:prstDash val="solid"/>
          </a:ln>
        </p:spPr>
      </p:sp>
      <p:pic>
        <p:nvPicPr>
          <p:cNvPr id="7" name="Image 0" descr="preencoded.png">    </p:cNvPr>
          <p:cNvPicPr>
            <a:picLocks noChangeAspect="1"/>
          </p:cNvPicPr>
          <p:nvPr/>
        </p:nvPicPr>
        <p:blipFill>
          <a:blip r:embed="rId1"/>
          <a:stretch>
            <a:fillRect/>
          </a:stretch>
        </p:blipFill>
        <p:spPr>
          <a:xfrm>
            <a:off x="7799832" y="1463040"/>
            <a:ext cx="274320" cy="274320"/>
          </a:xfrm>
          <a:prstGeom prst="rect">
            <a:avLst/>
          </a:prstGeom>
        </p:spPr>
      </p:pic>
      <p:sp>
        <p:nvSpPr>
          <p:cNvPr id="8" name="Text 4"/>
          <p:cNvSpPr txBox="1"/>
          <p:nvPr/>
        </p:nvSpPr>
        <p:spPr>
          <a:xfrm>
            <a:off x="8183880" y="1435608"/>
            <a:ext cx="3383280"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La frontera pública favorece REST</a:t>
            </a:r>
            <a:endParaRPr lang="en-US" sz="1300" dirty="0"/>
          </a:p>
        </p:txBody>
      </p:sp>
      <p:sp>
        <p:nvSpPr>
          <p:cNvPr id="9" name="Text 5"/>
          <p:cNvSpPr txBox="1"/>
          <p:nvPr/>
        </p:nvSpPr>
        <p:spPr>
          <a:xfrm>
            <a:off x="7799832" y="1801368"/>
            <a:ext cx="3767328" cy="896112"/>
          </a:xfrm>
          <a:prstGeom prst="rect">
            <a:avLst/>
          </a:prstGeom>
          <a:noFill/>
          <a:ln/>
        </p:spPr>
        <p:txBody>
          <a:bodyPr wrap="square" lIns="0" tIns="0" rIns="0" bIns="0" rtlCol="0" anchor="t"/>
          <a:lstStyle/>
          <a:p>
            <a:pPr indent="0" marL="0">
              <a:spcAft>
                <a:spcPts val="400"/>
              </a:spcAft>
              <a:buNone/>
            </a:pPr>
            <a:r>
              <a:rPr lang="en-US" sz="1250" dirty="0">
                <a:solidFill>
                  <a:srgbClr val="12253D"/>
                </a:solidFill>
                <a:latin typeface="Calibri" pitchFamily="34" charset="0"/>
                <a:ea typeface="Calibri" pitchFamily="34" charset="-122"/>
                <a:cs typeface="Calibri" pitchFamily="34" charset="-120"/>
              </a:rPr>
              <a:t>Cualquier cliente lo lee; el costo en bytes se paga una vez, en el borde.</a:t>
            </a:r>
            <a:endParaRPr lang="en-US" sz="1250" dirty="0"/>
          </a:p>
        </p:txBody>
      </p:sp>
      <p:sp>
        <p:nvSpPr>
          <p:cNvPr id="10" name="Shape 6"/>
          <p:cNvSpPr/>
          <p:nvPr/>
        </p:nvSpPr>
        <p:spPr>
          <a:xfrm>
            <a:off x="7635240" y="2935224"/>
            <a:ext cx="4096512" cy="1481328"/>
          </a:xfrm>
          <a:prstGeom prst="roundRect">
            <a:avLst>
              <a:gd name="adj" fmla="val 4938"/>
            </a:avLst>
          </a:prstGeom>
          <a:solidFill>
            <a:srgbClr val="FFFFFF"/>
          </a:solidFill>
          <a:ln w="12700">
            <a:solidFill>
              <a:srgbClr val="D9E2EE"/>
            </a:solidFill>
            <a:prstDash val="solid"/>
          </a:ln>
        </p:spPr>
      </p:sp>
      <p:pic>
        <p:nvPicPr>
          <p:cNvPr id="11" name="Image 1" descr="preencoded.png">    </p:cNvPr>
          <p:cNvPicPr>
            <a:picLocks noChangeAspect="1"/>
          </p:cNvPicPr>
          <p:nvPr/>
        </p:nvPicPr>
        <p:blipFill>
          <a:blip r:embed="rId2"/>
          <a:stretch>
            <a:fillRect/>
          </a:stretch>
        </p:blipFill>
        <p:spPr>
          <a:xfrm>
            <a:off x="7799832" y="3072384"/>
            <a:ext cx="274320" cy="274320"/>
          </a:xfrm>
          <a:prstGeom prst="rect">
            <a:avLst/>
          </a:prstGeom>
        </p:spPr>
      </p:pic>
      <p:sp>
        <p:nvSpPr>
          <p:cNvPr id="12" name="Text 7"/>
          <p:cNvSpPr txBox="1"/>
          <p:nvPr/>
        </p:nvSpPr>
        <p:spPr>
          <a:xfrm>
            <a:off x="8183880" y="3044952"/>
            <a:ext cx="3383280"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El tráfico interno favorece gRPC</a:t>
            </a:r>
            <a:endParaRPr lang="en-US" sz="1300" dirty="0"/>
          </a:p>
        </p:txBody>
      </p:sp>
      <p:sp>
        <p:nvSpPr>
          <p:cNvPr id="13" name="Text 8"/>
          <p:cNvSpPr txBox="1"/>
          <p:nvPr/>
        </p:nvSpPr>
        <p:spPr>
          <a:xfrm>
            <a:off x="7799832" y="3410712"/>
            <a:ext cx="3767328" cy="896112"/>
          </a:xfrm>
          <a:prstGeom prst="rect">
            <a:avLst/>
          </a:prstGeom>
          <a:noFill/>
          <a:ln/>
        </p:spPr>
        <p:txBody>
          <a:bodyPr wrap="square" lIns="0" tIns="0" rIns="0" bIns="0" rtlCol="0" anchor="t"/>
          <a:lstStyle/>
          <a:p>
            <a:pPr indent="0" marL="0">
              <a:spcAft>
                <a:spcPts val="400"/>
              </a:spcAft>
              <a:buNone/>
            </a:pPr>
            <a:r>
              <a:rPr lang="en-US" sz="1250" dirty="0">
                <a:solidFill>
                  <a:srgbClr val="12253D"/>
                </a:solidFill>
                <a:latin typeface="Calibri" pitchFamily="34" charset="0"/>
                <a:ea typeface="Calibri" pitchFamily="34" charset="-122"/>
                <a:cs typeface="Calibri" pitchFamily="34" charset="-120"/>
              </a:rPr>
              <a:t>Miles de llamadas: el ahorro se multiplica y el contrato evita divergencias.</a:t>
            </a:r>
            <a:endParaRPr lang="en-US" sz="1250" dirty="0"/>
          </a:p>
        </p:txBody>
      </p:sp>
      <p:sp>
        <p:nvSpPr>
          <p:cNvPr id="14" name="Shape 9"/>
          <p:cNvSpPr/>
          <p:nvPr/>
        </p:nvSpPr>
        <p:spPr>
          <a:xfrm>
            <a:off x="457200" y="4617720"/>
            <a:ext cx="11247120" cy="502920"/>
          </a:xfrm>
          <a:prstGeom prst="roundRect">
            <a:avLst>
              <a:gd name="adj" fmla="val 14545"/>
            </a:avLst>
          </a:prstGeom>
          <a:solidFill>
            <a:srgbClr val="DBEAFE"/>
          </a:solidFill>
          <a:ln w="12700">
            <a:solidFill>
              <a:srgbClr val="DBEAFE"/>
            </a:solidFill>
            <a:prstDash val="solid"/>
          </a:ln>
        </p:spPr>
      </p:sp>
      <p:sp>
        <p:nvSpPr>
          <p:cNvPr id="15" name="Text 10"/>
          <p:cNvSpPr txBox="1"/>
          <p:nvPr/>
        </p:nvSpPr>
        <p:spPr>
          <a:xfrm>
            <a:off x="640080" y="4617720"/>
            <a:ext cx="10881360" cy="502920"/>
          </a:xfrm>
          <a:prstGeom prst="rect">
            <a:avLst/>
          </a:prstGeom>
          <a:noFill/>
          <a:ln/>
        </p:spPr>
        <p:txBody>
          <a:bodyPr wrap="square" lIns="0" tIns="0" rIns="0" bIns="0" rtlCol="0" anchor="ctr"/>
          <a:lstStyle/>
          <a:p>
            <a:pPr algn="ctr" indent="0" marL="0">
              <a:buNone/>
            </a:pPr>
            <a:r>
              <a:rPr lang="en-US" sz="1600" b="1" dirty="0">
                <a:solidFill>
                  <a:srgbClr val="12253D"/>
                </a:solidFill>
                <a:latin typeface="Calibri" pitchFamily="34" charset="0"/>
                <a:ea typeface="Calibri" pitchFamily="34" charset="-122"/>
                <a:cs typeface="Calibri" pitchFamily="34" charset="-120"/>
              </a:rPr>
              <a:t>No es una regla: es un trade-off.</a:t>
            </a:r>
            <a:endParaRPr lang="en-US" sz="1600" dirty="0"/>
          </a:p>
        </p:txBody>
      </p:sp>
      <p:sp>
        <p:nvSpPr>
          <p:cNvPr id="16" name="Shape 11"/>
          <p:cNvSpPr/>
          <p:nvPr/>
        </p:nvSpPr>
        <p:spPr>
          <a:xfrm>
            <a:off x="457200" y="5303520"/>
            <a:ext cx="11247120" cy="868680"/>
          </a:xfrm>
          <a:prstGeom prst="roundRect">
            <a:avLst>
              <a:gd name="adj" fmla="val 8421"/>
            </a:avLst>
          </a:prstGeom>
          <a:solidFill>
            <a:srgbClr val="FFFFFF"/>
          </a:solidFill>
          <a:ln w="12700">
            <a:solidFill>
              <a:srgbClr val="D9E2EE"/>
            </a:solidFill>
            <a:prstDash val="solid"/>
          </a:ln>
        </p:spPr>
      </p:sp>
      <p:pic>
        <p:nvPicPr>
          <p:cNvPr id="17" name="Image 2" descr="preencoded.png">    </p:cNvPr>
          <p:cNvPicPr>
            <a:picLocks noChangeAspect="1"/>
          </p:cNvPicPr>
          <p:nvPr/>
        </p:nvPicPr>
        <p:blipFill>
          <a:blip r:embed="rId3"/>
          <a:stretch>
            <a:fillRect/>
          </a:stretch>
        </p:blipFill>
        <p:spPr>
          <a:xfrm>
            <a:off x="685800" y="5577840"/>
            <a:ext cx="310896" cy="310896"/>
          </a:xfrm>
          <a:prstGeom prst="rect">
            <a:avLst/>
          </a:prstGeom>
        </p:spPr>
      </p:pic>
      <p:sp>
        <p:nvSpPr>
          <p:cNvPr id="18" name="Text 12"/>
          <p:cNvSpPr txBox="1"/>
          <p:nvPr/>
        </p:nvSpPr>
        <p:spPr>
          <a:xfrm>
            <a:off x="1188720" y="5303520"/>
            <a:ext cx="10378440" cy="868680"/>
          </a:xfrm>
          <a:prstGeom prst="rect">
            <a:avLst/>
          </a:prstGeom>
          <a:noFill/>
          <a:ln/>
        </p:spPr>
        <p:txBody>
          <a:bodyPr wrap="square" lIns="0" tIns="0" rIns="0" bIns="0" rtlCol="0" anchor="ctr"/>
          <a:lstStyle/>
          <a:p>
            <a:pPr indent="0" marL="0">
              <a:buNone/>
            </a:pPr>
            <a:r>
              <a:rPr lang="en-US" sz="1300" dirty="0">
                <a:solidFill>
                  <a:srgbClr val="12253D"/>
                </a:solidFill>
                <a:latin typeface="Calibri" pitchFamily="34" charset="0"/>
                <a:ea typeface="Calibri" pitchFamily="34" charset="-122"/>
                <a:cs typeface="Calibri" pitchFamily="34" charset="-120"/>
              </a:rPr>
              <a:t>Mexi Banco: gateway → servicios es REST; transferencias → cuentas, el candidato a gRPC. Aquí gRPC es criterio, no lab.</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Pregunta de la semana: ¿dónde vive la configuración?</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6/21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0 · La pregunta de la semana</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vota en el chat</a:t>
            </a:r>
            <a:endParaRPr lang="en-US" sz="1100" dirty="0"/>
          </a:p>
        </p:txBody>
      </p:sp>
      <p:sp>
        <p:nvSpPr>
          <p:cNvPr id="8" name="Text 5"/>
          <p:cNvSpPr txBox="1"/>
          <p:nvPr/>
        </p:nvSpPr>
        <p:spPr>
          <a:xfrm>
            <a:off x="457200" y="1325880"/>
            <a:ext cx="11247120" cy="411480"/>
          </a:xfrm>
          <a:prstGeom prst="rect">
            <a:avLst/>
          </a:prstGeom>
          <a:noFill/>
          <a:ln/>
        </p:spPr>
        <p:txBody>
          <a:bodyPr wrap="square" lIns="0" tIns="0" rIns="0" bIns="0" rtlCol="0" anchor="t"/>
          <a:lstStyle/>
          <a:p>
            <a:pPr indent="0" marL="0">
              <a:buNone/>
            </a:pPr>
            <a:r>
              <a:rPr lang="en-US" sz="1500" dirty="0">
                <a:solidFill>
                  <a:srgbClr val="4B6178"/>
                </a:solidFill>
                <a:latin typeface="Calibri" pitchFamily="34" charset="0"/>
                <a:ea typeface="Calibri" pitchFamily="34" charset="-122"/>
                <a:cs typeface="Calibri" pitchFamily="34" charset="-120"/>
              </a:rPr>
              <a:t>Según The Twelve-Factor App, la Lectura 3:</a:t>
            </a:r>
            <a:endParaRPr lang="en-US" sz="1500" dirty="0"/>
          </a:p>
        </p:txBody>
      </p:sp>
      <p:sp>
        <p:nvSpPr>
          <p:cNvPr id="9" name="Shape 6"/>
          <p:cNvSpPr/>
          <p:nvPr/>
        </p:nvSpPr>
        <p:spPr>
          <a:xfrm>
            <a:off x="457200" y="1920240"/>
            <a:ext cx="2651760" cy="2331720"/>
          </a:xfrm>
          <a:prstGeom prst="roundRect">
            <a:avLst>
              <a:gd name="adj" fmla="val 3137"/>
            </a:avLst>
          </a:prstGeom>
          <a:solidFill>
            <a:srgbClr val="FFFFFF"/>
          </a:solidFill>
          <a:ln w="12700">
            <a:solidFill>
              <a:srgbClr val="D9E2EE"/>
            </a:solidFill>
            <a:prstDash val="solid"/>
          </a:ln>
        </p:spPr>
      </p:sp>
      <p:sp>
        <p:nvSpPr>
          <p:cNvPr id="10" name="Shape 7"/>
          <p:cNvSpPr/>
          <p:nvPr/>
        </p:nvSpPr>
        <p:spPr>
          <a:xfrm>
            <a:off x="1463040" y="2194560"/>
            <a:ext cx="640080" cy="640080"/>
          </a:xfrm>
          <a:prstGeom prst="ellipse">
            <a:avLst/>
          </a:prstGeom>
          <a:solidFill>
            <a:srgbClr val="E8EEF6"/>
          </a:solidFill>
          <a:ln w="12700">
            <a:solidFill>
              <a:srgbClr val="E8EEF6"/>
            </a:solidFill>
            <a:prstDash val="solid"/>
          </a:ln>
        </p:spPr>
      </p:sp>
      <p:pic>
        <p:nvPicPr>
          <p:cNvPr id="11" name="Image 1" descr="preencoded.png">    </p:cNvPr>
          <p:cNvPicPr>
            <a:picLocks noChangeAspect="1"/>
          </p:cNvPicPr>
          <p:nvPr/>
        </p:nvPicPr>
        <p:blipFill>
          <a:blip r:embed="rId2"/>
          <a:stretch>
            <a:fillRect/>
          </a:stretch>
        </p:blipFill>
        <p:spPr>
          <a:xfrm>
            <a:off x="1627632" y="2359152"/>
            <a:ext cx="310896" cy="310896"/>
          </a:xfrm>
          <a:prstGeom prst="rect">
            <a:avLst/>
          </a:prstGeom>
        </p:spPr>
      </p:pic>
      <p:sp>
        <p:nvSpPr>
          <p:cNvPr id="12" name="Text 8"/>
          <p:cNvSpPr txBox="1"/>
          <p:nvPr/>
        </p:nvSpPr>
        <p:spPr>
          <a:xfrm>
            <a:off x="640080" y="214884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A</a:t>
            </a:r>
            <a:endParaRPr lang="en-US" sz="2200" dirty="0"/>
          </a:p>
        </p:txBody>
      </p:sp>
      <p:sp>
        <p:nvSpPr>
          <p:cNvPr id="13" name="Text 9"/>
          <p:cNvSpPr txBox="1"/>
          <p:nvPr/>
        </p:nvSpPr>
        <p:spPr>
          <a:xfrm>
            <a:off x="640080" y="3063240"/>
            <a:ext cx="2286000" cy="1097280"/>
          </a:xfrm>
          <a:prstGeom prst="rect">
            <a:avLst/>
          </a:prstGeom>
          <a:noFill/>
          <a:ln/>
        </p:spPr>
        <p:txBody>
          <a:bodyPr wrap="square" lIns="0" tIns="0" rIns="0" bIns="0" rtlCol="0" anchor="t"/>
          <a:lstStyle/>
          <a:p>
            <a:pPr algn="ctr" indent="0" marL="0">
              <a:buNone/>
            </a:pPr>
            <a:r>
              <a:rPr lang="en-US" sz="1500" b="1" dirty="0">
                <a:solidFill>
                  <a:srgbClr val="12253D"/>
                </a:solidFill>
                <a:latin typeface="Calibri" pitchFamily="34" charset="0"/>
                <a:ea typeface="Calibri" pitchFamily="34" charset="-122"/>
                <a:cs typeface="Calibri" pitchFamily="34" charset="-120"/>
              </a:rPr>
              <a:t>un archivo de propiedades en la imagen</a:t>
            </a:r>
            <a:endParaRPr lang="en-US" sz="1500" dirty="0"/>
          </a:p>
        </p:txBody>
      </p:sp>
      <p:sp>
        <p:nvSpPr>
          <p:cNvPr id="14" name="Shape 10"/>
          <p:cNvSpPr/>
          <p:nvPr/>
        </p:nvSpPr>
        <p:spPr>
          <a:xfrm>
            <a:off x="3291840" y="1920240"/>
            <a:ext cx="2651760" cy="2331720"/>
          </a:xfrm>
          <a:prstGeom prst="roundRect">
            <a:avLst>
              <a:gd name="adj" fmla="val 3137"/>
            </a:avLst>
          </a:prstGeom>
          <a:solidFill>
            <a:srgbClr val="FFFFFF"/>
          </a:solidFill>
          <a:ln w="12700">
            <a:solidFill>
              <a:srgbClr val="D9E2EE"/>
            </a:solidFill>
            <a:prstDash val="solid"/>
          </a:ln>
        </p:spPr>
      </p:sp>
      <p:sp>
        <p:nvSpPr>
          <p:cNvPr id="15" name="Shape 11"/>
          <p:cNvSpPr/>
          <p:nvPr/>
        </p:nvSpPr>
        <p:spPr>
          <a:xfrm>
            <a:off x="4297680" y="2194560"/>
            <a:ext cx="640080" cy="640080"/>
          </a:xfrm>
          <a:prstGeom prst="ellipse">
            <a:avLst/>
          </a:prstGeom>
          <a:solidFill>
            <a:srgbClr val="E8EEF6"/>
          </a:solidFill>
          <a:ln w="12700">
            <a:solidFill>
              <a:srgbClr val="E8EEF6"/>
            </a:solidFill>
            <a:prstDash val="solid"/>
          </a:ln>
        </p:spPr>
      </p:sp>
      <p:pic>
        <p:nvPicPr>
          <p:cNvPr id="16" name="Image 2" descr="preencoded.png">    </p:cNvPr>
          <p:cNvPicPr>
            <a:picLocks noChangeAspect="1"/>
          </p:cNvPicPr>
          <p:nvPr/>
        </p:nvPicPr>
        <p:blipFill>
          <a:blip r:embed="rId3"/>
          <a:stretch>
            <a:fillRect/>
          </a:stretch>
        </p:blipFill>
        <p:spPr>
          <a:xfrm>
            <a:off x="4462272" y="2359152"/>
            <a:ext cx="310896" cy="310896"/>
          </a:xfrm>
          <a:prstGeom prst="rect">
            <a:avLst/>
          </a:prstGeom>
        </p:spPr>
      </p:pic>
      <p:sp>
        <p:nvSpPr>
          <p:cNvPr id="17" name="Text 12"/>
          <p:cNvSpPr txBox="1"/>
          <p:nvPr/>
        </p:nvSpPr>
        <p:spPr>
          <a:xfrm>
            <a:off x="3474720" y="214884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B</a:t>
            </a:r>
            <a:endParaRPr lang="en-US" sz="2200" dirty="0"/>
          </a:p>
        </p:txBody>
      </p:sp>
      <p:sp>
        <p:nvSpPr>
          <p:cNvPr id="18" name="Text 13"/>
          <p:cNvSpPr txBox="1"/>
          <p:nvPr/>
        </p:nvSpPr>
        <p:spPr>
          <a:xfrm>
            <a:off x="3474720" y="3063240"/>
            <a:ext cx="2286000" cy="1097280"/>
          </a:xfrm>
          <a:prstGeom prst="rect">
            <a:avLst/>
          </a:prstGeom>
          <a:noFill/>
          <a:ln/>
        </p:spPr>
        <p:txBody>
          <a:bodyPr wrap="square" lIns="0" tIns="0" rIns="0" bIns="0" rtlCol="0" anchor="t"/>
          <a:lstStyle/>
          <a:p>
            <a:pPr algn="ctr" indent="0" marL="0">
              <a:buNone/>
            </a:pPr>
            <a:r>
              <a:rPr lang="en-US" sz="1500" b="1" dirty="0">
                <a:solidFill>
                  <a:srgbClr val="12253D"/>
                </a:solidFill>
                <a:latin typeface="Calibri" pitchFamily="34" charset="0"/>
                <a:ea typeface="Calibri" pitchFamily="34" charset="-122"/>
                <a:cs typeface="Calibri" pitchFamily="34" charset="-120"/>
              </a:rPr>
              <a:t>variables de entorno, fuera del código</a:t>
            </a:r>
            <a:endParaRPr lang="en-US" sz="1500" dirty="0"/>
          </a:p>
        </p:txBody>
      </p:sp>
      <p:sp>
        <p:nvSpPr>
          <p:cNvPr id="19" name="Shape 14"/>
          <p:cNvSpPr/>
          <p:nvPr/>
        </p:nvSpPr>
        <p:spPr>
          <a:xfrm>
            <a:off x="6126480" y="1920240"/>
            <a:ext cx="2651760" cy="2331720"/>
          </a:xfrm>
          <a:prstGeom prst="roundRect">
            <a:avLst>
              <a:gd name="adj" fmla="val 3137"/>
            </a:avLst>
          </a:prstGeom>
          <a:solidFill>
            <a:srgbClr val="FFFFFF"/>
          </a:solidFill>
          <a:ln w="12700">
            <a:solidFill>
              <a:srgbClr val="D9E2EE"/>
            </a:solidFill>
            <a:prstDash val="solid"/>
          </a:ln>
        </p:spPr>
      </p:sp>
      <p:sp>
        <p:nvSpPr>
          <p:cNvPr id="20" name="Shape 15"/>
          <p:cNvSpPr/>
          <p:nvPr/>
        </p:nvSpPr>
        <p:spPr>
          <a:xfrm>
            <a:off x="7132320" y="2194560"/>
            <a:ext cx="640080" cy="640080"/>
          </a:xfrm>
          <a:prstGeom prst="ellipse">
            <a:avLst/>
          </a:prstGeom>
          <a:solidFill>
            <a:srgbClr val="E8EEF6"/>
          </a:solidFill>
          <a:ln w="12700">
            <a:solidFill>
              <a:srgbClr val="E8EEF6"/>
            </a:solidFill>
            <a:prstDash val="solid"/>
          </a:ln>
        </p:spPr>
      </p:sp>
      <p:pic>
        <p:nvPicPr>
          <p:cNvPr id="21" name="Image 3" descr="preencoded.png">    </p:cNvPr>
          <p:cNvPicPr>
            <a:picLocks noChangeAspect="1"/>
          </p:cNvPicPr>
          <p:nvPr/>
        </p:nvPicPr>
        <p:blipFill>
          <a:blip r:embed="rId4"/>
          <a:stretch>
            <a:fillRect/>
          </a:stretch>
        </p:blipFill>
        <p:spPr>
          <a:xfrm>
            <a:off x="7296912" y="2359152"/>
            <a:ext cx="310896" cy="310896"/>
          </a:xfrm>
          <a:prstGeom prst="rect">
            <a:avLst/>
          </a:prstGeom>
        </p:spPr>
      </p:pic>
      <p:sp>
        <p:nvSpPr>
          <p:cNvPr id="22" name="Text 16"/>
          <p:cNvSpPr txBox="1"/>
          <p:nvPr/>
        </p:nvSpPr>
        <p:spPr>
          <a:xfrm>
            <a:off x="6309360" y="214884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C</a:t>
            </a:r>
            <a:endParaRPr lang="en-US" sz="2200" dirty="0"/>
          </a:p>
        </p:txBody>
      </p:sp>
      <p:sp>
        <p:nvSpPr>
          <p:cNvPr id="23" name="Text 17"/>
          <p:cNvSpPr txBox="1"/>
          <p:nvPr/>
        </p:nvSpPr>
        <p:spPr>
          <a:xfrm>
            <a:off x="6309360" y="3063240"/>
            <a:ext cx="2286000" cy="1097280"/>
          </a:xfrm>
          <a:prstGeom prst="rect">
            <a:avLst/>
          </a:prstGeom>
          <a:noFill/>
          <a:ln/>
        </p:spPr>
        <p:txBody>
          <a:bodyPr wrap="square" lIns="0" tIns="0" rIns="0" bIns="0" rtlCol="0" anchor="t"/>
          <a:lstStyle/>
          <a:p>
            <a:pPr algn="ctr" indent="0" marL="0">
              <a:buNone/>
            </a:pPr>
            <a:r>
              <a:rPr lang="en-US" sz="1500" b="1" dirty="0">
                <a:solidFill>
                  <a:srgbClr val="12253D"/>
                </a:solidFill>
                <a:latin typeface="Calibri" pitchFamily="34" charset="0"/>
                <a:ea typeface="Calibri" pitchFamily="34" charset="-122"/>
                <a:cs typeface="Calibri" pitchFamily="34" charset="-120"/>
              </a:rPr>
              <a:t>una tabla en la base de datos</a:t>
            </a:r>
            <a:endParaRPr lang="en-US" sz="1500" dirty="0"/>
          </a:p>
        </p:txBody>
      </p:sp>
      <p:sp>
        <p:nvSpPr>
          <p:cNvPr id="24" name="Shape 18"/>
          <p:cNvSpPr/>
          <p:nvPr/>
        </p:nvSpPr>
        <p:spPr>
          <a:xfrm>
            <a:off x="8961120" y="1920240"/>
            <a:ext cx="2651760" cy="2331720"/>
          </a:xfrm>
          <a:prstGeom prst="roundRect">
            <a:avLst>
              <a:gd name="adj" fmla="val 3137"/>
            </a:avLst>
          </a:prstGeom>
          <a:solidFill>
            <a:srgbClr val="FFFFFF"/>
          </a:solidFill>
          <a:ln w="12700">
            <a:solidFill>
              <a:srgbClr val="D9E2EE"/>
            </a:solidFill>
            <a:prstDash val="solid"/>
          </a:ln>
        </p:spPr>
      </p:sp>
      <p:sp>
        <p:nvSpPr>
          <p:cNvPr id="25" name="Shape 19"/>
          <p:cNvSpPr/>
          <p:nvPr/>
        </p:nvSpPr>
        <p:spPr>
          <a:xfrm>
            <a:off x="9966960" y="2194560"/>
            <a:ext cx="640080" cy="640080"/>
          </a:xfrm>
          <a:prstGeom prst="ellipse">
            <a:avLst/>
          </a:prstGeom>
          <a:solidFill>
            <a:srgbClr val="E8EEF6"/>
          </a:solidFill>
          <a:ln w="12700">
            <a:solidFill>
              <a:srgbClr val="E8EEF6"/>
            </a:solidFill>
            <a:prstDash val="solid"/>
          </a:ln>
        </p:spPr>
      </p:sp>
      <p:pic>
        <p:nvPicPr>
          <p:cNvPr id="26" name="Image 4" descr="preencoded.png">    </p:cNvPr>
          <p:cNvPicPr>
            <a:picLocks noChangeAspect="1"/>
          </p:cNvPicPr>
          <p:nvPr/>
        </p:nvPicPr>
        <p:blipFill>
          <a:blip r:embed="rId5"/>
          <a:stretch>
            <a:fillRect/>
          </a:stretch>
        </p:blipFill>
        <p:spPr>
          <a:xfrm>
            <a:off x="10131552" y="2359152"/>
            <a:ext cx="310896" cy="310896"/>
          </a:xfrm>
          <a:prstGeom prst="rect">
            <a:avLst/>
          </a:prstGeom>
        </p:spPr>
      </p:pic>
      <p:sp>
        <p:nvSpPr>
          <p:cNvPr id="27" name="Text 20"/>
          <p:cNvSpPr txBox="1"/>
          <p:nvPr/>
        </p:nvSpPr>
        <p:spPr>
          <a:xfrm>
            <a:off x="9144000" y="214884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D</a:t>
            </a:r>
            <a:endParaRPr lang="en-US" sz="2200" dirty="0"/>
          </a:p>
        </p:txBody>
      </p:sp>
      <p:sp>
        <p:nvSpPr>
          <p:cNvPr id="28" name="Text 21"/>
          <p:cNvSpPr txBox="1"/>
          <p:nvPr/>
        </p:nvSpPr>
        <p:spPr>
          <a:xfrm>
            <a:off x="9144000" y="3063240"/>
            <a:ext cx="2286000" cy="1097280"/>
          </a:xfrm>
          <a:prstGeom prst="rect">
            <a:avLst/>
          </a:prstGeom>
          <a:noFill/>
          <a:ln/>
        </p:spPr>
        <p:txBody>
          <a:bodyPr wrap="square" lIns="0" tIns="0" rIns="0" bIns="0" rtlCol="0" anchor="t"/>
          <a:lstStyle/>
          <a:p>
            <a:pPr algn="ctr" indent="0" marL="0">
              <a:buNone/>
            </a:pPr>
            <a:r>
              <a:rPr lang="en-US" sz="1500" b="1" dirty="0">
                <a:solidFill>
                  <a:srgbClr val="12253D"/>
                </a:solidFill>
                <a:latin typeface="Calibri" pitchFamily="34" charset="0"/>
                <a:ea typeface="Calibri" pitchFamily="34" charset="-122"/>
                <a:cs typeface="Calibri" pitchFamily="34" charset="-120"/>
              </a:rPr>
              <a:t>el código, con un perfil por entorno</a:t>
            </a:r>
            <a:endParaRPr lang="en-US" sz="1500" dirty="0"/>
          </a:p>
        </p:txBody>
      </p:sp>
      <p:sp>
        <p:nvSpPr>
          <p:cNvPr id="29" name="Shape 22"/>
          <p:cNvSpPr/>
          <p:nvPr/>
        </p:nvSpPr>
        <p:spPr>
          <a:xfrm>
            <a:off x="457200" y="4434840"/>
            <a:ext cx="11247120" cy="960120"/>
          </a:xfrm>
          <a:prstGeom prst="roundRect">
            <a:avLst>
              <a:gd name="adj" fmla="val 7619"/>
            </a:avLst>
          </a:prstGeom>
          <a:solidFill>
            <a:srgbClr val="FFFFFF"/>
          </a:solidFill>
          <a:ln w="12700">
            <a:solidFill>
              <a:srgbClr val="D9E2EE"/>
            </a:solidFill>
            <a:prstDash val="solid"/>
          </a:ln>
        </p:spPr>
      </p:sp>
      <p:pic>
        <p:nvPicPr>
          <p:cNvPr id="30" name="Image 5" descr="preencoded.png">    </p:cNvPr>
          <p:cNvPicPr>
            <a:picLocks noChangeAspect="1"/>
          </p:cNvPicPr>
          <p:nvPr/>
        </p:nvPicPr>
        <p:blipFill>
          <a:blip r:embed="rId6"/>
          <a:stretch>
            <a:fillRect/>
          </a:stretch>
        </p:blipFill>
        <p:spPr>
          <a:xfrm>
            <a:off x="621792" y="4572000"/>
            <a:ext cx="274320" cy="274320"/>
          </a:xfrm>
          <a:prstGeom prst="rect">
            <a:avLst/>
          </a:prstGeom>
        </p:spPr>
      </p:pic>
      <p:sp>
        <p:nvSpPr>
          <p:cNvPr id="31" name="Text 23"/>
          <p:cNvSpPr txBox="1"/>
          <p:nvPr/>
        </p:nvSpPr>
        <p:spPr>
          <a:xfrm>
            <a:off x="1005840" y="4544568"/>
            <a:ext cx="1053388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Prueba de fuego del factor III</a:t>
            </a:r>
            <a:endParaRPr lang="en-US" sz="1300" dirty="0"/>
          </a:p>
        </p:txBody>
      </p:sp>
      <p:sp>
        <p:nvSpPr>
          <p:cNvPr id="32" name="Text 24"/>
          <p:cNvSpPr txBox="1"/>
          <p:nvPr/>
        </p:nvSpPr>
        <p:spPr>
          <a:xfrm>
            <a:off x="621792" y="4910328"/>
            <a:ext cx="10917936" cy="374904"/>
          </a:xfrm>
          <a:prstGeom prst="rect">
            <a:avLst/>
          </a:prstGeom>
          <a:noFill/>
          <a:ln/>
        </p:spPr>
        <p:txBody>
          <a:bodyPr wrap="square" lIns="0" tIns="0" rIns="0" bIns="0" rtlCol="0" anchor="t"/>
          <a:lstStyle/>
          <a:p>
            <a:pPr indent="0" marL="0">
              <a:spcAft>
                <a:spcPts val="400"/>
              </a:spcAft>
              <a:buNone/>
            </a:pPr>
            <a:r>
              <a:rPr lang="en-US" sz="1500" dirty="0">
                <a:solidFill>
                  <a:srgbClr val="12253D"/>
                </a:solidFill>
                <a:latin typeface="Calibri" pitchFamily="34" charset="0"/>
                <a:ea typeface="Calibri" pitchFamily="34" charset="-122"/>
                <a:cs typeface="Calibri" pitchFamily="34" charset="-120"/>
              </a:rPr>
              <a:t>¿Podrían hacer público su repo ahora mismo sin comprometer una credencial?</a:t>
            </a:r>
            <a:endParaRPr lang="en-US" sz="1500" dirty="0"/>
          </a:p>
        </p:txBody>
      </p:sp>
      <p:sp>
        <p:nvSpPr>
          <p:cNvPr id="33" name="Text 25"/>
          <p:cNvSpPr txBox="1"/>
          <p:nvPr/>
        </p:nvSpPr>
        <p:spPr>
          <a:xfrm>
            <a:off x="457200" y="5577840"/>
            <a:ext cx="11247120" cy="36576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Después: las dos más votadas de la Discussion #25 (12-factor y Borg).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Partir el monolito crea cinco problemas nuevos y uno de visibilidad</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7/21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3154680" y="1965960"/>
            <a:ext cx="347472" cy="347472"/>
          </a:xfrm>
          <a:prstGeom prst="ellipse">
            <a:avLst/>
          </a:prstGeom>
          <a:solidFill>
            <a:srgbClr val="B91C1C"/>
          </a:solidFill>
          <a:ln w="12700">
            <a:solidFill>
              <a:srgbClr val="B91C1C"/>
            </a:solidFill>
            <a:prstDash val="solid"/>
          </a:ln>
        </p:spPr>
      </p:sp>
      <p:sp>
        <p:nvSpPr>
          <p:cNvPr id="56" name="Text 44"/>
          <p:cNvSpPr txBox="1"/>
          <p:nvPr/>
        </p:nvSpPr>
        <p:spPr>
          <a:xfrm>
            <a:off x="3154680"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7" name="Shape 45"/>
          <p:cNvSpPr/>
          <p:nvPr/>
        </p:nvSpPr>
        <p:spPr>
          <a:xfrm>
            <a:off x="5029200" y="2286000"/>
            <a:ext cx="347472" cy="347472"/>
          </a:xfrm>
          <a:prstGeom prst="ellipse">
            <a:avLst/>
          </a:prstGeom>
          <a:solidFill>
            <a:srgbClr val="B91C1C"/>
          </a:solidFill>
          <a:ln w="12700">
            <a:solidFill>
              <a:srgbClr val="B91C1C"/>
            </a:solidFill>
            <a:prstDash val="solid"/>
          </a:ln>
        </p:spPr>
      </p:sp>
      <p:sp>
        <p:nvSpPr>
          <p:cNvPr id="58" name="Text 46"/>
          <p:cNvSpPr txBox="1"/>
          <p:nvPr/>
        </p:nvSpPr>
        <p:spPr>
          <a:xfrm>
            <a:off x="5029200" y="2286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9" name="Shape 47"/>
          <p:cNvSpPr/>
          <p:nvPr/>
        </p:nvSpPr>
        <p:spPr>
          <a:xfrm>
            <a:off x="11475720" y="2468880"/>
            <a:ext cx="347472" cy="347472"/>
          </a:xfrm>
          <a:prstGeom prst="ellipse">
            <a:avLst/>
          </a:prstGeom>
          <a:solidFill>
            <a:srgbClr val="B91C1C"/>
          </a:solidFill>
          <a:ln w="12700">
            <a:solidFill>
              <a:srgbClr val="B91C1C"/>
            </a:solidFill>
            <a:prstDash val="solid"/>
          </a:ln>
        </p:spPr>
      </p:sp>
      <p:sp>
        <p:nvSpPr>
          <p:cNvPr id="60" name="Text 48"/>
          <p:cNvSpPr txBox="1"/>
          <p:nvPr/>
        </p:nvSpPr>
        <p:spPr>
          <a:xfrm>
            <a:off x="11475720" y="24688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1" name="Shape 49"/>
          <p:cNvSpPr/>
          <p:nvPr/>
        </p:nvSpPr>
        <p:spPr>
          <a:xfrm>
            <a:off x="6126480" y="3621024"/>
            <a:ext cx="347472" cy="347472"/>
          </a:xfrm>
          <a:prstGeom prst="ellipse">
            <a:avLst/>
          </a:prstGeom>
          <a:solidFill>
            <a:srgbClr val="B91C1C"/>
          </a:solidFill>
          <a:ln w="12700">
            <a:solidFill>
              <a:srgbClr val="B91C1C"/>
            </a:solidFill>
            <a:prstDash val="solid"/>
          </a:ln>
        </p:spPr>
      </p:sp>
      <p:sp>
        <p:nvSpPr>
          <p:cNvPr id="62" name="Text 50"/>
          <p:cNvSpPr txBox="1"/>
          <p:nvPr/>
        </p:nvSpPr>
        <p:spPr>
          <a:xfrm>
            <a:off x="6126480" y="36210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3" name="Shape 51"/>
          <p:cNvSpPr/>
          <p:nvPr/>
        </p:nvSpPr>
        <p:spPr>
          <a:xfrm>
            <a:off x="9281160" y="1371600"/>
            <a:ext cx="347472" cy="347472"/>
          </a:xfrm>
          <a:prstGeom prst="ellipse">
            <a:avLst/>
          </a:prstGeom>
          <a:solidFill>
            <a:srgbClr val="B91C1C"/>
          </a:solidFill>
          <a:ln w="12700">
            <a:solidFill>
              <a:srgbClr val="B91C1C"/>
            </a:solidFill>
            <a:prstDash val="solid"/>
          </a:ln>
        </p:spPr>
      </p:sp>
      <p:sp>
        <p:nvSpPr>
          <p:cNvPr id="64" name="Text 52"/>
          <p:cNvSpPr txBox="1"/>
          <p:nvPr/>
        </p:nvSpPr>
        <p:spPr>
          <a:xfrm>
            <a:off x="9281160" y="13716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5" name="Shape 53"/>
          <p:cNvSpPr/>
          <p:nvPr/>
        </p:nvSpPr>
        <p:spPr>
          <a:xfrm>
            <a:off x="11475720" y="3566160"/>
            <a:ext cx="347472" cy="347472"/>
          </a:xfrm>
          <a:prstGeom prst="ellipse">
            <a:avLst/>
          </a:prstGeom>
          <a:solidFill>
            <a:srgbClr val="B91C1C"/>
          </a:solidFill>
          <a:ln w="12700">
            <a:solidFill>
              <a:srgbClr val="B91C1C"/>
            </a:solidFill>
            <a:prstDash val="solid"/>
          </a:ln>
        </p:spPr>
      </p:sp>
      <p:sp>
        <p:nvSpPr>
          <p:cNvPr id="66" name="Text 54"/>
          <p:cNvSpPr txBox="1"/>
          <p:nvPr/>
        </p:nvSpPr>
        <p:spPr>
          <a:xfrm>
            <a:off x="11475720" y="3566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7" name="Text 55"/>
          <p:cNvSpPr txBox="1"/>
          <p:nvPr/>
        </p:nvSpPr>
        <p:spPr>
          <a:xfrm>
            <a:off x="457200" y="534924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1 · ¿Por dónde entra el cliente si ahora son N servicios?</a:t>
            </a:r>
            <a:endParaRPr lang="en-US" sz="1200" dirty="0"/>
          </a:p>
        </p:txBody>
      </p:sp>
      <p:sp>
        <p:nvSpPr>
          <p:cNvPr id="68" name="Text 56"/>
          <p:cNvSpPr txBox="1"/>
          <p:nvPr/>
        </p:nvSpPr>
        <p:spPr>
          <a:xfrm>
            <a:off x="6126480" y="534924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2 · ¿Cómo se encuentran, si las direcciones cambian?</a:t>
            </a:r>
            <a:endParaRPr lang="en-US" sz="1200" dirty="0"/>
          </a:p>
        </p:txBody>
      </p:sp>
      <p:sp>
        <p:nvSpPr>
          <p:cNvPr id="69" name="Text 57"/>
          <p:cNvSpPr txBox="1"/>
          <p:nvPr/>
        </p:nvSpPr>
        <p:spPr>
          <a:xfrm>
            <a:off x="457200" y="562356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3 · ¿De dónde sale la configuración de cada uno?</a:t>
            </a:r>
            <a:endParaRPr lang="en-US" sz="1200" dirty="0"/>
          </a:p>
        </p:txBody>
      </p:sp>
      <p:sp>
        <p:nvSpPr>
          <p:cNvPr id="70" name="Text 58"/>
          <p:cNvSpPr txBox="1"/>
          <p:nvPr/>
        </p:nvSpPr>
        <p:spPr>
          <a:xfrm>
            <a:off x="6126480" y="562356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4 · ¿Qué pasa con la operación si el otro está caído?</a:t>
            </a:r>
            <a:endParaRPr lang="en-US" sz="1200" dirty="0"/>
          </a:p>
        </p:txBody>
      </p:sp>
      <p:sp>
        <p:nvSpPr>
          <p:cNvPr id="71" name="Text 59"/>
          <p:cNvSpPr txBox="1"/>
          <p:nvPr/>
        </p:nvSpPr>
        <p:spPr>
          <a:xfrm>
            <a:off x="457200" y="589788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5 · ¿Cómo evitar leer lo mismo mil veces de la base?</a:t>
            </a:r>
            <a:endParaRPr lang="en-US" sz="1200" dirty="0"/>
          </a:p>
        </p:txBody>
      </p:sp>
      <p:sp>
        <p:nvSpPr>
          <p:cNvPr id="72" name="Text 60"/>
          <p:cNvSpPr txBox="1"/>
          <p:nvPr/>
        </p:nvSpPr>
        <p:spPr>
          <a:xfrm>
            <a:off x="6126480" y="589788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6 · ¿Dónde falló una operación que cruzó varios?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API Gateway: una sola puerta, políticas una sola vez</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8/21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DBEAFE"/>
          </a:solidFill>
          <a:ln w="38100">
            <a:solidFill>
              <a:srgbClr val="2563EB"/>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Sin gateway cada servicio expone su puerto: TLS, identidad y límites se programan N veces y el cliente se acopla a la topología.</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Spring Cloud Gateway 5 (nov-2025). Kubernetes Gateway API es GA desde el 31-oct-2023; Ingress quedó congelado.</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Cloudflare, 18-nov-2025: un archivo creció más de lo previsto, el proxy central hizo panic y devolvió 5xx de 11:28 a 17:06 UTC.</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Service discovery: el nombre es estable, la dirección no</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9/21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DBEAFE"/>
          </a:solidFill>
          <a:ln w="38100">
            <a:solidFill>
              <a:srgbClr val="2563EB"/>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En contenedores la IP cambia en cada arranque y al escalar hay N instancias: el nombre (naming) se separa de la dirección (binding).</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Eureka: heartbeat cada 30 s, expulsión a los 90 s. En Kubernetes lo hacen Service + CoreDNS. La JVM cachea DNS 30 s.</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Roblox, 28 al 31-oct-2021: Consul degeneró bajo carga, los servicios dejaron de encontrarse y la telemetría dependía de Consul. 73 horas.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Config server: la imagen es el uniforme, la configuración es el gafete</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10/21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DBEAFE"/>
          </a:solidFill>
          <a:ln w="38100">
            <a:solidFill>
              <a:srgbClr val="2563EB"/>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La misma imagen corre en desarrollo y producción con valores distintos; config dentro de la imagen = reconstruir para cambiar un valor.</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Factor III de The Twelve-Factor App: config es "everything that is likely to vary between deploys". Spring Cloud Config 5, ConfigMaps, Vault.</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Fastly, 8-jun-2021: un cambio de configuración válido disparó un bug latente; 85 % de la red con errores durante 49 minutos.</a:t>
            </a:r>
            <a:endParaRPr lang="en-US" sz="1050" dirty="0"/>
          </a:p>
        </p:txBody>
      </p:sp>
      <p:sp>
        <p:nvSpPr>
          <p:cNvPr id="67" name="Shape 52"/>
          <p:cNvSpPr/>
          <p:nvPr/>
        </p:nvSpPr>
        <p:spPr>
          <a:xfrm>
            <a:off x="457200" y="3931920"/>
            <a:ext cx="3200400" cy="1051560"/>
          </a:xfrm>
          <a:prstGeom prst="roundRect">
            <a:avLst>
              <a:gd name="adj" fmla="val 6957"/>
            </a:avLst>
          </a:prstGeom>
          <a:solidFill>
            <a:srgbClr val="DBEAFE"/>
          </a:solidFill>
          <a:ln w="12700">
            <a:solidFill>
              <a:srgbClr val="DBEAFE"/>
            </a:solidFill>
            <a:prstDash val="solid"/>
          </a:ln>
        </p:spPr>
      </p:sp>
      <p:pic>
        <p:nvPicPr>
          <p:cNvPr id="68" name="Image 13" descr="preencoded.png">    </p:cNvPr>
          <p:cNvPicPr>
            <a:picLocks noChangeAspect="1"/>
          </p:cNvPicPr>
          <p:nvPr/>
        </p:nvPicPr>
        <p:blipFill>
          <a:blip r:embed="rId14"/>
          <a:stretch>
            <a:fillRect/>
          </a:stretch>
        </p:blipFill>
        <p:spPr>
          <a:xfrm>
            <a:off x="640080" y="4096512"/>
            <a:ext cx="274320" cy="274320"/>
          </a:xfrm>
          <a:prstGeom prst="rect">
            <a:avLst/>
          </a:prstGeom>
        </p:spPr>
      </p:pic>
      <p:sp>
        <p:nvSpPr>
          <p:cNvPr id="69" name="Text 53"/>
          <p:cNvSpPr txBox="1"/>
          <p:nvPr/>
        </p:nvSpPr>
        <p:spPr>
          <a:xfrm>
            <a:off x="1051560" y="4005072"/>
            <a:ext cx="2514600" cy="91440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Factor III: config es todo lo que varía entre despliegues; hoy en el lab, .env es el gafete.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Broker: de "procesar ahora" a "procesar eventualmente"</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11/21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38100">
            <a:solidFill>
              <a:srgbClr val="2563EB"/>
            </a:solidFill>
            <a:prstDash val="solid"/>
          </a:ln>
        </p:spPr>
      </p:sp>
      <p:pic>
        <p:nvPicPr>
          <p:cNvPr id="19" name="Image 2" descr="preencoded.png">    </p:cNvPr>
          <p:cNvPicPr>
            <a:picLocks noChangeAspect="1"/>
          </p:cNvPicPr>
          <p:nvPr/>
        </p:nvPicPr>
        <p:blipFill>
          <a:blip r:embed="rId3"/>
          <a:stretch>
            <a:fillRect/>
          </a:stretch>
        </p:blipFill>
        <p:spPr>
          <a:xfrm>
            <a:off x="4334256" y="3657600"/>
            <a:ext cx="274320" cy="27432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Una llamada síncrona acopla disponibilidad: si notificaciones está caído, la transferencia falla. El broker guarda el mensaje para después.</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At-least-once: ack tras persistir; sin ack, reentrega; N fallos, dead-letter queue. RabbitMQ 4.0 (sep-2024), Kafka 4.0 sin ZooKeeper (mar-2025).</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AWS Kinesis, 25-nov-2020: Cognito escribía al broker de forma bloqueante; con el broker caído, el servicio "asíncrono" cayó también.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Caché: una copia que se permite estar vieja</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12/21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DBEAFE"/>
          </a:solidFill>
          <a:ln w="38100">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La base de datos es el recurso caro y compartido. Cache-aside: si la llave está, hit; si no, miss: se lee de la base y se guarda con TTL.</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De 99 % a 98 % de aciertos se duplica el tráfico a la base. Lo difícil es invalidar. Redis 8 (may-2025, AGPLv3) y Valkey (2024).</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Slack, 22-feb-2022: nodos de Memcached sustituidos por instancias vacías en el pico; la base hizo timeout y la caché no se podía rellenar.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Observabilidad: sin trace id hay veinte bitácoras y ninguna historia</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13/21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DBEAFE"/>
          </a:solidFill>
          <a:ln w="38100">
            <a:solidFill>
              <a:srgbClr val="2563EB"/>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Cuando una operación cruza varios servicios, ¿dónde falló y dónde tardó? Logs (qué pasó aquí), métricas (cómo se comporta), trazas (el recorrido).</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W3C traceparent = versión, trace id, parent id, flags; viaja en cada llamada. OpenTelemetry con las tres señales estables; Jaeger v2 (nov-2024).</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El monitoreo que depende de lo que monitorea: la telemetría de Roblox dependía de Consul; CloudWatch dependía de Kinesis (2020).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12-factor: cuatro factores que hoy ya vieron en las piezas</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14/21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  ·  válvula: se salta si falta tiempo</a:t>
            </a:r>
            <a:endParaRPr lang="en-US" sz="1000" dirty="0"/>
          </a:p>
        </p:txBody>
      </p:sp>
      <p:sp>
        <p:nvSpPr>
          <p:cNvPr id="5" name="Shape 3"/>
          <p:cNvSpPr/>
          <p:nvPr/>
        </p:nvSpPr>
        <p:spPr>
          <a:xfrm>
            <a:off x="457200" y="1371600"/>
            <a:ext cx="2651760" cy="3429000"/>
          </a:xfrm>
          <a:prstGeom prst="roundRect">
            <a:avLst>
              <a:gd name="adj" fmla="val 2759"/>
            </a:avLst>
          </a:prstGeom>
          <a:solidFill>
            <a:srgbClr val="FFFFFF"/>
          </a:solidFill>
          <a:ln w="12700">
            <a:solidFill>
              <a:srgbClr val="D9E2EE"/>
            </a:solidFill>
            <a:prstDash val="solid"/>
          </a:ln>
        </p:spPr>
      </p:sp>
      <p:sp>
        <p:nvSpPr>
          <p:cNvPr id="6" name="Text 4"/>
          <p:cNvSpPr txBox="1"/>
          <p:nvPr/>
        </p:nvSpPr>
        <p:spPr>
          <a:xfrm>
            <a:off x="640080" y="1508760"/>
            <a:ext cx="868680" cy="640080"/>
          </a:xfrm>
          <a:prstGeom prst="rect">
            <a:avLst/>
          </a:prstGeom>
          <a:noFill/>
          <a:ln/>
        </p:spPr>
        <p:txBody>
          <a:bodyPr wrap="square" lIns="0" tIns="0" rIns="0" bIns="0" rtlCol="0" anchor="ctr"/>
          <a:lstStyle/>
          <a:p>
            <a:pPr indent="0" marL="0">
              <a:buNone/>
            </a:pPr>
            <a:r>
              <a:rPr lang="en-US" sz="3000" b="1" dirty="0">
                <a:solidFill>
                  <a:srgbClr val="2563EB"/>
                </a:solidFill>
                <a:latin typeface="Calibri" pitchFamily="34" charset="0"/>
                <a:ea typeface="Calibri" pitchFamily="34" charset="-122"/>
                <a:cs typeface="Calibri" pitchFamily="34" charset="-120"/>
              </a:rPr>
              <a:t>III</a:t>
            </a:r>
            <a:endParaRPr lang="en-US" sz="3000" dirty="0"/>
          </a:p>
        </p:txBody>
      </p:sp>
      <p:sp>
        <p:nvSpPr>
          <p:cNvPr id="7" name="Text 5"/>
          <p:cNvSpPr txBox="1"/>
          <p:nvPr/>
        </p:nvSpPr>
        <p:spPr>
          <a:xfrm>
            <a:off x="1508760" y="1508760"/>
            <a:ext cx="1463040" cy="64008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Config</a:t>
            </a:r>
            <a:endParaRPr lang="en-US" sz="1500" dirty="0"/>
          </a:p>
        </p:txBody>
      </p:sp>
      <p:sp>
        <p:nvSpPr>
          <p:cNvPr id="8" name="Shape 6"/>
          <p:cNvSpPr/>
          <p:nvPr/>
        </p:nvSpPr>
        <p:spPr>
          <a:xfrm>
            <a:off x="1783080" y="2240280"/>
            <a:ext cx="0" cy="411480"/>
          </a:xfrm>
          <a:prstGeom prst="line">
            <a:avLst/>
          </a:prstGeom>
          <a:noFill/>
          <a:ln w="19050">
            <a:solidFill>
              <a:srgbClr val="2563EB"/>
            </a:solidFill>
            <a:prstDash val="solid"/>
            <a:headEnd type="triangle"/>
            <a:tailEnd type="triangle"/>
          </a:ln>
        </p:spPr>
      </p:sp>
      <p:sp>
        <p:nvSpPr>
          <p:cNvPr id="9" name="Shape 7"/>
          <p:cNvSpPr/>
          <p:nvPr/>
        </p:nvSpPr>
        <p:spPr>
          <a:xfrm>
            <a:off x="640080" y="2697480"/>
            <a:ext cx="2286000" cy="566928"/>
          </a:xfrm>
          <a:prstGeom prst="roundRect">
            <a:avLst>
              <a:gd name="adj" fmla="val 12903"/>
            </a:avLst>
          </a:prstGeom>
          <a:solidFill>
            <a:srgbClr val="DBEAFE"/>
          </a:solidFill>
          <a:ln w="38100">
            <a:solidFill>
              <a:srgbClr val="2563EB"/>
            </a:solidFill>
            <a:prstDash val="solid"/>
          </a:ln>
        </p:spPr>
      </p:sp>
      <p:pic>
        <p:nvPicPr>
          <p:cNvPr id="10" name="Image 0" descr="preencoded.png">    </p:cNvPr>
          <p:cNvPicPr>
            <a:picLocks noChangeAspect="1"/>
          </p:cNvPicPr>
          <p:nvPr/>
        </p:nvPicPr>
        <p:blipFill>
          <a:blip r:embed="rId1"/>
          <a:stretch>
            <a:fillRect/>
          </a:stretch>
        </p:blipFill>
        <p:spPr>
          <a:xfrm>
            <a:off x="768096" y="2843784"/>
            <a:ext cx="274320" cy="274320"/>
          </a:xfrm>
          <a:prstGeom prst="rect">
            <a:avLst/>
          </a:prstGeom>
        </p:spPr>
      </p:pic>
      <p:sp>
        <p:nvSpPr>
          <p:cNvPr id="11" name="Text 8"/>
          <p:cNvSpPr txBox="1"/>
          <p:nvPr/>
        </p:nvSpPr>
        <p:spPr>
          <a:xfrm>
            <a:off x="1115568" y="2697480"/>
            <a:ext cx="1719072" cy="566928"/>
          </a:xfrm>
          <a:prstGeom prst="rect">
            <a:avLst/>
          </a:prstGeom>
          <a:noFill/>
          <a:ln/>
        </p:spPr>
        <p:txBody>
          <a:bodyPr wrap="square" lIns="0" tIns="0" rIns="0" bIns="0" rtlCol="0" anchor="ctr"/>
          <a:lstStyle/>
          <a:p>
            <a:pPr algn="l" indent="0" marL="0">
              <a:buNone/>
            </a:pPr>
            <a:r>
              <a:rPr lang="en-US" sz="1150" b="1" dirty="0">
                <a:solidFill>
                  <a:srgbClr val="12253D"/>
                </a:solidFill>
                <a:latin typeface="Calibri" pitchFamily="34" charset="0"/>
                <a:ea typeface="Calibri" pitchFamily="34" charset="-122"/>
                <a:cs typeface="Calibri" pitchFamily="34" charset="-120"/>
              </a:rPr>
              <a:t>config server</a:t>
            </a:r>
            <a:endParaRPr lang="en-US" sz="1150" dirty="0"/>
          </a:p>
        </p:txBody>
      </p:sp>
      <p:sp>
        <p:nvSpPr>
          <p:cNvPr id="12" name="Text 9"/>
          <p:cNvSpPr txBox="1"/>
          <p:nvPr/>
        </p:nvSpPr>
        <p:spPr>
          <a:xfrm>
            <a:off x="640080" y="3474720"/>
            <a:ext cx="2286000" cy="1234440"/>
          </a:xfrm>
          <a:prstGeom prst="rect">
            <a:avLst/>
          </a:prstGeom>
          <a:noFill/>
          <a:ln/>
        </p:spPr>
        <p:txBody>
          <a:bodyPr wrap="square" lIns="0" tIns="0" rIns="0" bIns="0" rtlCol="0" anchor="t"/>
          <a:lstStyle/>
          <a:p>
            <a:pPr indent="0" marL="0">
              <a:buNone/>
            </a:pPr>
            <a:r>
              <a:rPr lang="en-US" sz="1400" dirty="0">
                <a:solidFill>
                  <a:srgbClr val="12253D"/>
                </a:solidFill>
                <a:latin typeface="Calibri" pitchFamily="34" charset="0"/>
                <a:ea typeface="Calibri" pitchFamily="34" charset="-122"/>
                <a:cs typeface="Calibri" pitchFamily="34" charset="-120"/>
              </a:rPr>
              <a:t>Uniforme y gafete; en el lab, el .env.</a:t>
            </a:r>
            <a:endParaRPr lang="en-US" sz="1400" dirty="0"/>
          </a:p>
        </p:txBody>
      </p:sp>
      <p:sp>
        <p:nvSpPr>
          <p:cNvPr id="13" name="Shape 10"/>
          <p:cNvSpPr/>
          <p:nvPr/>
        </p:nvSpPr>
        <p:spPr>
          <a:xfrm>
            <a:off x="3291840" y="1371600"/>
            <a:ext cx="2651760" cy="3429000"/>
          </a:xfrm>
          <a:prstGeom prst="roundRect">
            <a:avLst>
              <a:gd name="adj" fmla="val 2759"/>
            </a:avLst>
          </a:prstGeom>
          <a:solidFill>
            <a:srgbClr val="FFFFFF"/>
          </a:solidFill>
          <a:ln w="12700">
            <a:solidFill>
              <a:srgbClr val="D9E2EE"/>
            </a:solidFill>
            <a:prstDash val="solid"/>
          </a:ln>
        </p:spPr>
      </p:sp>
      <p:sp>
        <p:nvSpPr>
          <p:cNvPr id="14" name="Text 11"/>
          <p:cNvSpPr txBox="1"/>
          <p:nvPr/>
        </p:nvSpPr>
        <p:spPr>
          <a:xfrm>
            <a:off x="3474720" y="1508760"/>
            <a:ext cx="868680" cy="640080"/>
          </a:xfrm>
          <a:prstGeom prst="rect">
            <a:avLst/>
          </a:prstGeom>
          <a:noFill/>
          <a:ln/>
        </p:spPr>
        <p:txBody>
          <a:bodyPr wrap="square" lIns="0" tIns="0" rIns="0" bIns="0" rtlCol="0" anchor="ctr"/>
          <a:lstStyle/>
          <a:p>
            <a:pPr indent="0" marL="0">
              <a:buNone/>
            </a:pPr>
            <a:r>
              <a:rPr lang="en-US" sz="3000" b="1" dirty="0">
                <a:solidFill>
                  <a:srgbClr val="2563EB"/>
                </a:solidFill>
                <a:latin typeface="Calibri" pitchFamily="34" charset="0"/>
                <a:ea typeface="Calibri" pitchFamily="34" charset="-122"/>
                <a:cs typeface="Calibri" pitchFamily="34" charset="-120"/>
              </a:rPr>
              <a:t>VI</a:t>
            </a:r>
            <a:endParaRPr lang="en-US" sz="3000" dirty="0"/>
          </a:p>
        </p:txBody>
      </p:sp>
      <p:sp>
        <p:nvSpPr>
          <p:cNvPr id="15" name="Text 12"/>
          <p:cNvSpPr txBox="1"/>
          <p:nvPr/>
        </p:nvSpPr>
        <p:spPr>
          <a:xfrm>
            <a:off x="4343400" y="1508760"/>
            <a:ext cx="1463040" cy="64008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Procesos sin estado</a:t>
            </a:r>
            <a:endParaRPr lang="en-US" sz="1500" dirty="0"/>
          </a:p>
        </p:txBody>
      </p:sp>
      <p:sp>
        <p:nvSpPr>
          <p:cNvPr id="16" name="Shape 13"/>
          <p:cNvSpPr/>
          <p:nvPr/>
        </p:nvSpPr>
        <p:spPr>
          <a:xfrm>
            <a:off x="4617720" y="2240280"/>
            <a:ext cx="0" cy="411480"/>
          </a:xfrm>
          <a:prstGeom prst="line">
            <a:avLst/>
          </a:prstGeom>
          <a:noFill/>
          <a:ln w="19050">
            <a:solidFill>
              <a:srgbClr val="2563EB"/>
            </a:solidFill>
            <a:prstDash val="solid"/>
            <a:headEnd type="triangle"/>
            <a:tailEnd type="triangle"/>
          </a:ln>
        </p:spPr>
      </p:sp>
      <p:sp>
        <p:nvSpPr>
          <p:cNvPr id="17" name="Shape 14"/>
          <p:cNvSpPr/>
          <p:nvPr/>
        </p:nvSpPr>
        <p:spPr>
          <a:xfrm>
            <a:off x="3474720" y="2697480"/>
            <a:ext cx="2286000" cy="566928"/>
          </a:xfrm>
          <a:prstGeom prst="roundRect">
            <a:avLst>
              <a:gd name="adj" fmla="val 12903"/>
            </a:avLst>
          </a:prstGeom>
          <a:solidFill>
            <a:srgbClr val="DBEAFE"/>
          </a:solidFill>
          <a:ln w="38100">
            <a:solidFill>
              <a:srgbClr val="2563EB"/>
            </a:solidFill>
            <a:prstDash val="solid"/>
          </a:ln>
        </p:spPr>
      </p:sp>
      <p:pic>
        <p:nvPicPr>
          <p:cNvPr id="18" name="Image 1" descr="preencoded.png">    </p:cNvPr>
          <p:cNvPicPr>
            <a:picLocks noChangeAspect="1"/>
          </p:cNvPicPr>
          <p:nvPr/>
        </p:nvPicPr>
        <p:blipFill>
          <a:blip r:embed="rId2"/>
          <a:stretch>
            <a:fillRect/>
          </a:stretch>
        </p:blipFill>
        <p:spPr>
          <a:xfrm>
            <a:off x="3602736" y="2843784"/>
            <a:ext cx="274320" cy="274320"/>
          </a:xfrm>
          <a:prstGeom prst="rect">
            <a:avLst/>
          </a:prstGeom>
        </p:spPr>
      </p:pic>
      <p:sp>
        <p:nvSpPr>
          <p:cNvPr id="19" name="Text 15"/>
          <p:cNvSpPr txBox="1"/>
          <p:nvPr/>
        </p:nvSpPr>
        <p:spPr>
          <a:xfrm>
            <a:off x="3950208" y="2697480"/>
            <a:ext cx="1719072" cy="566928"/>
          </a:xfrm>
          <a:prstGeom prst="rect">
            <a:avLst/>
          </a:prstGeom>
          <a:noFill/>
          <a:ln/>
        </p:spPr>
        <p:txBody>
          <a:bodyPr wrap="square" lIns="0" tIns="0" rIns="0" bIns="0" rtlCol="0" anchor="ctr"/>
          <a:lstStyle/>
          <a:p>
            <a:pPr algn="l" indent="0" marL="0">
              <a:buNone/>
            </a:pPr>
            <a:r>
              <a:rPr lang="en-US" sz="1150" b="1" dirty="0">
                <a:solidFill>
                  <a:srgbClr val="12253D"/>
                </a:solidFill>
                <a:latin typeface="Calibri" pitchFamily="34" charset="0"/>
                <a:ea typeface="Calibri" pitchFamily="34" charset="-122"/>
                <a:cs typeface="Calibri" pitchFamily="34" charset="-120"/>
              </a:rPr>
              <a:t>discovery y N réplicas</a:t>
            </a:r>
            <a:endParaRPr lang="en-US" sz="1150" dirty="0"/>
          </a:p>
        </p:txBody>
      </p:sp>
      <p:sp>
        <p:nvSpPr>
          <p:cNvPr id="20" name="Text 16"/>
          <p:cNvSpPr txBox="1"/>
          <p:nvPr/>
        </p:nvSpPr>
        <p:spPr>
          <a:xfrm>
            <a:off x="3474720" y="3474720"/>
            <a:ext cx="2286000" cy="1234440"/>
          </a:xfrm>
          <a:prstGeom prst="rect">
            <a:avLst/>
          </a:prstGeom>
          <a:noFill/>
          <a:ln/>
        </p:spPr>
        <p:txBody>
          <a:bodyPr wrap="square" lIns="0" tIns="0" rIns="0" bIns="0" rtlCol="0" anchor="t"/>
          <a:lstStyle/>
          <a:p>
            <a:pPr indent="0" marL="0">
              <a:buNone/>
            </a:pPr>
            <a:r>
              <a:rPr lang="en-US" sz="1400" dirty="0">
                <a:solidFill>
                  <a:srgbClr val="12253D"/>
                </a:solidFill>
                <a:latin typeface="Calibri" pitchFamily="34" charset="0"/>
                <a:ea typeface="Calibri" pitchFamily="34" charset="-122"/>
                <a:cs typeface="Calibri" pitchFamily="34" charset="-120"/>
              </a:rPr>
              <a:t>Cualquier instancia atiende; el estado vive en los backing services.</a:t>
            </a:r>
            <a:endParaRPr lang="en-US" sz="1400" dirty="0"/>
          </a:p>
        </p:txBody>
      </p:sp>
      <p:sp>
        <p:nvSpPr>
          <p:cNvPr id="21" name="Shape 17"/>
          <p:cNvSpPr/>
          <p:nvPr/>
        </p:nvSpPr>
        <p:spPr>
          <a:xfrm>
            <a:off x="6126480" y="1371600"/>
            <a:ext cx="2651760" cy="3429000"/>
          </a:xfrm>
          <a:prstGeom prst="roundRect">
            <a:avLst>
              <a:gd name="adj" fmla="val 2759"/>
            </a:avLst>
          </a:prstGeom>
          <a:solidFill>
            <a:srgbClr val="FFFFFF"/>
          </a:solidFill>
          <a:ln w="12700">
            <a:solidFill>
              <a:srgbClr val="D9E2EE"/>
            </a:solidFill>
            <a:prstDash val="solid"/>
          </a:ln>
        </p:spPr>
      </p:sp>
      <p:sp>
        <p:nvSpPr>
          <p:cNvPr id="22" name="Text 18"/>
          <p:cNvSpPr txBox="1"/>
          <p:nvPr/>
        </p:nvSpPr>
        <p:spPr>
          <a:xfrm>
            <a:off x="6309360" y="1508760"/>
            <a:ext cx="868680" cy="640080"/>
          </a:xfrm>
          <a:prstGeom prst="rect">
            <a:avLst/>
          </a:prstGeom>
          <a:noFill/>
          <a:ln/>
        </p:spPr>
        <p:txBody>
          <a:bodyPr wrap="square" lIns="0" tIns="0" rIns="0" bIns="0" rtlCol="0" anchor="ctr"/>
          <a:lstStyle/>
          <a:p>
            <a:pPr indent="0" marL="0">
              <a:buNone/>
            </a:pPr>
            <a:r>
              <a:rPr lang="en-US" sz="3000" b="1" dirty="0">
                <a:solidFill>
                  <a:srgbClr val="2563EB"/>
                </a:solidFill>
                <a:latin typeface="Calibri" pitchFamily="34" charset="0"/>
                <a:ea typeface="Calibri" pitchFamily="34" charset="-122"/>
                <a:cs typeface="Calibri" pitchFamily="34" charset="-120"/>
              </a:rPr>
              <a:t>IV</a:t>
            </a:r>
            <a:endParaRPr lang="en-US" sz="3000" dirty="0"/>
          </a:p>
        </p:txBody>
      </p:sp>
      <p:sp>
        <p:nvSpPr>
          <p:cNvPr id="23" name="Text 19"/>
          <p:cNvSpPr txBox="1"/>
          <p:nvPr/>
        </p:nvSpPr>
        <p:spPr>
          <a:xfrm>
            <a:off x="7178040" y="1508760"/>
            <a:ext cx="1463040" cy="64008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Backing services</a:t>
            </a:r>
            <a:endParaRPr lang="en-US" sz="1500" dirty="0"/>
          </a:p>
        </p:txBody>
      </p:sp>
      <p:sp>
        <p:nvSpPr>
          <p:cNvPr id="24" name="Shape 20"/>
          <p:cNvSpPr/>
          <p:nvPr/>
        </p:nvSpPr>
        <p:spPr>
          <a:xfrm>
            <a:off x="7452360" y="2240280"/>
            <a:ext cx="0" cy="411480"/>
          </a:xfrm>
          <a:prstGeom prst="line">
            <a:avLst/>
          </a:prstGeom>
          <a:noFill/>
          <a:ln w="19050">
            <a:solidFill>
              <a:srgbClr val="2563EB"/>
            </a:solidFill>
            <a:prstDash val="solid"/>
            <a:headEnd type="triangle"/>
            <a:tailEnd type="triangle"/>
          </a:ln>
        </p:spPr>
      </p:sp>
      <p:sp>
        <p:nvSpPr>
          <p:cNvPr id="25" name="Shape 21"/>
          <p:cNvSpPr/>
          <p:nvPr/>
        </p:nvSpPr>
        <p:spPr>
          <a:xfrm>
            <a:off x="6309360" y="2697480"/>
            <a:ext cx="2286000" cy="566928"/>
          </a:xfrm>
          <a:prstGeom prst="roundRect">
            <a:avLst>
              <a:gd name="adj" fmla="val 12903"/>
            </a:avLst>
          </a:prstGeom>
          <a:solidFill>
            <a:srgbClr val="DBEAFE"/>
          </a:solidFill>
          <a:ln w="38100">
            <a:solidFill>
              <a:srgbClr val="2563EB"/>
            </a:solidFill>
            <a:prstDash val="solid"/>
          </a:ln>
        </p:spPr>
      </p:sp>
      <p:pic>
        <p:nvPicPr>
          <p:cNvPr id="26" name="Image 2" descr="preencoded.png">    </p:cNvPr>
          <p:cNvPicPr>
            <a:picLocks noChangeAspect="1"/>
          </p:cNvPicPr>
          <p:nvPr/>
        </p:nvPicPr>
        <p:blipFill>
          <a:blip r:embed="rId3"/>
          <a:stretch>
            <a:fillRect/>
          </a:stretch>
        </p:blipFill>
        <p:spPr>
          <a:xfrm>
            <a:off x="6437376" y="2843784"/>
            <a:ext cx="274320" cy="274320"/>
          </a:xfrm>
          <a:prstGeom prst="rect">
            <a:avLst/>
          </a:prstGeom>
        </p:spPr>
      </p:pic>
      <p:sp>
        <p:nvSpPr>
          <p:cNvPr id="27" name="Text 22"/>
          <p:cNvSpPr txBox="1"/>
          <p:nvPr/>
        </p:nvSpPr>
        <p:spPr>
          <a:xfrm>
            <a:off x="6784848" y="2697480"/>
            <a:ext cx="1719072" cy="566928"/>
          </a:xfrm>
          <a:prstGeom prst="rect">
            <a:avLst/>
          </a:prstGeom>
          <a:noFill/>
          <a:ln/>
        </p:spPr>
        <p:txBody>
          <a:bodyPr wrap="square" lIns="0" tIns="0" rIns="0" bIns="0" rtlCol="0" anchor="ctr"/>
          <a:lstStyle/>
          <a:p>
            <a:pPr algn="l" indent="0" marL="0">
              <a:buNone/>
            </a:pPr>
            <a:r>
              <a:rPr lang="en-US" sz="1150" b="1" dirty="0">
                <a:solidFill>
                  <a:srgbClr val="12253D"/>
                </a:solidFill>
                <a:latin typeface="Calibri" pitchFamily="34" charset="0"/>
                <a:ea typeface="Calibri" pitchFamily="34" charset="-122"/>
                <a:cs typeface="Calibri" pitchFamily="34" charset="-120"/>
              </a:rPr>
              <a:t>broker, caché, base de datos</a:t>
            </a:r>
            <a:endParaRPr lang="en-US" sz="1150" dirty="0"/>
          </a:p>
        </p:txBody>
      </p:sp>
      <p:sp>
        <p:nvSpPr>
          <p:cNvPr id="28" name="Text 23"/>
          <p:cNvSpPr txBox="1"/>
          <p:nvPr/>
        </p:nvSpPr>
        <p:spPr>
          <a:xfrm>
            <a:off x="6309360" y="3474720"/>
            <a:ext cx="2286000" cy="1234440"/>
          </a:xfrm>
          <a:prstGeom prst="rect">
            <a:avLst/>
          </a:prstGeom>
          <a:noFill/>
          <a:ln/>
        </p:spPr>
        <p:txBody>
          <a:bodyPr wrap="square" lIns="0" tIns="0" rIns="0" bIns="0" rtlCol="0" anchor="t"/>
          <a:lstStyle/>
          <a:p>
            <a:pPr indent="0" marL="0">
              <a:buNone/>
            </a:pPr>
            <a:r>
              <a:rPr lang="en-US" sz="1400" dirty="0">
                <a:solidFill>
                  <a:srgbClr val="12253D"/>
                </a:solidFill>
                <a:latin typeface="Calibri" pitchFamily="34" charset="0"/>
                <a:ea typeface="Calibri" pitchFamily="34" charset="-122"/>
                <a:cs typeface="Calibri" pitchFamily="34" charset="-120"/>
              </a:rPr>
              <a:t>Adjuntos por URL: Redis local o gestionado, mismo código.</a:t>
            </a:r>
            <a:endParaRPr lang="en-US" sz="1400" dirty="0"/>
          </a:p>
        </p:txBody>
      </p:sp>
      <p:sp>
        <p:nvSpPr>
          <p:cNvPr id="29" name="Shape 24"/>
          <p:cNvSpPr/>
          <p:nvPr/>
        </p:nvSpPr>
        <p:spPr>
          <a:xfrm>
            <a:off x="8961120" y="1371600"/>
            <a:ext cx="2651760" cy="3429000"/>
          </a:xfrm>
          <a:prstGeom prst="roundRect">
            <a:avLst>
              <a:gd name="adj" fmla="val 2759"/>
            </a:avLst>
          </a:prstGeom>
          <a:solidFill>
            <a:srgbClr val="FFFFFF"/>
          </a:solidFill>
          <a:ln w="12700">
            <a:solidFill>
              <a:srgbClr val="D9E2EE"/>
            </a:solidFill>
            <a:prstDash val="solid"/>
          </a:ln>
        </p:spPr>
      </p:sp>
      <p:sp>
        <p:nvSpPr>
          <p:cNvPr id="30" name="Text 25"/>
          <p:cNvSpPr txBox="1"/>
          <p:nvPr/>
        </p:nvSpPr>
        <p:spPr>
          <a:xfrm>
            <a:off x="9144000" y="1508760"/>
            <a:ext cx="868680" cy="640080"/>
          </a:xfrm>
          <a:prstGeom prst="rect">
            <a:avLst/>
          </a:prstGeom>
          <a:noFill/>
          <a:ln/>
        </p:spPr>
        <p:txBody>
          <a:bodyPr wrap="square" lIns="0" tIns="0" rIns="0" bIns="0" rtlCol="0" anchor="ctr"/>
          <a:lstStyle/>
          <a:p>
            <a:pPr indent="0" marL="0">
              <a:buNone/>
            </a:pPr>
            <a:r>
              <a:rPr lang="en-US" sz="3000" b="1" dirty="0">
                <a:solidFill>
                  <a:srgbClr val="2563EB"/>
                </a:solidFill>
                <a:latin typeface="Calibri" pitchFamily="34" charset="0"/>
                <a:ea typeface="Calibri" pitchFamily="34" charset="-122"/>
                <a:cs typeface="Calibri" pitchFamily="34" charset="-120"/>
              </a:rPr>
              <a:t>XI</a:t>
            </a:r>
            <a:endParaRPr lang="en-US" sz="3000" dirty="0"/>
          </a:p>
        </p:txBody>
      </p:sp>
      <p:sp>
        <p:nvSpPr>
          <p:cNvPr id="31" name="Text 26"/>
          <p:cNvSpPr txBox="1"/>
          <p:nvPr/>
        </p:nvSpPr>
        <p:spPr>
          <a:xfrm>
            <a:off x="10012680" y="1508760"/>
            <a:ext cx="1463040" cy="640080"/>
          </a:xfrm>
          <a:prstGeom prst="rect">
            <a:avLst/>
          </a:prstGeom>
          <a:noFill/>
          <a:ln/>
        </p:spPr>
        <p:txBody>
          <a:bodyPr wrap="square" lIns="0" tIns="0" rIns="0" bIns="0" rtlCol="0" anchor="ctr"/>
          <a:lstStyle/>
          <a:p>
            <a:pPr indent="0" marL="0">
              <a:buNone/>
            </a:pPr>
            <a:r>
              <a:rPr lang="en-US" sz="1500" b="1" dirty="0">
                <a:solidFill>
                  <a:srgbClr val="12253D"/>
                </a:solidFill>
                <a:latin typeface="Calibri" pitchFamily="34" charset="0"/>
                <a:ea typeface="Calibri" pitchFamily="34" charset="-122"/>
                <a:cs typeface="Calibri" pitchFamily="34" charset="-120"/>
              </a:rPr>
              <a:t>Logs</a:t>
            </a:r>
            <a:endParaRPr lang="en-US" sz="1500" dirty="0"/>
          </a:p>
        </p:txBody>
      </p:sp>
      <p:sp>
        <p:nvSpPr>
          <p:cNvPr id="32" name="Shape 27"/>
          <p:cNvSpPr/>
          <p:nvPr/>
        </p:nvSpPr>
        <p:spPr>
          <a:xfrm>
            <a:off x="10287000" y="2240280"/>
            <a:ext cx="0" cy="411480"/>
          </a:xfrm>
          <a:prstGeom prst="line">
            <a:avLst/>
          </a:prstGeom>
          <a:noFill/>
          <a:ln w="19050">
            <a:solidFill>
              <a:srgbClr val="2563EB"/>
            </a:solidFill>
            <a:prstDash val="solid"/>
            <a:headEnd type="triangle"/>
            <a:tailEnd type="triangle"/>
          </a:ln>
        </p:spPr>
      </p:sp>
      <p:sp>
        <p:nvSpPr>
          <p:cNvPr id="33" name="Shape 28"/>
          <p:cNvSpPr/>
          <p:nvPr/>
        </p:nvSpPr>
        <p:spPr>
          <a:xfrm>
            <a:off x="9144000" y="2697480"/>
            <a:ext cx="2286000" cy="566928"/>
          </a:xfrm>
          <a:prstGeom prst="roundRect">
            <a:avLst>
              <a:gd name="adj" fmla="val 12903"/>
            </a:avLst>
          </a:prstGeom>
          <a:solidFill>
            <a:srgbClr val="DBEAFE"/>
          </a:solidFill>
          <a:ln w="38100">
            <a:solidFill>
              <a:srgbClr val="2563EB"/>
            </a:solidFill>
            <a:prstDash val="solid"/>
          </a:ln>
        </p:spPr>
      </p:sp>
      <p:pic>
        <p:nvPicPr>
          <p:cNvPr id="34" name="Image 3" descr="preencoded.png">    </p:cNvPr>
          <p:cNvPicPr>
            <a:picLocks noChangeAspect="1"/>
          </p:cNvPicPr>
          <p:nvPr/>
        </p:nvPicPr>
        <p:blipFill>
          <a:blip r:embed="rId4"/>
          <a:stretch>
            <a:fillRect/>
          </a:stretch>
        </p:blipFill>
        <p:spPr>
          <a:xfrm>
            <a:off x="9272016" y="2843784"/>
            <a:ext cx="274320" cy="274320"/>
          </a:xfrm>
          <a:prstGeom prst="rect">
            <a:avLst/>
          </a:prstGeom>
        </p:spPr>
      </p:pic>
      <p:sp>
        <p:nvSpPr>
          <p:cNvPr id="35" name="Text 29"/>
          <p:cNvSpPr txBox="1"/>
          <p:nvPr/>
        </p:nvSpPr>
        <p:spPr>
          <a:xfrm>
            <a:off x="9619488" y="2697480"/>
            <a:ext cx="1719072" cy="566928"/>
          </a:xfrm>
          <a:prstGeom prst="rect">
            <a:avLst/>
          </a:prstGeom>
          <a:noFill/>
          <a:ln/>
        </p:spPr>
        <p:txBody>
          <a:bodyPr wrap="square" lIns="0" tIns="0" rIns="0" bIns="0" rtlCol="0" anchor="ctr"/>
          <a:lstStyle/>
          <a:p>
            <a:pPr algn="l" indent="0" marL="0">
              <a:buNone/>
            </a:pPr>
            <a:r>
              <a:rPr lang="en-US" sz="1150" b="1" dirty="0">
                <a:solidFill>
                  <a:srgbClr val="12253D"/>
                </a:solidFill>
                <a:latin typeface="Calibri" pitchFamily="34" charset="0"/>
                <a:ea typeface="Calibri" pitchFamily="34" charset="-122"/>
                <a:cs typeface="Calibri" pitchFamily="34" charset="-120"/>
              </a:rPr>
              <a:t>observabilidad</a:t>
            </a:r>
            <a:endParaRPr lang="en-US" sz="1150" dirty="0"/>
          </a:p>
        </p:txBody>
      </p:sp>
      <p:sp>
        <p:nvSpPr>
          <p:cNvPr id="36" name="Text 30"/>
          <p:cNvSpPr txBox="1"/>
          <p:nvPr/>
        </p:nvSpPr>
        <p:spPr>
          <a:xfrm>
            <a:off x="9144000" y="3474720"/>
            <a:ext cx="2286000" cy="1234440"/>
          </a:xfrm>
          <a:prstGeom prst="rect">
            <a:avLst/>
          </a:prstGeom>
          <a:noFill/>
          <a:ln/>
        </p:spPr>
        <p:txBody>
          <a:bodyPr wrap="square" lIns="0" tIns="0" rIns="0" bIns="0" rtlCol="0" anchor="t"/>
          <a:lstStyle/>
          <a:p>
            <a:pPr indent="0" marL="0">
              <a:buNone/>
            </a:pPr>
            <a:r>
              <a:rPr lang="en-US" sz="1400" dirty="0">
                <a:solidFill>
                  <a:srgbClr val="12253D"/>
                </a:solidFill>
                <a:latin typeface="Calibri" pitchFamily="34" charset="0"/>
                <a:ea typeface="Calibri" pitchFamily="34" charset="-122"/>
                <a:cs typeface="Calibri" pitchFamily="34" charset="-120"/>
              </a:rPr>
              <a:t>Flujos de eventos a stdout; alguien más los junta.</a:t>
            </a:r>
            <a:endParaRPr lang="en-US" sz="1400" dirty="0"/>
          </a:p>
        </p:txBody>
      </p:sp>
      <p:sp>
        <p:nvSpPr>
          <p:cNvPr id="37" name="Shape 31"/>
          <p:cNvSpPr/>
          <p:nvPr/>
        </p:nvSpPr>
        <p:spPr>
          <a:xfrm>
            <a:off x="457200" y="5029200"/>
            <a:ext cx="11247120" cy="731520"/>
          </a:xfrm>
          <a:prstGeom prst="roundRect">
            <a:avLst>
              <a:gd name="adj" fmla="val 10000"/>
            </a:avLst>
          </a:prstGeom>
          <a:solidFill>
            <a:srgbClr val="DBEAFE"/>
          </a:solidFill>
          <a:ln w="12700">
            <a:solidFill>
              <a:srgbClr val="DBEAFE"/>
            </a:solidFill>
            <a:prstDash val="solid"/>
          </a:ln>
        </p:spPr>
      </p:sp>
      <p:pic>
        <p:nvPicPr>
          <p:cNvPr id="38" name="Image 4" descr="preencoded.png">    </p:cNvPr>
          <p:cNvPicPr>
            <a:picLocks noChangeAspect="1"/>
          </p:cNvPicPr>
          <p:nvPr/>
        </p:nvPicPr>
        <p:blipFill>
          <a:blip r:embed="rId5"/>
          <a:stretch>
            <a:fillRect/>
          </a:stretch>
        </p:blipFill>
        <p:spPr>
          <a:xfrm>
            <a:off x="685800" y="5257800"/>
            <a:ext cx="274320" cy="274320"/>
          </a:xfrm>
          <a:prstGeom prst="rect">
            <a:avLst/>
          </a:prstGeom>
        </p:spPr>
      </p:pic>
      <p:sp>
        <p:nvSpPr>
          <p:cNvPr id="39" name="Text 32"/>
          <p:cNvSpPr txBox="1"/>
          <p:nvPr/>
        </p:nvSpPr>
        <p:spPr>
          <a:xfrm>
            <a:off x="1143000" y="5029200"/>
            <a:ext cx="10424160" cy="73152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12factor.net: Wiggins, Heroku, 2011. Los otros ocho: el lab de hoy y la S5.</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Cada servicio es dueño de su almacén; se elige por patrón de acceso</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15/21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E · Los datos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38100">
            <a:solidFill>
              <a:srgbClr val="2563EB"/>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38100">
            <a:solidFill>
              <a:srgbClr val="2563EB"/>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38100">
            <a:solidFill>
              <a:srgbClr val="2563EB"/>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La regla</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Los datos de un servicio se leen por su API o sus eventos, nunca entrando a la base de datos ajena.</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Fowler acuñó polyglot persistence el 16-nov-2011: primero cómo se manipulan los datos, después la tecnología.</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Lo que se pierde</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No hay joins ni transacciones entre servicios: la consistencia se vuelve diseño (S6, S12); hacen falta eventos e idempotencia.</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400" b="1" dirty="0">
                <a:solidFill>
                  <a:srgbClr val="12253D"/>
                </a:solidFill>
                <a:latin typeface="Calibri" pitchFamily="34" charset="0"/>
                <a:ea typeface="Calibri" pitchFamily="34" charset="-122"/>
                <a:cs typeface="Calibri" pitchFamily="34" charset="-120"/>
              </a:rPr>
              <a:t>Seis familias, seis preguntas: el criterio es cómo se lee y cómo se escribe</a:t>
            </a:r>
            <a:endParaRPr lang="en-US" sz="24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16/21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E · Los datos  ·  válvula: se salta si falta tiempo</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1645920"/>
                <a:gridCol w="3566160"/>
                <a:gridCol w="3017520"/>
                <a:gridCol w="3017520"/>
              </a:tblGrid>
              <a:tr h="512064">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Familia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Fortaleza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Caso típico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Ejemplo · AWS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Relacional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ACID, joins, integridad (UNIQUE)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cuentas, transferencias, libro mayor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PostgreSQL · Aurora, RDS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Documental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el agregado completo en una lectura, esquema flexible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expediente de cliente, catálogo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MongoDB · DocumentDB</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Llave-valor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acceso por llave en microsegundos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caché, sesiones, contadores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Redis, Valkey · DynamoDB, ElastiCache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Columnar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agregaciones sobre muchas filas y pocas columnas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analítica, series de tiempo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Cassandra · Redshift, Keyspaces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Grafo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recorrer relaciones de profundidad variable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fraude, recomendaciones, avales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Neo4j · Neptune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Objetos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archivos grandes e inmutables por URL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documentos, imágenes, respaldos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MinIO · S3</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5257800"/>
            <a:ext cx="11247120" cy="54864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En el sistema de referencia conviven tres: PostgreSQL (transaccional), MongoDB (documentos) y Redis (llave-valor). Profundización en la S9: replicación, sharding, CRDTs.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El mapa completo: seis piezas, un problema cada una</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17/21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Recapitulación</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440680"/>
            <a:ext cx="1801368" cy="384048"/>
          </a:xfrm>
          <a:prstGeom prst="roundRect">
            <a:avLst>
              <a:gd name="adj" fmla="val 40476"/>
            </a:avLst>
          </a:prstGeom>
          <a:solidFill>
            <a:srgbClr val="FFFFFF"/>
          </a:solidFill>
          <a:ln w="12700">
            <a:solidFill>
              <a:srgbClr val="FFFFFF"/>
            </a:solidFill>
            <a:prstDash val="solid"/>
          </a:ln>
        </p:spPr>
      </p:sp>
      <p:sp>
        <p:nvSpPr>
          <p:cNvPr id="56" name="Text 44"/>
          <p:cNvSpPr txBox="1"/>
          <p:nvPr/>
        </p:nvSpPr>
        <p:spPr>
          <a:xfrm>
            <a:off x="457200"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Gateway: una puerta</a:t>
            </a:r>
            <a:endParaRPr lang="en-US" sz="1000" dirty="0"/>
          </a:p>
        </p:txBody>
      </p:sp>
      <p:sp>
        <p:nvSpPr>
          <p:cNvPr id="57" name="Shape 45"/>
          <p:cNvSpPr/>
          <p:nvPr/>
        </p:nvSpPr>
        <p:spPr>
          <a:xfrm>
            <a:off x="2350008" y="5440680"/>
            <a:ext cx="1801368" cy="384048"/>
          </a:xfrm>
          <a:prstGeom prst="roundRect">
            <a:avLst>
              <a:gd name="adj" fmla="val 40476"/>
            </a:avLst>
          </a:prstGeom>
          <a:solidFill>
            <a:srgbClr val="FFFFFF"/>
          </a:solidFill>
          <a:ln w="12700">
            <a:solidFill>
              <a:srgbClr val="FFFFFF"/>
            </a:solidFill>
            <a:prstDash val="solid"/>
          </a:ln>
        </p:spPr>
      </p:sp>
      <p:sp>
        <p:nvSpPr>
          <p:cNvPr id="58" name="Text 46"/>
          <p:cNvSpPr txBox="1"/>
          <p:nvPr/>
        </p:nvSpPr>
        <p:spPr>
          <a:xfrm>
            <a:off x="2350008"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Discovery: nombre estable</a:t>
            </a:r>
            <a:endParaRPr lang="en-US" sz="1000" dirty="0"/>
          </a:p>
        </p:txBody>
      </p:sp>
      <p:sp>
        <p:nvSpPr>
          <p:cNvPr id="59" name="Shape 47"/>
          <p:cNvSpPr/>
          <p:nvPr/>
        </p:nvSpPr>
        <p:spPr>
          <a:xfrm>
            <a:off x="4242816" y="5440680"/>
            <a:ext cx="1801368" cy="384048"/>
          </a:xfrm>
          <a:prstGeom prst="roundRect">
            <a:avLst>
              <a:gd name="adj" fmla="val 40476"/>
            </a:avLst>
          </a:prstGeom>
          <a:solidFill>
            <a:srgbClr val="FFFFFF"/>
          </a:solidFill>
          <a:ln w="12700">
            <a:solidFill>
              <a:srgbClr val="FFFFFF"/>
            </a:solidFill>
            <a:prstDash val="solid"/>
          </a:ln>
        </p:spPr>
      </p:sp>
      <p:sp>
        <p:nvSpPr>
          <p:cNvPr id="60" name="Text 48"/>
          <p:cNvSpPr txBox="1"/>
          <p:nvPr/>
        </p:nvSpPr>
        <p:spPr>
          <a:xfrm>
            <a:off x="4242816"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Config: fuera de la imagen</a:t>
            </a:r>
            <a:endParaRPr lang="en-US" sz="1000" dirty="0"/>
          </a:p>
        </p:txBody>
      </p:sp>
      <p:sp>
        <p:nvSpPr>
          <p:cNvPr id="61" name="Shape 49"/>
          <p:cNvSpPr/>
          <p:nvPr/>
        </p:nvSpPr>
        <p:spPr>
          <a:xfrm>
            <a:off x="6135624" y="5440680"/>
            <a:ext cx="1801368" cy="384048"/>
          </a:xfrm>
          <a:prstGeom prst="roundRect">
            <a:avLst>
              <a:gd name="adj" fmla="val 40476"/>
            </a:avLst>
          </a:prstGeom>
          <a:solidFill>
            <a:srgbClr val="FFFFFF"/>
          </a:solidFill>
          <a:ln w="12700">
            <a:solidFill>
              <a:srgbClr val="FFFFFF"/>
            </a:solidFill>
            <a:prstDash val="solid"/>
          </a:ln>
        </p:spPr>
      </p:sp>
      <p:sp>
        <p:nvSpPr>
          <p:cNvPr id="62" name="Text 50"/>
          <p:cNvSpPr txBox="1"/>
          <p:nvPr/>
        </p:nvSpPr>
        <p:spPr>
          <a:xfrm>
            <a:off x="6135624"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Broker: al menos una vez</a:t>
            </a:r>
            <a:endParaRPr lang="en-US" sz="1000" dirty="0"/>
          </a:p>
        </p:txBody>
      </p:sp>
      <p:sp>
        <p:nvSpPr>
          <p:cNvPr id="63" name="Shape 51"/>
          <p:cNvSpPr/>
          <p:nvPr/>
        </p:nvSpPr>
        <p:spPr>
          <a:xfrm>
            <a:off x="8028432" y="5440680"/>
            <a:ext cx="1801368" cy="384048"/>
          </a:xfrm>
          <a:prstGeom prst="roundRect">
            <a:avLst>
              <a:gd name="adj" fmla="val 40476"/>
            </a:avLst>
          </a:prstGeom>
          <a:solidFill>
            <a:srgbClr val="FFFFFF"/>
          </a:solidFill>
          <a:ln w="12700">
            <a:solidFill>
              <a:srgbClr val="FFFFFF"/>
            </a:solidFill>
            <a:prstDash val="solid"/>
          </a:ln>
        </p:spPr>
      </p:sp>
      <p:sp>
        <p:nvSpPr>
          <p:cNvPr id="64" name="Text 52"/>
          <p:cNvSpPr txBox="1"/>
          <p:nvPr/>
        </p:nvSpPr>
        <p:spPr>
          <a:xfrm>
            <a:off x="8028432"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Caché: copia con TTL</a:t>
            </a:r>
            <a:endParaRPr lang="en-US" sz="1000" dirty="0"/>
          </a:p>
        </p:txBody>
      </p:sp>
      <p:sp>
        <p:nvSpPr>
          <p:cNvPr id="65" name="Shape 53"/>
          <p:cNvSpPr/>
          <p:nvPr/>
        </p:nvSpPr>
        <p:spPr>
          <a:xfrm>
            <a:off x="9921240" y="5440680"/>
            <a:ext cx="1801368" cy="384048"/>
          </a:xfrm>
          <a:prstGeom prst="roundRect">
            <a:avLst>
              <a:gd name="adj" fmla="val 40476"/>
            </a:avLst>
          </a:prstGeom>
          <a:solidFill>
            <a:srgbClr val="FFFFFF"/>
          </a:solidFill>
          <a:ln w="12700">
            <a:solidFill>
              <a:srgbClr val="FFFFFF"/>
            </a:solidFill>
            <a:prstDash val="solid"/>
          </a:ln>
        </p:spPr>
      </p:sp>
      <p:sp>
        <p:nvSpPr>
          <p:cNvPr id="66" name="Text 54"/>
          <p:cNvSpPr txBox="1"/>
          <p:nvPr/>
        </p:nvSpPr>
        <p:spPr>
          <a:xfrm>
            <a:off x="9921240"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Observabilidad: trace id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La decisión de hoy · FarmaYa: ¿reintentar o no?</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18/21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F · La decisión de hoy</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ritual · 12 min</a:t>
            </a:r>
            <a:endParaRPr lang="en-US" sz="1100" dirty="0"/>
          </a:p>
        </p:txBody>
      </p:sp>
      <p:sp>
        <p:nvSpPr>
          <p:cNvPr id="8" name="Shape 5"/>
          <p:cNvSpPr/>
          <p:nvPr/>
        </p:nvSpPr>
        <p:spPr>
          <a:xfrm>
            <a:off x="457200" y="1371600"/>
            <a:ext cx="11247120" cy="1234440"/>
          </a:xfrm>
          <a:prstGeom prst="roundRect">
            <a:avLst>
              <a:gd name="adj" fmla="val 5926"/>
            </a:avLst>
          </a:prstGeom>
          <a:solidFill>
            <a:srgbClr val="FFFFFF"/>
          </a:solidFill>
          <a:ln w="12700">
            <a:solidFill>
              <a:srgbClr val="D9E2EE"/>
            </a:solidFill>
            <a:prstDash val="solid"/>
          </a:ln>
        </p:spPr>
      </p:sp>
      <p:pic>
        <p:nvPicPr>
          <p:cNvPr id="9" name="Image 1" descr="preencoded.png">    </p:cNvPr>
          <p:cNvPicPr>
            <a:picLocks noChangeAspect="1"/>
          </p:cNvPicPr>
          <p:nvPr/>
        </p:nvPicPr>
        <p:blipFill>
          <a:blip r:embed="rId2"/>
          <a:stretch>
            <a:fillRect/>
          </a:stretch>
        </p:blipFill>
        <p:spPr>
          <a:xfrm>
            <a:off x="621792" y="1508760"/>
            <a:ext cx="274320" cy="274320"/>
          </a:xfrm>
          <a:prstGeom prst="rect">
            <a:avLst/>
          </a:prstGeom>
        </p:spPr>
      </p:pic>
      <p:sp>
        <p:nvSpPr>
          <p:cNvPr id="10" name="Text 6"/>
          <p:cNvSpPr txBox="1"/>
          <p:nvPr/>
        </p:nvSpPr>
        <p:spPr>
          <a:xfrm>
            <a:off x="1005840" y="1481328"/>
            <a:ext cx="1053388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El caso (ajeno, ensayo, no se califica)</a:t>
            </a:r>
            <a:endParaRPr lang="en-US" sz="1300" dirty="0"/>
          </a:p>
        </p:txBody>
      </p:sp>
      <p:sp>
        <p:nvSpPr>
          <p:cNvPr id="11" name="Text 7"/>
          <p:cNvSpPr txBox="1"/>
          <p:nvPr/>
        </p:nvSpPr>
        <p:spPr>
          <a:xfrm>
            <a:off x="621792" y="1847088"/>
            <a:ext cx="10917936" cy="649224"/>
          </a:xfrm>
          <a:prstGeom prst="rect">
            <a:avLst/>
          </a:prstGeom>
          <a:noFill/>
          <a:ln/>
        </p:spPr>
        <p:txBody>
          <a:bodyPr wrap="square" lIns="0" tIns="0" rIns="0" bIns="0" rtlCol="0" anchor="t"/>
          <a:lstStyle/>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FarmaYa vende medicinas con entrega a domicilio. Al pagar, la app llama a POST /pedidos/{id}/pagar, que llama a la pasarela de tarjetas. La pasarela tarda de 1 a 8 s y a veces no responde. El timeout de la app es de 3 s. Se venció. ¿Qué hace la app?</a:t>
            </a:r>
            <a:endParaRPr lang="en-US" sz="1400" dirty="0"/>
          </a:p>
        </p:txBody>
      </p:sp>
      <p:sp>
        <p:nvSpPr>
          <p:cNvPr id="12" name="Shape 8"/>
          <p:cNvSpPr/>
          <p:nvPr/>
        </p:nvSpPr>
        <p:spPr>
          <a:xfrm>
            <a:off x="457200" y="2788920"/>
            <a:ext cx="3611880" cy="2148840"/>
          </a:xfrm>
          <a:prstGeom prst="roundRect">
            <a:avLst>
              <a:gd name="adj" fmla="val 3404"/>
            </a:avLst>
          </a:prstGeom>
          <a:solidFill>
            <a:srgbClr val="FFFFFF"/>
          </a:solidFill>
          <a:ln w="12700">
            <a:solidFill>
              <a:srgbClr val="D9E2EE"/>
            </a:solidFill>
            <a:prstDash val="solid"/>
          </a:ln>
        </p:spPr>
      </p:sp>
      <p:sp>
        <p:nvSpPr>
          <p:cNvPr id="13" name="Text 9"/>
          <p:cNvSpPr txBox="1"/>
          <p:nvPr/>
        </p:nvSpPr>
        <p:spPr>
          <a:xfrm>
            <a:off x="621792" y="2880360"/>
            <a:ext cx="3291840" cy="365760"/>
          </a:xfrm>
          <a:prstGeom prst="rect">
            <a:avLst/>
          </a:prstGeom>
          <a:noFill/>
          <a:ln/>
        </p:spPr>
        <p:txBody>
          <a:bodyPr wrap="square" lIns="0" tIns="0" rIns="0" bIns="0" rtlCol="0" anchor="t"/>
          <a:lstStyle/>
          <a:p>
            <a:pPr indent="0" marL="0">
              <a:buNone/>
            </a:pPr>
            <a:r>
              <a:rPr lang="en-US" sz="1600" b="1" dirty="0">
                <a:solidFill>
                  <a:srgbClr val="2563EB"/>
                </a:solidFill>
                <a:latin typeface="Calibri" pitchFamily="34" charset="0"/>
                <a:ea typeface="Calibri" pitchFamily="34" charset="-122"/>
                <a:cs typeface="Calibri" pitchFamily="34" charset="-120"/>
              </a:rPr>
              <a:t>A · Reintentar ya</a:t>
            </a:r>
            <a:endParaRPr lang="en-US" sz="1600" dirty="0"/>
          </a:p>
        </p:txBody>
      </p:sp>
      <p:sp>
        <p:nvSpPr>
          <p:cNvPr id="14" name="Text 10"/>
          <p:cNvSpPr txBox="1"/>
          <p:nvPr/>
        </p:nvSpPr>
        <p:spPr>
          <a:xfrm>
            <a:off x="621792" y="3218688"/>
            <a:ext cx="3291840" cy="27432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at-least-once</a:t>
            </a:r>
            <a:endParaRPr lang="en-US" sz="1200" dirty="0"/>
          </a:p>
        </p:txBody>
      </p:sp>
      <p:sp>
        <p:nvSpPr>
          <p:cNvPr id="15" name="Text 11"/>
          <p:cNvSpPr txBox="1"/>
          <p:nvPr/>
        </p:nvSpPr>
        <p:spPr>
          <a:xfrm>
            <a:off x="621792" y="3566160"/>
            <a:ext cx="3291840" cy="150876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Persigue: ningún pedido pagado se pierde.</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Exige: Idempotency-Key en la pasarela.</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Sacrifica: latencia y depender de que la pasarela deduplique de verdad.</a:t>
            </a:r>
            <a:endParaRPr lang="en-US" sz="1200" dirty="0"/>
          </a:p>
        </p:txBody>
      </p:sp>
      <p:sp>
        <p:nvSpPr>
          <p:cNvPr id="16" name="Shape 12"/>
          <p:cNvSpPr/>
          <p:nvPr/>
        </p:nvSpPr>
        <p:spPr>
          <a:xfrm>
            <a:off x="4251960" y="2788920"/>
            <a:ext cx="3611880" cy="2148840"/>
          </a:xfrm>
          <a:prstGeom prst="roundRect">
            <a:avLst>
              <a:gd name="adj" fmla="val 3404"/>
            </a:avLst>
          </a:prstGeom>
          <a:solidFill>
            <a:srgbClr val="FFFFFF"/>
          </a:solidFill>
          <a:ln w="12700">
            <a:solidFill>
              <a:srgbClr val="D9E2EE"/>
            </a:solidFill>
            <a:prstDash val="solid"/>
          </a:ln>
        </p:spPr>
      </p:sp>
      <p:sp>
        <p:nvSpPr>
          <p:cNvPr id="17" name="Text 13"/>
          <p:cNvSpPr txBox="1"/>
          <p:nvPr/>
        </p:nvSpPr>
        <p:spPr>
          <a:xfrm>
            <a:off x="4416552" y="2880360"/>
            <a:ext cx="3291840" cy="365760"/>
          </a:xfrm>
          <a:prstGeom prst="rect">
            <a:avLst/>
          </a:prstGeom>
          <a:noFill/>
          <a:ln/>
        </p:spPr>
        <p:txBody>
          <a:bodyPr wrap="square" lIns="0" tIns="0" rIns="0" bIns="0" rtlCol="0" anchor="t"/>
          <a:lstStyle/>
          <a:p>
            <a:pPr indent="0" marL="0">
              <a:buNone/>
            </a:pPr>
            <a:r>
              <a:rPr lang="en-US" sz="1600" b="1" dirty="0">
                <a:solidFill>
                  <a:srgbClr val="15803D"/>
                </a:solidFill>
                <a:latin typeface="Calibri" pitchFamily="34" charset="0"/>
                <a:ea typeface="Calibri" pitchFamily="34" charset="-122"/>
                <a:cs typeface="Calibri" pitchFamily="34" charset="-120"/>
              </a:rPr>
              <a:t>B · No reintentar</a:t>
            </a:r>
            <a:endParaRPr lang="en-US" sz="1600" dirty="0"/>
          </a:p>
        </p:txBody>
      </p:sp>
      <p:sp>
        <p:nvSpPr>
          <p:cNvPr id="18" name="Text 14"/>
          <p:cNvSpPr txBox="1"/>
          <p:nvPr/>
        </p:nvSpPr>
        <p:spPr>
          <a:xfrm>
            <a:off x="4416552" y="3218688"/>
            <a:ext cx="3291840" cy="27432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at-most-once</a:t>
            </a:r>
            <a:endParaRPr lang="en-US" sz="1200" dirty="0"/>
          </a:p>
        </p:txBody>
      </p:sp>
      <p:sp>
        <p:nvSpPr>
          <p:cNvPr id="19" name="Text 15"/>
          <p:cNvSpPr txBox="1"/>
          <p:nvPr/>
        </p:nvSpPr>
        <p:spPr>
          <a:xfrm>
            <a:off x="4416552" y="3566160"/>
            <a:ext cx="3291840" cy="150876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Persigue: nunca cobrar dos veces.</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Pide al cliente revisar su estado.</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Sacrifica: pedidos en limbo y soporte manual.</a:t>
            </a:r>
            <a:endParaRPr lang="en-US" sz="1200" dirty="0"/>
          </a:p>
        </p:txBody>
      </p:sp>
      <p:sp>
        <p:nvSpPr>
          <p:cNvPr id="20" name="Shape 16"/>
          <p:cNvSpPr/>
          <p:nvPr/>
        </p:nvSpPr>
        <p:spPr>
          <a:xfrm>
            <a:off x="8046720" y="2788920"/>
            <a:ext cx="3611880" cy="2148840"/>
          </a:xfrm>
          <a:prstGeom prst="roundRect">
            <a:avLst>
              <a:gd name="adj" fmla="val 3404"/>
            </a:avLst>
          </a:prstGeom>
          <a:solidFill>
            <a:srgbClr val="FFFFFF"/>
          </a:solidFill>
          <a:ln w="12700">
            <a:solidFill>
              <a:srgbClr val="D9E2EE"/>
            </a:solidFill>
            <a:prstDash val="solid"/>
          </a:ln>
        </p:spPr>
      </p:sp>
      <p:sp>
        <p:nvSpPr>
          <p:cNvPr id="21" name="Text 17"/>
          <p:cNvSpPr txBox="1"/>
          <p:nvPr/>
        </p:nvSpPr>
        <p:spPr>
          <a:xfrm>
            <a:off x="8211312" y="2880360"/>
            <a:ext cx="3291840" cy="365760"/>
          </a:xfrm>
          <a:prstGeom prst="rect">
            <a:avLst/>
          </a:prstGeom>
          <a:noFill/>
          <a:ln/>
        </p:spPr>
        <p:txBody>
          <a:bodyPr wrap="square" lIns="0" tIns="0" rIns="0" bIns="0" rtlCol="0" anchor="t"/>
          <a:lstStyle/>
          <a:p>
            <a:pPr indent="0" marL="0">
              <a:buNone/>
            </a:pPr>
            <a:r>
              <a:rPr lang="en-US" sz="1600" b="1" dirty="0">
                <a:solidFill>
                  <a:srgbClr val="B45309"/>
                </a:solidFill>
                <a:latin typeface="Calibri" pitchFamily="34" charset="0"/>
                <a:ea typeface="Calibri" pitchFamily="34" charset="-122"/>
                <a:cs typeface="Calibri" pitchFamily="34" charset="-120"/>
              </a:rPr>
              <a:t>C · Evento al broker</a:t>
            </a:r>
            <a:endParaRPr lang="en-US" sz="1600" dirty="0"/>
          </a:p>
        </p:txBody>
      </p:sp>
      <p:sp>
        <p:nvSpPr>
          <p:cNvPr id="22" name="Text 18"/>
          <p:cNvSpPr txBox="1"/>
          <p:nvPr/>
        </p:nvSpPr>
        <p:spPr>
          <a:xfrm>
            <a:off x="8211312" y="3218688"/>
            <a:ext cx="3291840" cy="27432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"pago solicitado" y responder "en proceso"</a:t>
            </a:r>
            <a:endParaRPr lang="en-US" sz="1200" dirty="0"/>
          </a:p>
        </p:txBody>
      </p:sp>
      <p:sp>
        <p:nvSpPr>
          <p:cNvPr id="23" name="Text 19"/>
          <p:cNvSpPr txBox="1"/>
          <p:nvPr/>
        </p:nvSpPr>
        <p:spPr>
          <a:xfrm>
            <a:off x="8211312" y="3566160"/>
            <a:ext cx="3291840" cy="150876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Persigue: la app disponible aunque la pasarela esté lenta.</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Exige: consumidor idempotente y notificar el resultado.</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Sacrifica: confirmación inmediata.</a:t>
            </a:r>
            <a:endParaRPr lang="en-US" sz="1200" dirty="0"/>
          </a:p>
        </p:txBody>
      </p:sp>
      <p:sp>
        <p:nvSpPr>
          <p:cNvPr id="24" name="Shape 20"/>
          <p:cNvSpPr/>
          <p:nvPr/>
        </p:nvSpPr>
        <p:spPr>
          <a:xfrm>
            <a:off x="457200" y="5120640"/>
            <a:ext cx="11247120" cy="585216"/>
          </a:xfrm>
          <a:prstGeom prst="roundRect">
            <a:avLst>
              <a:gd name="adj" fmla="val 9375"/>
            </a:avLst>
          </a:prstGeom>
          <a:solidFill>
            <a:srgbClr val="1E293B"/>
          </a:solidFill>
          <a:ln w="12700">
            <a:solidFill>
              <a:srgbClr val="1E293B"/>
            </a:solidFill>
            <a:prstDash val="solid"/>
          </a:ln>
        </p:spPr>
      </p:sp>
      <p:sp>
        <p:nvSpPr>
          <p:cNvPr id="25" name="Text 21"/>
          <p:cNvSpPr txBox="1"/>
          <p:nvPr/>
        </p:nvSpPr>
        <p:spPr>
          <a:xfrm>
            <a:off x="621792" y="5257800"/>
            <a:ext cx="10972800" cy="310896"/>
          </a:xfrm>
          <a:prstGeom prst="rect">
            <a:avLst/>
          </a:prstGeom>
          <a:noFill/>
          <a:ln/>
        </p:spPr>
        <p:txBody>
          <a:bodyPr wrap="square" lIns="0" tIns="0" rIns="0" bIns="0" rtlCol="0" anchor="ctr"/>
          <a:lstStyle/>
          <a:p>
            <a:pPr indent="0" marL="0">
              <a:buNone/>
            </a:pPr>
            <a:r>
              <a:rPr lang="en-US" sz="1300" dirty="0">
                <a:solidFill>
                  <a:srgbClr val="E2E8F0"/>
                </a:solidFill>
                <a:latin typeface="Courier New" pitchFamily="34" charset="0"/>
                <a:ea typeface="Courier New" pitchFamily="34" charset="-122"/>
                <a:cs typeface="Courier New" pitchFamily="34" charset="-120"/>
              </a:rPr>
              <a:t>elección: A | B | C     porque: el requisito que persigo     sacrifico: lo que dejo atrás</a:t>
            </a:r>
            <a:endParaRPr lang="en-US" sz="1300" dirty="0"/>
          </a:p>
        </p:txBody>
      </p:sp>
      <p:sp>
        <p:nvSpPr>
          <p:cNvPr id="26" name="Text 22"/>
          <p:cNvSpPr txBox="1"/>
          <p:nvPr/>
        </p:nvSpPr>
        <p:spPr>
          <a:xfrm>
            <a:off x="457200" y="5806440"/>
            <a:ext cx="11247120" cy="32004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Mismo formato de tres líneas que la Decisión 0. Los 10 equipos deciden en el chat; dos defienden en voz.</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Para la S5: consenso, y el sistema desglosado con compose</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19/21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G · Para la S5</a:t>
            </a:r>
            <a:endParaRPr lang="en-US" sz="1000" dirty="0"/>
          </a:p>
        </p:txBody>
      </p:sp>
      <p:sp>
        <p:nvSpPr>
          <p:cNvPr id="5" name="Shape 3"/>
          <p:cNvSpPr/>
          <p:nvPr/>
        </p:nvSpPr>
        <p:spPr>
          <a:xfrm>
            <a:off x="457200" y="1371600"/>
            <a:ext cx="3657600" cy="3017520"/>
          </a:xfrm>
          <a:prstGeom prst="roundRect">
            <a:avLst>
              <a:gd name="adj" fmla="val 2424"/>
            </a:avLst>
          </a:prstGeom>
          <a:solidFill>
            <a:srgbClr val="FFFFFF"/>
          </a:solidFill>
          <a:ln w="12700">
            <a:solidFill>
              <a:srgbClr val="D9E2EE"/>
            </a:solidFill>
            <a:prstDash val="solid"/>
          </a:ln>
        </p:spPr>
      </p:sp>
      <p:pic>
        <p:nvPicPr>
          <p:cNvPr id="6" name="Image 0" descr="preencoded.png">    </p:cNvPr>
          <p:cNvPicPr>
            <a:picLocks noChangeAspect="1"/>
          </p:cNvPicPr>
          <p:nvPr/>
        </p:nvPicPr>
        <p:blipFill>
          <a:blip r:embed="rId1"/>
          <a:stretch>
            <a:fillRect/>
          </a:stretch>
        </p:blipFill>
        <p:spPr>
          <a:xfrm>
            <a:off x="621792" y="1508760"/>
            <a:ext cx="274320" cy="274320"/>
          </a:xfrm>
          <a:prstGeom prst="rect">
            <a:avLst/>
          </a:prstGeom>
        </p:spPr>
      </p:pic>
      <p:sp>
        <p:nvSpPr>
          <p:cNvPr id="7" name="Text 4"/>
          <p:cNvSpPr txBox="1"/>
          <p:nvPr/>
        </p:nvSpPr>
        <p:spPr>
          <a:xfrm>
            <a:off x="1005840" y="1481328"/>
            <a:ext cx="29443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Lectura 4 · para la S5</a:t>
            </a:r>
            <a:endParaRPr lang="en-US" sz="1300" dirty="0"/>
          </a:p>
        </p:txBody>
      </p:sp>
      <p:sp>
        <p:nvSpPr>
          <p:cNvPr id="8" name="Text 5"/>
          <p:cNvSpPr txBox="1"/>
          <p:nvPr/>
        </p:nvSpPr>
        <p:spPr>
          <a:xfrm>
            <a:off x="621792" y="1847088"/>
            <a:ext cx="3328416" cy="2432304"/>
          </a:xfrm>
          <a:prstGeom prst="rect">
            <a:avLst/>
          </a:prstGeom>
          <a:noFill/>
          <a:ln/>
        </p:spPr>
        <p:txBody>
          <a:bodyPr wrap="square" lIns="0" tIns="0" rIns="0" bIns="0" rtlCol="0" anchor="t"/>
          <a:lstStyle/>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Ongaro y Ousterhout, "In Search of an Understandable Consensus Algorithm" (Raft, 2014).</a:t>
            </a:r>
            <a:endParaRPr lang="en-US" sz="1400" dirty="0"/>
          </a:p>
          <a:p>
            <a:pPr indent="0" marL="0">
              <a:spcAft>
                <a:spcPts val="400"/>
              </a:spcAft>
              <a:buNone/>
            </a:pPr>
            <a:endParaRPr lang="en-US" sz="1400" dirty="0"/>
          </a:p>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Secciones 1 a 5.</a:t>
            </a:r>
            <a:endParaRPr lang="en-US" sz="1400" dirty="0"/>
          </a:p>
        </p:txBody>
      </p:sp>
      <p:sp>
        <p:nvSpPr>
          <p:cNvPr id="9" name="Shape 6"/>
          <p:cNvSpPr/>
          <p:nvPr/>
        </p:nvSpPr>
        <p:spPr>
          <a:xfrm>
            <a:off x="4251960" y="1371600"/>
            <a:ext cx="3657600" cy="3017520"/>
          </a:xfrm>
          <a:prstGeom prst="roundRect">
            <a:avLst>
              <a:gd name="adj" fmla="val 2424"/>
            </a:avLst>
          </a:prstGeom>
          <a:solidFill>
            <a:srgbClr val="FFFFFF"/>
          </a:solidFill>
          <a:ln w="12700">
            <a:solidFill>
              <a:srgbClr val="D9E2EE"/>
            </a:solidFill>
            <a:prstDash val="solid"/>
          </a:ln>
        </p:spPr>
      </p:sp>
      <p:pic>
        <p:nvPicPr>
          <p:cNvPr id="10" name="Image 1" descr="preencoded.png">    </p:cNvPr>
          <p:cNvPicPr>
            <a:picLocks noChangeAspect="1"/>
          </p:cNvPicPr>
          <p:nvPr/>
        </p:nvPicPr>
        <p:blipFill>
          <a:blip r:embed="rId2"/>
          <a:stretch>
            <a:fillRect/>
          </a:stretch>
        </p:blipFill>
        <p:spPr>
          <a:xfrm>
            <a:off x="4416552" y="1508760"/>
            <a:ext cx="274320" cy="274320"/>
          </a:xfrm>
          <a:prstGeom prst="rect">
            <a:avLst/>
          </a:prstGeom>
        </p:spPr>
      </p:pic>
      <p:sp>
        <p:nvSpPr>
          <p:cNvPr id="11" name="Text 7"/>
          <p:cNvSpPr txBox="1"/>
          <p:nvPr/>
        </p:nvSpPr>
        <p:spPr>
          <a:xfrm>
            <a:off x="4800600" y="1481328"/>
            <a:ext cx="29443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Laboratorio de la S5</a:t>
            </a:r>
            <a:endParaRPr lang="en-US" sz="1300" dirty="0"/>
          </a:p>
        </p:txBody>
      </p:sp>
      <p:sp>
        <p:nvSpPr>
          <p:cNvPr id="12" name="Text 8"/>
          <p:cNvSpPr txBox="1"/>
          <p:nvPr/>
        </p:nvSpPr>
        <p:spPr>
          <a:xfrm>
            <a:off x="4416552" y="1847088"/>
            <a:ext cx="3328416" cy="2432304"/>
          </a:xfrm>
          <a:prstGeom prst="rect">
            <a:avLst/>
          </a:prstGeom>
          <a:noFill/>
          <a:ln/>
        </p:spPr>
        <p:txBody>
          <a:bodyPr wrap="square" lIns="0" tIns="0" rIns="0" bIns="0" rtlCol="0" anchor="t"/>
          <a:lstStyle/>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El sistema del curso desglosado con compose: cómo se hablan los contenedores; gateway, discovery, config, RabbitMQ, Redis y Jaeger en vivo.</a:t>
            </a:r>
            <a:endParaRPr lang="en-US" sz="1400" dirty="0"/>
          </a:p>
          <a:p>
            <a:pPr indent="0" marL="0">
              <a:spcAft>
                <a:spcPts val="400"/>
              </a:spcAft>
              <a:buNone/>
            </a:pPr>
            <a:endParaRPr lang="en-US" sz="1400" dirty="0"/>
          </a:p>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Al final, Kubernetes básico.</a:t>
            </a:r>
            <a:endParaRPr lang="en-US" sz="1400" dirty="0"/>
          </a:p>
        </p:txBody>
      </p:sp>
      <p:sp>
        <p:nvSpPr>
          <p:cNvPr id="13" name="Shape 9"/>
          <p:cNvSpPr/>
          <p:nvPr/>
        </p:nvSpPr>
        <p:spPr>
          <a:xfrm>
            <a:off x="8046720" y="1371600"/>
            <a:ext cx="3657600" cy="3017520"/>
          </a:xfrm>
          <a:prstGeom prst="roundRect">
            <a:avLst>
              <a:gd name="adj" fmla="val 2424"/>
            </a:avLst>
          </a:prstGeom>
          <a:solidFill>
            <a:srgbClr val="FFFFFF"/>
          </a:solidFill>
          <a:ln w="12700">
            <a:solidFill>
              <a:srgbClr val="D9E2EE"/>
            </a:solidFill>
            <a:prstDash val="solid"/>
          </a:ln>
        </p:spPr>
      </p:sp>
      <p:pic>
        <p:nvPicPr>
          <p:cNvPr id="14" name="Image 2" descr="preencoded.png">    </p:cNvPr>
          <p:cNvPicPr>
            <a:picLocks noChangeAspect="1"/>
          </p:cNvPicPr>
          <p:nvPr/>
        </p:nvPicPr>
        <p:blipFill>
          <a:blip r:embed="rId3"/>
          <a:stretch>
            <a:fillRect/>
          </a:stretch>
        </p:blipFill>
        <p:spPr>
          <a:xfrm>
            <a:off x="8211312" y="1508760"/>
            <a:ext cx="274320" cy="274320"/>
          </a:xfrm>
          <a:prstGeom prst="rect">
            <a:avLst/>
          </a:prstGeom>
        </p:spPr>
      </p:pic>
      <p:sp>
        <p:nvSpPr>
          <p:cNvPr id="15" name="Text 10"/>
          <p:cNvSpPr txBox="1"/>
          <p:nvPr/>
        </p:nvSpPr>
        <p:spPr>
          <a:xfrm>
            <a:off x="8595360" y="1481328"/>
            <a:ext cx="29443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Requisitos</a:t>
            </a:r>
            <a:endParaRPr lang="en-US" sz="1300" dirty="0"/>
          </a:p>
        </p:txBody>
      </p:sp>
      <p:sp>
        <p:nvSpPr>
          <p:cNvPr id="16" name="Text 11"/>
          <p:cNvSpPr txBox="1"/>
          <p:nvPr/>
        </p:nvSpPr>
        <p:spPr>
          <a:xfrm>
            <a:off x="8211312" y="1847088"/>
            <a:ext cx="3328416" cy="2432304"/>
          </a:xfrm>
          <a:prstGeom prst="rect">
            <a:avLst/>
          </a:prstGeom>
          <a:noFill/>
          <a:ln/>
        </p:spPr>
        <p:txBody>
          <a:bodyPr wrap="square" lIns="0" tIns="0" rIns="0" bIns="0" rtlCol="0" anchor="t"/>
          <a:lstStyle/>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El lab de hoy en entregas/apellido_nombre/s04/, push antes del domingo.</a:t>
            </a:r>
            <a:endParaRPr lang="en-US" sz="1400" dirty="0"/>
          </a:p>
          <a:p>
            <a:pPr indent="0" marL="0">
              <a:spcAft>
                <a:spcPts val="400"/>
              </a:spcAft>
              <a:buNone/>
            </a:pPr>
            <a:endParaRPr lang="en-US" sz="1400" dirty="0"/>
          </a:p>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Pensar con quién quieren equipo: los equipos de 4 se forman en la S5.</a:t>
            </a:r>
            <a:endParaRPr lang="en-US" sz="1400" dirty="0"/>
          </a:p>
        </p:txBody>
      </p:sp>
      <p:sp>
        <p:nvSpPr>
          <p:cNvPr id="17" name="Text 12"/>
          <p:cNvSpPr txBox="1"/>
          <p:nvPr/>
        </p:nvSpPr>
        <p:spPr>
          <a:xfrm>
            <a:off x="457200" y="4617720"/>
            <a:ext cx="5486400" cy="548640"/>
          </a:xfrm>
          <a:prstGeom prst="rect">
            <a:avLst/>
          </a:prstGeom>
          <a:noFill/>
          <a:ln/>
        </p:spPr>
        <p:txBody>
          <a:bodyPr wrap="square" lIns="0" tIns="0" rIns="0" bIns="0" rtlCol="0" anchor="b"/>
          <a:lstStyle/>
          <a:p>
            <a:pPr algn="l" indent="0" marL="0">
              <a:buNone/>
            </a:pPr>
            <a:r>
              <a:rPr lang="en-US" sz="2800" b="1" dirty="0">
                <a:solidFill>
                  <a:srgbClr val="12253D"/>
                </a:solidFill>
                <a:latin typeface="Calibri" pitchFamily="34" charset="0"/>
                <a:ea typeface="Calibri" pitchFamily="34" charset="-122"/>
                <a:cs typeface="Calibri" pitchFamily="34" charset="-120"/>
              </a:rPr>
              <a:t>sábado 19 · 06:59</a:t>
            </a:r>
            <a:endParaRPr lang="en-US" sz="2800" dirty="0"/>
          </a:p>
        </p:txBody>
      </p:sp>
      <p:sp>
        <p:nvSpPr>
          <p:cNvPr id="18" name="Text 13"/>
          <p:cNvSpPr txBox="1"/>
          <p:nvPr/>
        </p:nvSpPr>
        <p:spPr>
          <a:xfrm>
            <a:off x="457200" y="5166360"/>
            <a:ext cx="5486400"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la lectura, en tiempo; tarde hasta el domingo</a:t>
            </a:r>
            <a:endParaRPr lang="en-US" sz="1200" dirty="0"/>
          </a:p>
        </p:txBody>
      </p:sp>
      <p:sp>
        <p:nvSpPr>
          <p:cNvPr id="19" name="Shape 14"/>
          <p:cNvSpPr/>
          <p:nvPr/>
        </p:nvSpPr>
        <p:spPr>
          <a:xfrm>
            <a:off x="6217920" y="4892040"/>
            <a:ext cx="5486400" cy="411480"/>
          </a:xfrm>
          <a:prstGeom prst="roundRect">
            <a:avLst>
              <a:gd name="adj" fmla="val 37778"/>
            </a:avLst>
          </a:prstGeom>
          <a:solidFill>
            <a:srgbClr val="DBEAFE"/>
          </a:solidFill>
          <a:ln w="12700">
            <a:solidFill>
              <a:srgbClr val="DBEAFE"/>
            </a:solidFill>
            <a:prstDash val="solid"/>
          </a:ln>
        </p:spPr>
      </p:sp>
      <p:sp>
        <p:nvSpPr>
          <p:cNvPr id="20" name="Text 15"/>
          <p:cNvSpPr txBox="1"/>
          <p:nvPr/>
        </p:nvSpPr>
        <p:spPr>
          <a:xfrm>
            <a:off x="6217920" y="4892040"/>
            <a:ext cx="5486400" cy="41148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 preguntas + 1 hallazgo en la Discussion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Ocho preguntas que hoy ya pueden responder</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20/21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Cierre</a:t>
            </a:r>
            <a:endParaRPr lang="en-US" sz="1000" dirty="0"/>
          </a:p>
        </p:txBody>
      </p:sp>
      <p:sp>
        <p:nvSpPr>
          <p:cNvPr id="5" name="Shape 3"/>
          <p:cNvSpPr/>
          <p:nvPr/>
        </p:nvSpPr>
        <p:spPr>
          <a:xfrm>
            <a:off x="457200" y="1618488"/>
            <a:ext cx="457200" cy="457200"/>
          </a:xfrm>
          <a:prstGeom prst="ellipse">
            <a:avLst/>
          </a:prstGeom>
          <a:solidFill>
            <a:srgbClr val="DBEAFE"/>
          </a:solidFill>
          <a:ln w="12700">
            <a:solidFill>
              <a:srgbClr val="DBEAFE"/>
            </a:solidFill>
            <a:prstDash val="solid"/>
          </a:ln>
        </p:spPr>
      </p:sp>
      <p:sp>
        <p:nvSpPr>
          <p:cNvPr id="6" name="Text 4"/>
          <p:cNvSpPr txBox="1"/>
          <p:nvPr/>
        </p:nvSpPr>
        <p:spPr>
          <a:xfrm>
            <a:off x="457200" y="161848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97280" y="141732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¿Qué tres historias esconde un timeout y cuál es la única salida segura?</a:t>
            </a:r>
            <a:endParaRPr lang="en-US" sz="1400" dirty="0"/>
          </a:p>
        </p:txBody>
      </p:sp>
      <p:sp>
        <p:nvSpPr>
          <p:cNvPr id="8" name="Shape 6"/>
          <p:cNvSpPr/>
          <p:nvPr/>
        </p:nvSpPr>
        <p:spPr>
          <a:xfrm>
            <a:off x="6172200" y="1618488"/>
            <a:ext cx="457200" cy="457200"/>
          </a:xfrm>
          <a:prstGeom prst="ellipse">
            <a:avLst/>
          </a:prstGeom>
          <a:solidFill>
            <a:srgbClr val="DBEAFE"/>
          </a:solidFill>
          <a:ln w="12700">
            <a:solidFill>
              <a:srgbClr val="DBEAFE"/>
            </a:solidFill>
            <a:prstDash val="solid"/>
          </a:ln>
        </p:spPr>
      </p:sp>
      <p:sp>
        <p:nvSpPr>
          <p:cNvPr id="9" name="Text 7"/>
          <p:cNvSpPr txBox="1"/>
          <p:nvPr/>
        </p:nvSpPr>
        <p:spPr>
          <a:xfrm>
            <a:off x="6172200" y="161848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6812280" y="141732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¿Qué diferencia hay entre at-least-once y exactly-once como efecto?</a:t>
            </a:r>
            <a:endParaRPr lang="en-US" sz="1400" dirty="0"/>
          </a:p>
        </p:txBody>
      </p:sp>
      <p:sp>
        <p:nvSpPr>
          <p:cNvPr id="11" name="Shape 9"/>
          <p:cNvSpPr/>
          <p:nvPr/>
        </p:nvSpPr>
        <p:spPr>
          <a:xfrm>
            <a:off x="457200" y="2670048"/>
            <a:ext cx="457200" cy="457200"/>
          </a:xfrm>
          <a:prstGeom prst="ellipse">
            <a:avLst/>
          </a:prstGeom>
          <a:solidFill>
            <a:srgbClr val="DBEAFE"/>
          </a:solidFill>
          <a:ln w="12700">
            <a:solidFill>
              <a:srgbClr val="DBEAFE"/>
            </a:solidFill>
            <a:prstDash val="solid"/>
          </a:ln>
        </p:spPr>
      </p:sp>
      <p:sp>
        <p:nvSpPr>
          <p:cNvPr id="12" name="Text 10"/>
          <p:cNvSpPr txBox="1"/>
          <p:nvPr/>
        </p:nvSpPr>
        <p:spPr>
          <a:xfrm>
            <a:off x="457200" y="267004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97280" y="246888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¿Por qué DELETE es idempotente aunque responda 204 y luego 404?</a:t>
            </a:r>
            <a:endParaRPr lang="en-US" sz="1400" dirty="0"/>
          </a:p>
        </p:txBody>
      </p:sp>
      <p:sp>
        <p:nvSpPr>
          <p:cNvPr id="14" name="Shape 12"/>
          <p:cNvSpPr/>
          <p:nvPr/>
        </p:nvSpPr>
        <p:spPr>
          <a:xfrm>
            <a:off x="6172200" y="2670048"/>
            <a:ext cx="457200" cy="457200"/>
          </a:xfrm>
          <a:prstGeom prst="ellipse">
            <a:avLst/>
          </a:prstGeom>
          <a:solidFill>
            <a:srgbClr val="DBEAFE"/>
          </a:solidFill>
          <a:ln w="12700">
            <a:solidFill>
              <a:srgbClr val="DBEAFE"/>
            </a:solidFill>
            <a:prstDash val="solid"/>
          </a:ln>
        </p:spPr>
      </p:sp>
      <p:sp>
        <p:nvSpPr>
          <p:cNvPr id="15" name="Text 13"/>
          <p:cNvSpPr txBox="1"/>
          <p:nvPr/>
        </p:nvSpPr>
        <p:spPr>
          <a:xfrm>
            <a:off x="6172200" y="267004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4</a:t>
            </a:r>
            <a:endParaRPr lang="en-US" sz="1500" dirty="0"/>
          </a:p>
        </p:txBody>
      </p:sp>
      <p:sp>
        <p:nvSpPr>
          <p:cNvPr id="16" name="Text 14"/>
          <p:cNvSpPr txBox="1"/>
          <p:nvPr/>
        </p:nvSpPr>
        <p:spPr>
          <a:xfrm>
            <a:off x="6812280" y="246888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¿Por qué un Map en memoria no basta para las claves de idempotencia?</a:t>
            </a:r>
            <a:endParaRPr lang="en-US" sz="1400" dirty="0"/>
          </a:p>
        </p:txBody>
      </p:sp>
      <p:sp>
        <p:nvSpPr>
          <p:cNvPr id="17" name="Shape 15"/>
          <p:cNvSpPr/>
          <p:nvPr/>
        </p:nvSpPr>
        <p:spPr>
          <a:xfrm>
            <a:off x="457200" y="3721608"/>
            <a:ext cx="457200" cy="457200"/>
          </a:xfrm>
          <a:prstGeom prst="ellipse">
            <a:avLst/>
          </a:prstGeom>
          <a:solidFill>
            <a:srgbClr val="DBEAFE"/>
          </a:solidFill>
          <a:ln w="12700">
            <a:solidFill>
              <a:srgbClr val="DBEAFE"/>
            </a:solidFill>
            <a:prstDash val="solid"/>
          </a:ln>
        </p:spPr>
      </p:sp>
      <p:sp>
        <p:nvSpPr>
          <p:cNvPr id="18" name="Text 16"/>
          <p:cNvSpPr txBox="1"/>
          <p:nvPr/>
        </p:nvSpPr>
        <p:spPr>
          <a:xfrm>
            <a:off x="457200" y="372160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5</a:t>
            </a:r>
            <a:endParaRPr lang="en-US" sz="1500" dirty="0"/>
          </a:p>
        </p:txBody>
      </p:sp>
      <p:sp>
        <p:nvSpPr>
          <p:cNvPr id="19" name="Text 17"/>
          <p:cNvSpPr txBox="1"/>
          <p:nvPr/>
        </p:nvSpPr>
        <p:spPr>
          <a:xfrm>
            <a:off x="1097280" y="352044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¿Qué problema resuelve el API gateway y qué pasa si él falla?</a:t>
            </a:r>
            <a:endParaRPr lang="en-US" sz="1400" dirty="0"/>
          </a:p>
        </p:txBody>
      </p:sp>
      <p:sp>
        <p:nvSpPr>
          <p:cNvPr id="20" name="Shape 18"/>
          <p:cNvSpPr/>
          <p:nvPr/>
        </p:nvSpPr>
        <p:spPr>
          <a:xfrm>
            <a:off x="6172200" y="3721608"/>
            <a:ext cx="457200" cy="457200"/>
          </a:xfrm>
          <a:prstGeom prst="ellipse">
            <a:avLst/>
          </a:prstGeom>
          <a:solidFill>
            <a:srgbClr val="DBEAFE"/>
          </a:solidFill>
          <a:ln w="12700">
            <a:solidFill>
              <a:srgbClr val="DBEAFE"/>
            </a:solidFill>
            <a:prstDash val="solid"/>
          </a:ln>
        </p:spPr>
      </p:sp>
      <p:sp>
        <p:nvSpPr>
          <p:cNvPr id="21" name="Text 19"/>
          <p:cNvSpPr txBox="1"/>
          <p:nvPr/>
        </p:nvSpPr>
        <p:spPr>
          <a:xfrm>
            <a:off x="6172200" y="372160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6</a:t>
            </a:r>
            <a:endParaRPr lang="en-US" sz="1500" dirty="0"/>
          </a:p>
        </p:txBody>
      </p:sp>
      <p:sp>
        <p:nvSpPr>
          <p:cNvPr id="22" name="Text 20"/>
          <p:cNvSpPr txBox="1"/>
          <p:nvPr/>
        </p:nvSpPr>
        <p:spPr>
          <a:xfrm>
            <a:off x="6812280" y="352044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¿Cómo encuentra un servicio a otro si las IPs cambian, y cada cuánto late Eureka?</a:t>
            </a:r>
            <a:endParaRPr lang="en-US" sz="1400" dirty="0"/>
          </a:p>
        </p:txBody>
      </p:sp>
      <p:sp>
        <p:nvSpPr>
          <p:cNvPr id="23" name="Shape 21"/>
          <p:cNvSpPr/>
          <p:nvPr/>
        </p:nvSpPr>
        <p:spPr>
          <a:xfrm>
            <a:off x="457200" y="4773168"/>
            <a:ext cx="457200" cy="457200"/>
          </a:xfrm>
          <a:prstGeom prst="ellipse">
            <a:avLst/>
          </a:prstGeom>
          <a:solidFill>
            <a:srgbClr val="DBEAFE"/>
          </a:solidFill>
          <a:ln w="12700">
            <a:solidFill>
              <a:srgbClr val="DBEAFE"/>
            </a:solidFill>
            <a:prstDash val="solid"/>
          </a:ln>
        </p:spPr>
      </p:sp>
      <p:sp>
        <p:nvSpPr>
          <p:cNvPr id="24" name="Text 22"/>
          <p:cNvSpPr txBox="1"/>
          <p:nvPr/>
        </p:nvSpPr>
        <p:spPr>
          <a:xfrm>
            <a:off x="457200" y="477316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7</a:t>
            </a:r>
            <a:endParaRPr lang="en-US" sz="1500" dirty="0"/>
          </a:p>
        </p:txBody>
      </p:sp>
      <p:sp>
        <p:nvSpPr>
          <p:cNvPr id="25" name="Text 23"/>
          <p:cNvSpPr txBox="1"/>
          <p:nvPr/>
        </p:nvSpPr>
        <p:spPr>
          <a:xfrm>
            <a:off x="1097280" y="457200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¿Cuándo conviene un broker en lugar de una llamada directa, y qué se sacrifica?</a:t>
            </a:r>
            <a:endParaRPr lang="en-US" sz="1400" dirty="0"/>
          </a:p>
        </p:txBody>
      </p:sp>
      <p:sp>
        <p:nvSpPr>
          <p:cNvPr id="26" name="Shape 24"/>
          <p:cNvSpPr/>
          <p:nvPr/>
        </p:nvSpPr>
        <p:spPr>
          <a:xfrm>
            <a:off x="6172200" y="4773168"/>
            <a:ext cx="457200" cy="457200"/>
          </a:xfrm>
          <a:prstGeom prst="ellipse">
            <a:avLst/>
          </a:prstGeom>
          <a:solidFill>
            <a:srgbClr val="DBEAFE"/>
          </a:solidFill>
          <a:ln w="12700">
            <a:solidFill>
              <a:srgbClr val="DBEAFE"/>
            </a:solidFill>
            <a:prstDash val="solid"/>
          </a:ln>
        </p:spPr>
      </p:sp>
      <p:sp>
        <p:nvSpPr>
          <p:cNvPr id="27" name="Text 25"/>
          <p:cNvSpPr txBox="1"/>
          <p:nvPr/>
        </p:nvSpPr>
        <p:spPr>
          <a:xfrm>
            <a:off x="6172200" y="477316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8</a:t>
            </a:r>
            <a:endParaRPr lang="en-US" sz="1500" dirty="0"/>
          </a:p>
        </p:txBody>
      </p:sp>
      <p:sp>
        <p:nvSpPr>
          <p:cNvPr id="28" name="Text 26"/>
          <p:cNvSpPr txBox="1"/>
          <p:nvPr/>
        </p:nvSpPr>
        <p:spPr>
          <a:xfrm>
            <a:off x="6812280" y="457200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¿Con qué criterio se elige el tipo de base de datos de cada servicio?</a:t>
            </a:r>
            <a:endParaRPr lang="en-US" sz="1400" dirty="0"/>
          </a:p>
        </p:txBody>
      </p:sp>
      <p:sp>
        <p:nvSpPr>
          <p:cNvPr id="29" name="Text 27"/>
          <p:cNvSpPr txBox="1"/>
          <p:nvPr/>
        </p:nvSpPr>
        <p:spPr>
          <a:xfrm>
            <a:off x="457200" y="5760720"/>
            <a:ext cx="11247120" cy="36576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La que no puedan responder, esa es la que se estudia esta semana. Están respondidas en la guía.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Fuentes de la sesión</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S04 · Sistemas Distribuidos · 21/21</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Cierre</a:t>
            </a:r>
            <a:endParaRPr lang="en-US" sz="1000" dirty="0"/>
          </a:p>
        </p:txBody>
      </p:sp>
      <p:sp>
        <p:nvSpPr>
          <p:cNvPr id="5" name="Text 3"/>
          <p:cNvSpPr txBox="1"/>
          <p:nvPr/>
        </p:nvSpPr>
        <p:spPr>
          <a:xfrm>
            <a:off x="457200" y="1280160"/>
            <a:ext cx="11247120" cy="4572000"/>
          </a:xfrm>
          <a:prstGeom prst="rect">
            <a:avLst/>
          </a:prstGeom>
          <a:noFill/>
          <a:ln/>
        </p:spPr>
        <p:txBody>
          <a:bodyPr wrap="square" lIns="0" tIns="0" rIns="0" bIns="0" rtlCol="0" anchor="t"/>
          <a:lstStyle/>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Waldo, Wyant, Wollrath y Kendall. A Note on Distributed Computing. Sun Microsystems, SMLI TR-94-29, 1994 (la Lectura 2).</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Birrell y Nelson. Implementing Remote Procedure Calls. ACM TOCS 2(1), 1984.</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Fielding. Architectural Styles and the Design of Network-based Software Architectures, cap. 5. UC Irvine, 2000.</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RFC 9110, HTTP Semantics (IETF, 2022), §9.2.1 y §9.2.2 · RFC 10008, The HTTP QUERY Method (IETF, 2026).</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Stripe. Idempotent requests (docs.stripe.com) · Leach, Designing robust and predictable APIs with idempotency, 2017.</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gRPC. Google, anuncio del 26 de febrero de 2015; grpc.io, gRPC over HTTP/2 · Protocol Buffers, Encoding (protobuf.dev).</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Wiggins. The Twelve-Factor App (12factor.net), 2011 · Burns, Grant, Oppenheimer, Brewer y Wilkes. Borg, Omega, and Kubernetes. ACM Queue 14(1), 2016 (la Lectura 3).</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Ongaro y Ousterhout. In Search of an Understandable Consensus Algorithm (Raft). USENIX ATC, 2014 (la Lectura 4).</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AWS. Summary of the Amazon Kinesis Event in US-EAST-1, 25-nov-2020 · Brooker, Exponential Backoff And Jitter, 2015.</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Roblox, Return to Service 10/28-10/31 2021 · Cloudflare, outage on November 18, 2025 · Slack, Incident on 2-22-22 · Fastly, Summary of June 8 outage, 2021 · Twilio, Billing Incident Post-Mortem, 2013.</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Spring Boot 4.1, Spring Cloud 2025.1 (Gateway, Netflix, Config), Spring AMQP 4.0: documentación de referencia en docs.spring.io.</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Fowler. PolyglotPersistence, 2011 · Newman. Building Microservices, 2.ª ed., 2021 · Kleppmann. Designing Data-Intensive Applications, 2017.</a:t>
            </a:r>
            <a:endParaRPr lang="en-US" sz="1300" dirty="0"/>
          </a:p>
          <a:p>
            <a:pPr indent="0" marL="0">
              <a:spcAft>
                <a:spcPts val="700"/>
              </a:spcAft>
              <a:buNone/>
            </a:pPr>
            <a:r>
              <a:rPr lang="en-US" sz="1300" dirty="0">
                <a:solidFill>
                  <a:srgbClr val="12253D"/>
                </a:solidFill>
                <a:latin typeface="Calibri" pitchFamily="34" charset="0"/>
                <a:ea typeface="Calibri" pitchFamily="34" charset="-122"/>
                <a:cs typeface="Calibri" pitchFamily="34" charset="-120"/>
              </a:rPr>
              <a:t>· Sigelman et al. Dapper, Google 2010 · W3C Trace Context Level 1 · OpenTelemetry specification status.</a:t>
            </a:r>
            <a:endParaRPr lang="en-US" sz="1300" dirty="0"/>
          </a:p>
        </p:txBody>
      </p:sp>
      <p:sp>
        <p:nvSpPr>
          <p:cNvPr id="6" name="Text 4"/>
          <p:cNvSpPr txBox="1"/>
          <p:nvPr/>
        </p:nvSpPr>
        <p:spPr>
          <a:xfrm>
            <a:off x="457200" y="5943600"/>
            <a:ext cx="11247120" cy="365760"/>
          </a:xfrm>
          <a:prstGeom prst="rect">
            <a:avLst/>
          </a:prstGeom>
          <a:noFill/>
          <a:ln/>
        </p:spPr>
        <p:txBody>
          <a:bodyPr wrap="square" lIns="0" tIns="0" rIns="0" bIns="0" rtlCol="0" anchor="t"/>
          <a:lstStyle/>
          <a:p>
            <a:pPr indent="0" marL="0">
              <a:buNone/>
            </a:pPr>
            <a:r>
              <a:rPr lang="en-US" sz="1100" i="1" dirty="0">
                <a:solidFill>
                  <a:srgbClr val="4B6178"/>
                </a:solidFill>
                <a:latin typeface="Calibri" pitchFamily="34" charset="0"/>
                <a:ea typeface="Calibri" pitchFamily="34" charset="-122"/>
                <a:cs typeface="Calibri" pitchFamily="34" charset="-120"/>
              </a:rPr>
              <a:t>Enlaces completos y numerados en 01-investigacion.md de la S03 (103 fuentes) y en lecturas/README.md del repo del curso.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S04 · Anatomía de un sistema real, segunda parte</dc:title>
  <dc:subject>PptxGenJS Presentation</dc:subject>
  <dc:creator>Oscar Manuel Ruiz Hurtado</dc:creator>
  <cp:lastModifiedBy>Oscar Manuel Ruiz Hurtado</cp:lastModifiedBy>
  <cp:revision>1</cp:revision>
  <dcterms:created xsi:type="dcterms:W3CDTF">2026-09-06T23:44:51Z</dcterms:created>
  <dcterms:modified xsi:type="dcterms:W3CDTF">2026-09-06T23:44:51Z</dcterms:modified>
</cp:coreProperties>
</file>