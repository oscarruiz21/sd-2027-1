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después del break. Enlace con el lab: hace una hora levantaron contenedores; ahora abrimos la caja para ver qué pasa cuando esos contenedores se hablan entre sí. Tiempo: 1 minuto. Transición: "Este es el mapa de la hora y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frases: hoy abrimos la caja que vieron correr y terminamos, como cada sábado, con una decisión. Señalar que el bloque C se apoya en un mismo dibujo que se va iluminando. Prometer la decisión de FarmaYa a las 10:40. Los títulos son hipervínculos: sirven para saltar si el tiempo aprieta. Tiempo: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Interactiva, 5 minutos. Pedir el voto en el chat con una letra. La respuesta es D: latencia, memoria y concurrencia se pueden mitigar con diseño (menos charla, serializar, sincronizar); el fallo parcial no, porque "one component can fail while the others continue" y no hay agente común que sepa qué falló. Luego proyectar las dos preguntas más votadas de la Discussion #2 y responderlas en un minuto cada una. Transición: "Vamos a ver exactamente qué se rompe cuando la llamada cruza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el código es idéntico, las propiedades no. Los números son de la Tabla I de Birrell y Nelson (1984): 9 microsegundos una llamada local sin argumentos, 1 097 una RPC sin argumentos sobre Ethernet de 3 Mbit/s. Insistir en la fila de en medio: "a medias" es un estado que en un monolito no existe. Pregunta rápida al grupo: ¿alguien ha visto un cobro que "salió a medias"? Tiempo: 3 minutos. Transición: "Y cuando queda a medias, ustedes ven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el SPEI: "intenta de nuevo" después de 20 segundos cargando; ¿se fue el dinero? En SPEI existe Banxico y el comprobante CEP para salir de la duda; en su sistema no hay Banxico. Recorrer las tres historias de izquierda a derecha y cerrar con la frase del recuadro: el timeout limita la espera, no el efecto. Tiempo: 3 minutos. Transición: "Lo vamos a ver con código; predigan".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Predicción antes de correr: pedir en el chat dos cosas, qué imprime y si el servidor cobra. Dar 60 segundos. Luego correr en vivo (checklist en la guía): terminal 1 "java Servidor.java", terminal 2 "java Cliente.java". Si algo falla en la demo, la siguiente slide tiene la salida real capturada. Tiempo: 3 minutos con la corrida. Transición: "Esto fue lo que salió".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las dos terminales: el cliente lanzó HttpTimeoutException a los 2 020 ms; el servidor terminó el cobro a los 5 000. El cliente sabe que dejó de esperar y nada más. Contar Kinesis en 30 segundos: al ampliar la flota, cada servidor superó el máximo de hilos del sistema operativo; Cognito, que esperaba a Kinesis de forma bloqueante, cayó también; 17 horas. Regla: el timeout es obligatorio y corto. Pregunta: ¿y si lo subimos a 60 segundos? No resuelve la incertidumbre, la retrasa y agota hilos. Tiempo: 3 minutos. Transición: "Entonces, ¿reintento o no? Eso se llama elegir una semántica".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Explicación directa con la tabla, de arriba abajo, y luego la fórmula: exactly-once no se entrega, se construye. Analogía Oxxo: la terminal "no responde"; si no reintentas quizá no se cobró; si reintentas quizá se cobró dos veces; la caja lo resuelve con el folio del ticket, que es deduplicación. Dos Generales en una frase, sin demostración. Desmontar el error "TCP ya me da exactly-once": TCP no sabe si su aplicación procesó. Tiempo: 3 minutos. Transición: "Tres razones de ingeniería para que nadie los tome por sorpresa".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Nivel de ingeniería, para que nadie se sorprenda en producción ni en una entrevista técnica. Panel 1, la matemática: el problema de los Dos Generales (notas de sistemas distribuidos de Cambridge). A manda "atacamos a las 09:00"; B lo recibe pero sabe que A no ataca sin saber que llegó, así que responde con un ack. Si ese mensajero es capturado, B no puede atacar porque no sabe si A recibió el ack; necesita un ack del ack, y A tiene el mismo problema. Bucle infinito: ninguna cantidad finita de confirmaciones da certeza absoluta porque el último mensaje siempre puede perderse. Conclusión: entregar literalmente una sola vez con total certeza sobre una red que pierde mensajes es imposible. Panel 2, la trampa de TCP: muchos creen que TCP da exactly-once porque garantiza bytes ordenados; confunden transporte con aplicación. El kernel manda el ack de TCP en cuanto recibe los bytes; si en ese milisegundo la aplicación en Java se queda sin memoria o se va la luz antes de guardar el pago, el cliente recibió un ack y la aplicación nunca procesó. TCP no sabe si la aplicación procesó; solo asegura que los bytes llegaron al puerto. Panel 3, la frontera de Kafka: exactly-once combina productor idempotente (números de secuencia para que el broker deduplique) y transacciones con transactional.id; desde la 3.0 (KIP-679) viene activado por defecto. Funciona solo en el ciclo cerrado leer de un topic, procesar y escribir en otro topic, donde Kafka hace commit atómico. Si el consumidor hace una llamada RPC a PostgreSQL o a la API de un banco, Kafka no puede incluirla en su transacción: si guarda en PostgreSQL y cae antes de avanzar el offset, al reiniciar recibe el mismo mensaje y vuelve a llamar. El efecto se duplicó. En la frontera con cualquier sistema externo la garantía termina y el problema vuelve a ser tuyo: el receptor externo debe ser idempotente. Tiempo: 3 minutos. Transición: "Para poder reintentar necesitamos contratos; el primero que lo intentó fue 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en dos columnas. RPC: 1984, Xerox PARC; el stub es un intérprete telefónico al que se le corta la línea a media frase; Lupine es el ancestro de protoc y Grapevine el del service discovery. REST: 2000, Fielding; la dirección va en el sobre y por eso proxies y cachés pueden ayudar. Aclarar que REST no es "JSON por HTTP": es el vocabulario compartido. Tiempo: 2 minutos. Transición: "Y aquí sale la pregunta de siempre: yo uso POST para todo, ¿eso es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la respuesta preparada para el alumno que dice "pero yo uso POST para todo y devuelvo JSON, ¿eso es REST?". Eso que hace se clasifica en el Richardson Maturity Model. Nivel 0: usa HTTP solo como túnel, mandando todo por POST a un único endpoint genérico; es usar HTTP como si fuera RPC. Nivel 1: empieza a separar por recursos, con URIs distintas para cada entidad. Nivel 2: usa los verbos (GET, POST, PUT, DELETE) y los códigos de estado (200, 201, 404) con rigor; este es el estándar real de la industria hoy y es donde debe vivir su proyecto. Nivel 3: HATEOAS, donde las respuestas incluyen enlaces dinámicos para descubrir qué acciones puedes hacer a continuación; es el menos adoptado en la práctica, aunque es el único que Fielding reconoce como REST. Además, el adelanto para la próxima semana: REST domina el tráfico público, pero la filosofía de RPC regresó con muchísima fuerza para el tráfico interno entre microservicios bajo el nombre de gRPC. La diferencia es que gRPC aprendió la lección de 1984 y obliga a programar un deadline absoluto en cada llamada: si se vence, la llamada termina con DEADLINE_EXCEEDED en vez de esperar para siempre como el RPC de Birrell y Nelson. Tiempo: 2 minutos. Transición: "Con REST en su lugar, ahora la palabra de la que depende todo el reintento: idempotencia".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instala el término, con calma, porque de él dependen el reintento, la clave de Stripe, el broker y las sagas. Definición: f de f de x es igual a f de x; repetir no cambia el estado más allá de la primera vez. Prueba rápida para cualquier operación: ejecutarla dos veces mentalmente y comparar el estado final. Recorrer los pares de izquierda a derecha: el elevador contra el apagador tipo toggle; asignar contra incrementar (la forma más barata de ser idempotente es la asignación absoluta); PUT contra POST; DELETE contra mandar un correo; marcar contra crear. La última fila es el truco de la sesión: cualquier operación no idempotente se vuelve idempotente si lleva un identificador único y el receptor recuerda cuáles ya procesó; de ahí sale Idempotency-Key en la slide 15. Las dos confusiones: idempotente no es misma respuesta (DELETE responde 204 y luego 404 con el mismo efecto) ni inofensivo (DELETE cambia el estado). Pregunta rápida al grupo: ¿"apagar la luz" es idempotente? Sí; ¿"cambiar la luz"? No. Tiempo: 2 minutos. Transición: "Con la palabra clara, el RFC de HTTP la usa para decidir qué se reintenta".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propiedades distintas: seguro es no cambiar nada (GET); idempotente es que repetir no cambia más (PUT, DELETE). DELETE cambia estado y es idempotente, así que "idempotente" no significa "inofensivo". Ejemplo del elevador: apretar cinco veces no trae cinco elevadores, aunque el botón ya iluminado no encienda nada nuevo (misma respuesta no es la definición). QUERY ya es RFC 10008 desde junio de 2026, consulta con cuerpo, segura e idempotente. Tiempo: 3 minutos. Transición: "Voten".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Interactiva, 3 minutos. Respuesta: A (asignación absoluta), C (borrar dos veces deja lo mismo) y D (lectura). B no: dos abonos son 200 pesos. Dejar que discutan B: "¿y si el segundo POST se perdió en la ida?"; justo por eso la siguiente slide. Tiempo: 3 minutos. Transición: "Para reintentar B sin cobrar doble, la industria inventó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resuelto con narración, siguiendo las flechas de arriba abajo. Lo importante: la clave se genera una vez por intención (el usuario apretó "pagar" una vez), no por intento de red. El servidor guarda clave y respuesta; el reintento recibe la respuesta guardada sin volver a cobrar. Datos duros de Stripe: 24 horas de retención; 409 Conflict si la primera petición sigue en vuelo; error idempotency_error si cambian los parámetros con la misma clave. Pregunta: ¿qué pasa si el cliente genera una clave nueva en cada reintento? Se rompe todo: cobra dos veces. Tiempo: 4 minutos. Transición: "Y ahora la parte que separa el juguete de lo real: dónde se guarda esa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Nombrar la carrera: TOCTOU, time-of-check to time-of-use. Dos peticiones a 5 ms pasan la comprobación del Map y ambas cobran; además, con dos réplicas hay dos mapas. La solución es que el INSERT sea a la vez comprobación y reserva: la restricción UNIQUE la serializa la base de datos, y funciona con N réplicas. Leer las dos líneas resaltadas: saveAndFlush fuerza el INSERT ahora; DataIntegrityViolationException es la señal de "ya vista". Pregunta: ¿y si guardamos la clave en Redis con SET NX? También sirve, es la misma idea: la reserva atómica vive fuera del proceso. Tiempo: 4 minutos. Transición: "Suficiente teoría: vamos a ver el sistema corriendo".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 "en producción" del plan maestro: hoy se observa por fuera; desde la S4 trabajan sobre él. Checklist (9 minutos): 1) docker compose ps con todo arriba; 2) una petición por el gateway (curl al 8080) y la misma sin gateway para ver que el servicio interno no está expuesto; 3) el dashboard de Eureka (8761) con cada servicio y sus instancias; 4) la consola de RabbitMQ (15672): colas y consumidores; 5) una traza en Jaeger (16686): la petición cruzando gateway, transferencias y cuentas. Si el sistema no levanta, usar las capturas de respaldo de la guía. Transición: "Cada pieza que vieron existe por un problema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dibujo que se va a repetir seis veces: clientes a la izquierda, gateway, los tres servicios de Mexi Banco con su almacén, el broker en ámbar entre transferencias y notificaciones, y las piezas transversales a la derecha. Cada número rojo es un problema que el monolito no tenía; cada uno tiene una pieza con nombre. Leer las seis preguntas en voz alta. Tiempo: 3 minutos. Transición: "Problema 1: la puerta".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Ventanilla única del banco: identificación, caja correcta, no pasan 500 personas a la vez, y el cliente nunca ve cuántas oficinas hay detrás. En el sistema de referencia todas las URLs de la demo pasaron por el 8080. El costo: un solo punto que si falla deja a todos afuera, como Cloudflare en noviembre de 2025. Error común: "gateway = balanceador"; trabaja en capa 7 y los servicios siguen validando. Tiempo: 3 minutos. Transición: "Problema 2: encontrarse".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tortillería de la esquina es un nombre; Insurgentes 40 es una dirección. Anotar la IP en el código es guardar el número de un celular rentado. El registro es la lista de asistencia: cada instancia firma cada 30 segundos; si deja de firmar, a los 90 se le borra, aunque un heartbeat perdido no prueba que murió. En la demo vieron el dashboard de Eureka en el 8761. Error común: "con DNS ya está resuelto": hay cachés y TTL en cada capa, incluida la JVM. Tiempo: 3 minutos. Transición: "Problema 3: la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Válvula: si falta tiempo, una frase desde la slide anterior. El uniforme de Oxxo es igual en todas las sucursales; el gafete se lo dan al llegar. Factor III de 12factor.net (lectura de la S4). La configuración es código con mayor radio de explosión: se versiona, se valida y se despliega por etapas, como enseñó Fastly. Tiempo: 2 minutos. Transición: "Problema 4: el otro está caído".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libreta de pedidos de la tortillería: el cliente anota y se va sin necesitar al tortillero libre; el tortillero tacha al entregar (ack tras procesar); el pedido ilegible va a otra hoja (DLQ). A diferencia de la libreta, el broker reentrega: si el consumidor muere antes del ack, el mensaje vuelve, por eso el consumidor deduplica (otra vez idempotencia). Cola contra log: en la cola el ack destruye el mensaje; en Kafka leer no borra y cada grupo avanza su offset. Error común: "la cola reintenta hasta que funcione": un mensaje venenoso bloquea a los demás, de ahí el límite y la DLQ. Tiempo: 4 minutos. Transición: "Problema 5: leer lo mismo mil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lista de precios junto a la caja: si el precio está, cobras (hit); si no, llamas al proveedor y lo anotas (miss); "válido hasta" es el TTL. Una caché es una copia que se permite estar desactualizada; lo difícil no es guardar, es invalidar, y el TTL es la red de seguridad. La estampida: si la caché se vacía de golpe todo va al origen (Slack 2022). Se mide en la S9. Error común: "invalidar es borrar la llave": hay carreras entre escribir la base y borrar la caché. Tiempo: 3 minutos. Transición: "Y el sexto problema: ver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guía del paquete: los logs son la bitácora de cada bodega, las métricas el tablero de la empresa y la traza la línea de tiempo del paquete por todas las bodegas. Sin un identificador que viaje con la petición hay veinte bitácoras y ninguna historia; ese identificador es el trace id de traceparent. En la demo vieron una traza en Jaeger. Se instrumenta en la S8. Error común: "con logs basta". Tiempo: 3 minutos. Transición: si hay tiempo, "diseñen"; si no,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Válvula: se salta si el reloj aprieta. Parejas en salas o en el chat, 3 minutos, dos parejas comparten. Lo que se busca: que aparezca el broker entre transferencias y notificaciones, que el consumidor confirme (ack) después de mandar el SMS y que deduplique porque el broker reentrega. Cerrar con la pregunta de sacrificio: el SMS ya no es inmediato. Tiempo: 5 minutos. Transición: "Falta hablar de dónde viven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muebles del banco de barrio: libro mayor, expediente por cliente, cajita de fichas de turno, archivero de estadísticas, mapa de avales y bodega de contratos escaneados; ningún mueble sirve para todo. En el mapa: cuentas y transferencias en PostgreSQL (libro mayor, UNIQUE), notificaciones en MongoDB (documento completo por lectura), Redis como caché. La base compartida es el antipatrón clásico: acopla esquemas y nadie puede desplegar solo. Lo que se paga: no hay transacción entre almacenes; Twilio (2013) reconstruyó saldos porque la verdad vivía en una relacional aparte. Error común: "NoSQL es más rápido"; rápido sin decir para qué consulta no significa nada. Tiempo: 3 minutos. Transición: "El menú".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referencia; si falta tiempo, se manda a leer en casa. Recorrer solo las filas relacional, documental y llave-valor (son las tres del sistema de referencia) y dejar las otras nombradas. El criterio es el patrón de acceso: cómo se escribe, cómo se lee, qué se pregunta; no la moda del motor. Tiempo: 3 minutos. Transición: "Juntemos todo en un dibujo".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en 2 minutos con el dibujo completo: una frase por pieza, siguiendo los chips de abajo. Recordar dónde se profundiza cada una: caché y datos en S9, broker en S10 y S11, observabilidad y resiliencia en S8, consistencia en S6. Transición: "Y ahora, como cada sábado, la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Ritual de 12 minutos, siempre al mismo momento: 4 minutos para decidir por equipo en el chat con el formato de tres líneas, 2 equipos defienden 2 minutos cada uno, y el profesor mueve el piso ("¿y si la pasarela NO acepta Idempotency-Key?", "¿y si el 30 % de los pedidos son urgentes?"). No hay respuesta correcta: se evalúa que nombren el requisito y el sacrificio. Conectar con la sesión: A es at-least-once y exige la clave de la slide 15; B es at-most-once; C es el broker de la slide 22. Cerrar: "cada sesión termina con una decisión, no con un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Lanzamiento de la lectura con mecánica: 2 preguntas + 1 hallazgo antes del jueves 10 de septiembre a las 23:59 en la Discussion de la semana. Adelanto de la S4: el mismo objeto pesa 38 bytes en JSON y 9 en Protobuf, y ahí empieza gRPC. Requisito: Docker funcionando. Tiempo: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1 minuto: leer las ocho a velocidad; la que no puedan responder es la que se estudia. Son las preguntas del exit ticket de la guía. Despedida y recordatorio de la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referencias; no se lee en clase. Los enlaces completos están en el informe de investigación de la sesión y en lecturas/README.md del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26.xml"/><Relationship Id="rId7" Type="http://schemas.openxmlformats.org/officeDocument/2006/relationships/slide" Target="slide29.xml"/><Relationship Id="rId8" Type="http://schemas.openxmlformats.org/officeDocument/2006/relationships/slide" Target="slide30.xml"/><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slideLayout" Target="../slideLayouts/slideLayout1.xml"/><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slideLayout" Target="../slideLayouts/slideLayout1.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slideLayout" Target="../slideLayouts/slideLayout1.xml"/><Relationship Id="rId1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slideLayout" Target="../slideLayouts/slideLayout1.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2960" y="1600200"/>
            <a:ext cx="6949440" cy="3200400"/>
          </a:xfrm>
          <a:prstGeom prst="roundRect">
            <a:avLst/>
          </a:prstGeom>
          <a:solidFill>
            <a:srgbClr val="FFFFFF"/>
          </a:solidFill>
          <a:ln w="12700">
            <a:solidFill>
              <a:srgbClr val="FFFFFF"/>
            </a:solidFill>
            <a:prstDash val="solid"/>
          </a:ln>
        </p:spPr>
      </p:sp>
      <p:sp>
        <p:nvSpPr>
          <p:cNvPr id="3" name="Text 1"/>
          <p:cNvSpPr txBox="1"/>
          <p:nvPr/>
        </p:nvSpPr>
        <p:spPr>
          <a:xfrm>
            <a:off x="1143000" y="1828800"/>
            <a:ext cx="6400800" cy="365760"/>
          </a:xfrm>
          <a:prstGeom prst="rect">
            <a:avLst/>
          </a:prstGeom>
          <a:noFill/>
          <a:ln/>
        </p:spPr>
        <p:txBody>
          <a:bodyPr wrap="square" lIns="0" tIns="0" rIns="0" bIns="0" rtlCol="0" anchor="t"/>
          <a:lstStyle/>
          <a:p>
            <a:pPr indent="0" marL="0">
              <a:buNone/>
            </a:pPr>
            <a:r>
              <a:rPr lang="en-US" sz="1400" b="1" dirty="0">
                <a:solidFill>
                  <a:srgbClr val="4B6178"/>
                </a:solidFill>
                <a:latin typeface="Calibri" pitchFamily="34" charset="0"/>
                <a:ea typeface="Calibri" pitchFamily="34" charset="-122"/>
                <a:cs typeface="Calibri" pitchFamily="34" charset="-120"/>
              </a:rPr>
              <a:t>Sistemas Distribuidos 2027-1 · Grupo 2 · Sesión 3</a:t>
            </a:r>
            <a:endParaRPr lang="en-US" sz="1400" dirty="0"/>
          </a:p>
        </p:txBody>
      </p:sp>
      <p:sp>
        <p:nvSpPr>
          <p:cNvPr id="4" name="Text 2"/>
          <p:cNvSpPr txBox="1"/>
          <p:nvPr/>
        </p:nvSpPr>
        <p:spPr>
          <a:xfrm>
            <a:off x="1143000" y="2240280"/>
            <a:ext cx="6400800" cy="822960"/>
          </a:xfrm>
          <a:prstGeom prst="rect">
            <a:avLst/>
          </a:prstGeom>
          <a:noFill/>
          <a:ln/>
        </p:spPr>
        <p:txBody>
          <a:bodyPr wrap="square" lIns="0" tIns="0" rIns="0" bIns="0" rtlCol="0" anchor="t"/>
          <a:lstStyle/>
          <a:p>
            <a:pPr indent="0" marL="0">
              <a:buNone/>
            </a:pPr>
            <a:r>
              <a:rPr lang="en-US" sz="4000" b="1" dirty="0">
                <a:solidFill>
                  <a:srgbClr val="12253D"/>
                </a:solidFill>
                <a:latin typeface="Calibri" pitchFamily="34" charset="0"/>
                <a:ea typeface="Calibri" pitchFamily="34" charset="-122"/>
                <a:cs typeface="Calibri" pitchFamily="34" charset="-120"/>
              </a:rPr>
              <a:t>Anatomía de un sistema real</a:t>
            </a:r>
            <a:endParaRPr lang="en-US" sz="4000" dirty="0"/>
          </a:p>
        </p:txBody>
      </p:sp>
      <p:sp>
        <p:nvSpPr>
          <p:cNvPr id="5" name="Text 3"/>
          <p:cNvSpPr txBox="1"/>
          <p:nvPr/>
        </p:nvSpPr>
        <p:spPr>
          <a:xfrm>
            <a:off x="1143000" y="3063240"/>
            <a:ext cx="6400800" cy="457200"/>
          </a:xfrm>
          <a:prstGeom prst="rect">
            <a:avLst/>
          </a:prstGeom>
          <a:noFill/>
          <a:ln/>
        </p:spPr>
        <p:txBody>
          <a:bodyPr wrap="square" lIns="0" tIns="0" rIns="0" bIns="0" rtlCol="0" anchor="t"/>
          <a:lstStyle/>
          <a:p>
            <a:pPr indent="0" marL="0">
              <a:buNone/>
            </a:pPr>
            <a:r>
              <a:rPr lang="en-US" sz="1800" dirty="0">
                <a:solidFill>
                  <a:srgbClr val="4B6178"/>
                </a:solidFill>
                <a:latin typeface="Calibri" pitchFamily="34" charset="0"/>
                <a:ea typeface="Calibri" pitchFamily="34" charset="-122"/>
                <a:cs typeface="Calibri" pitchFamily="34" charset="-120"/>
              </a:rPr>
              <a:t>Cómo se hablan los servicios y las piezas que los rodean</a:t>
            </a:r>
            <a:endParaRPr lang="en-US" sz="1800" dirty="0"/>
          </a:p>
        </p:txBody>
      </p:sp>
      <p:sp>
        <p:nvSpPr>
          <p:cNvPr id="6" name="Text 4"/>
          <p:cNvSpPr txBox="1"/>
          <p:nvPr/>
        </p:nvSpPr>
        <p:spPr>
          <a:xfrm>
            <a:off x="1143000" y="4160520"/>
            <a:ext cx="6400800" cy="36576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Sábado 5 de septiembre de 2026 · Prof. Oscar Ruiz · FI-UNAM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El mapa de la sesión: 90 minutos, una decisión al final</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2/32</a:t>
            </a:r>
            <a:endParaRPr lang="en-US" sz="1000" dirty="0"/>
          </a:p>
        </p:txBody>
      </p:sp>
      <p:sp>
        <p:nvSpPr>
          <p:cNvPr id="4" name="Shape 2"/>
          <p:cNvSpPr/>
          <p:nvPr/>
        </p:nvSpPr>
        <p:spPr>
          <a:xfrm>
            <a:off x="457200" y="1371600"/>
            <a:ext cx="5440680" cy="1024128"/>
          </a:xfrm>
          <a:prstGeom prst="roundRect">
            <a:avLst>
              <a:gd name="adj" fmla="val 7143"/>
            </a:avLst>
          </a:prstGeom>
          <a:solidFill>
            <a:srgbClr val="FFFFFF"/>
          </a:solidFill>
          <a:ln w="12700">
            <a:solidFill>
              <a:srgbClr val="D9E2EE"/>
            </a:solidFill>
            <a:prstDash val="solid"/>
          </a:ln>
        </p:spPr>
      </p:sp>
      <p:sp>
        <p:nvSpPr>
          <p:cNvPr id="5" name="Shape 3"/>
          <p:cNvSpPr/>
          <p:nvPr/>
        </p:nvSpPr>
        <p:spPr>
          <a:xfrm>
            <a:off x="621792" y="1591056"/>
            <a:ext cx="566928" cy="566928"/>
          </a:xfrm>
          <a:prstGeom prst="ellipse">
            <a:avLst/>
          </a:prstGeom>
          <a:solidFill>
            <a:srgbClr val="E8EEF6"/>
          </a:solidFill>
          <a:ln w="12700">
            <a:solidFill>
              <a:srgbClr val="E8EEF6"/>
            </a:solidFill>
            <a:prstDash val="solid"/>
          </a:ln>
        </p:spPr>
      </p:sp>
      <p:sp>
        <p:nvSpPr>
          <p:cNvPr id="6" name="Text 4"/>
          <p:cNvSpPr txBox="1"/>
          <p:nvPr/>
        </p:nvSpPr>
        <p:spPr>
          <a:xfrm>
            <a:off x="621792" y="1591056"/>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0</a:t>
            </a:r>
            <a:endParaRPr lang="en-US" sz="1800" dirty="0"/>
          </a:p>
        </p:txBody>
      </p:sp>
      <p:sp>
        <p:nvSpPr>
          <p:cNvPr id="7" name="Text 5">
            <a:hlinkClick r:id="rId1" tooltip="" action="ppaction://hlinksldjump"/>
          </p:cNvPr>
          <p:cNvSpPr txBox="1"/>
          <p:nvPr/>
        </p:nvSpPr>
        <p:spPr>
          <a:xfrm>
            <a:off x="1371600" y="1517904"/>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La pregunta de la semana</a:t>
            </a:r>
            <a:endParaRPr lang="en-US" sz="1600" dirty="0"/>
          </a:p>
        </p:txBody>
      </p:sp>
      <p:sp>
        <p:nvSpPr>
          <p:cNvPr id="8" name="Text 6"/>
          <p:cNvSpPr txBox="1"/>
          <p:nvPr/>
        </p:nvSpPr>
        <p:spPr>
          <a:xfrm>
            <a:off x="1371600" y="1901952"/>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Waldo 1994</a:t>
            </a:r>
            <a:endParaRPr lang="en-US" sz="1200" dirty="0"/>
          </a:p>
        </p:txBody>
      </p:sp>
      <p:sp>
        <p:nvSpPr>
          <p:cNvPr id="9" name="Shape 7"/>
          <p:cNvSpPr/>
          <p:nvPr/>
        </p:nvSpPr>
        <p:spPr>
          <a:xfrm>
            <a:off x="4892040" y="1719072"/>
            <a:ext cx="868680" cy="310896"/>
          </a:xfrm>
          <a:prstGeom prst="roundRect">
            <a:avLst>
              <a:gd name="adj" fmla="val 50000"/>
            </a:avLst>
          </a:prstGeom>
          <a:solidFill>
            <a:srgbClr val="E8EEF6"/>
          </a:solidFill>
          <a:ln w="12700">
            <a:solidFill>
              <a:srgbClr val="E8EEF6"/>
            </a:solidFill>
            <a:prstDash val="solid"/>
          </a:ln>
        </p:spPr>
      </p:sp>
      <p:sp>
        <p:nvSpPr>
          <p:cNvPr id="10" name="Text 8"/>
          <p:cNvSpPr txBox="1"/>
          <p:nvPr/>
        </p:nvSpPr>
        <p:spPr>
          <a:xfrm>
            <a:off x="4892040" y="1719072"/>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5 min</a:t>
            </a:r>
            <a:endParaRPr lang="en-US" sz="1100" dirty="0"/>
          </a:p>
        </p:txBody>
      </p:sp>
      <p:sp>
        <p:nvSpPr>
          <p:cNvPr id="11" name="Shape 9"/>
          <p:cNvSpPr/>
          <p:nvPr/>
        </p:nvSpPr>
        <p:spPr>
          <a:xfrm>
            <a:off x="6172200" y="1371600"/>
            <a:ext cx="5440680" cy="1024128"/>
          </a:xfrm>
          <a:prstGeom prst="roundRect">
            <a:avLst>
              <a:gd name="adj" fmla="val 7143"/>
            </a:avLst>
          </a:prstGeom>
          <a:solidFill>
            <a:srgbClr val="FFFFFF"/>
          </a:solidFill>
          <a:ln w="12700">
            <a:solidFill>
              <a:srgbClr val="D9E2EE"/>
            </a:solidFill>
            <a:prstDash val="solid"/>
          </a:ln>
        </p:spPr>
      </p:sp>
      <p:sp>
        <p:nvSpPr>
          <p:cNvPr id="12" name="Shape 10"/>
          <p:cNvSpPr/>
          <p:nvPr/>
        </p:nvSpPr>
        <p:spPr>
          <a:xfrm>
            <a:off x="6336792" y="1591056"/>
            <a:ext cx="566928" cy="566928"/>
          </a:xfrm>
          <a:prstGeom prst="ellipse">
            <a:avLst/>
          </a:prstGeom>
          <a:solidFill>
            <a:srgbClr val="E8EEF6"/>
          </a:solidFill>
          <a:ln w="12700">
            <a:solidFill>
              <a:srgbClr val="E8EEF6"/>
            </a:solidFill>
            <a:prstDash val="solid"/>
          </a:ln>
        </p:spPr>
      </p:sp>
      <p:sp>
        <p:nvSpPr>
          <p:cNvPr id="13" name="Text 11"/>
          <p:cNvSpPr txBox="1"/>
          <p:nvPr/>
        </p:nvSpPr>
        <p:spPr>
          <a:xfrm>
            <a:off x="6336792" y="1591056"/>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A</a:t>
            </a:r>
            <a:endParaRPr lang="en-US" sz="1800" dirty="0"/>
          </a:p>
        </p:txBody>
      </p:sp>
      <p:sp>
        <p:nvSpPr>
          <p:cNvPr id="14" name="Text 12">
            <a:hlinkClick r:id="rId2" tooltip="" action="ppaction://hlinksldjump"/>
          </p:cNvPr>
          <p:cNvSpPr txBox="1"/>
          <p:nvPr/>
        </p:nvSpPr>
        <p:spPr>
          <a:xfrm>
            <a:off x="7086600" y="1517904"/>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La red no es una llamada local</a:t>
            </a:r>
            <a:endParaRPr lang="en-US" sz="1600" dirty="0"/>
          </a:p>
        </p:txBody>
      </p:sp>
      <p:sp>
        <p:nvSpPr>
          <p:cNvPr id="15" name="Text 13"/>
          <p:cNvSpPr txBox="1"/>
          <p:nvPr/>
        </p:nvSpPr>
        <p:spPr>
          <a:xfrm>
            <a:off x="7086600" y="1901952"/>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timeout, semánticas, exactly-once</a:t>
            </a:r>
            <a:endParaRPr lang="en-US" sz="1200" dirty="0"/>
          </a:p>
        </p:txBody>
      </p:sp>
      <p:sp>
        <p:nvSpPr>
          <p:cNvPr id="16" name="Shape 14"/>
          <p:cNvSpPr/>
          <p:nvPr/>
        </p:nvSpPr>
        <p:spPr>
          <a:xfrm>
            <a:off x="10607040" y="1719072"/>
            <a:ext cx="868680" cy="310896"/>
          </a:xfrm>
          <a:prstGeom prst="roundRect">
            <a:avLst>
              <a:gd name="adj" fmla="val 50000"/>
            </a:avLst>
          </a:prstGeom>
          <a:solidFill>
            <a:srgbClr val="E8EEF6"/>
          </a:solidFill>
          <a:ln w="12700">
            <a:solidFill>
              <a:srgbClr val="E8EEF6"/>
            </a:solidFill>
            <a:prstDash val="solid"/>
          </a:ln>
        </p:spPr>
      </p:sp>
      <p:sp>
        <p:nvSpPr>
          <p:cNvPr id="17" name="Text 15"/>
          <p:cNvSpPr txBox="1"/>
          <p:nvPr/>
        </p:nvSpPr>
        <p:spPr>
          <a:xfrm>
            <a:off x="10607040" y="1719072"/>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17 min</a:t>
            </a:r>
            <a:endParaRPr lang="en-US" sz="1100" dirty="0"/>
          </a:p>
        </p:txBody>
      </p:sp>
      <p:sp>
        <p:nvSpPr>
          <p:cNvPr id="18" name="Shape 16"/>
          <p:cNvSpPr/>
          <p:nvPr/>
        </p:nvSpPr>
        <p:spPr>
          <a:xfrm>
            <a:off x="457200" y="2578608"/>
            <a:ext cx="5440680" cy="1024128"/>
          </a:xfrm>
          <a:prstGeom prst="roundRect">
            <a:avLst>
              <a:gd name="adj" fmla="val 7143"/>
            </a:avLst>
          </a:prstGeom>
          <a:solidFill>
            <a:srgbClr val="FFFFFF"/>
          </a:solidFill>
          <a:ln w="12700">
            <a:solidFill>
              <a:srgbClr val="D9E2EE"/>
            </a:solidFill>
            <a:prstDash val="solid"/>
          </a:ln>
        </p:spPr>
      </p:sp>
      <p:sp>
        <p:nvSpPr>
          <p:cNvPr id="19" name="Shape 17"/>
          <p:cNvSpPr/>
          <p:nvPr/>
        </p:nvSpPr>
        <p:spPr>
          <a:xfrm>
            <a:off x="621792" y="2798064"/>
            <a:ext cx="566928" cy="566928"/>
          </a:xfrm>
          <a:prstGeom prst="ellipse">
            <a:avLst/>
          </a:prstGeom>
          <a:solidFill>
            <a:srgbClr val="E8EEF6"/>
          </a:solidFill>
          <a:ln w="12700">
            <a:solidFill>
              <a:srgbClr val="E8EEF6"/>
            </a:solidFill>
            <a:prstDash val="solid"/>
          </a:ln>
        </p:spPr>
      </p:sp>
      <p:sp>
        <p:nvSpPr>
          <p:cNvPr id="20" name="Text 18"/>
          <p:cNvSpPr txBox="1"/>
          <p:nvPr/>
        </p:nvSpPr>
        <p:spPr>
          <a:xfrm>
            <a:off x="621792" y="2798064"/>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B</a:t>
            </a:r>
            <a:endParaRPr lang="en-US" sz="1800" dirty="0"/>
          </a:p>
        </p:txBody>
      </p:sp>
      <p:sp>
        <p:nvSpPr>
          <p:cNvPr id="21" name="Text 19">
            <a:hlinkClick r:id="rId3" tooltip="" action="ppaction://hlinksldjump"/>
          </p:cNvPr>
          <p:cNvSpPr txBox="1"/>
          <p:nvPr/>
        </p:nvSpPr>
        <p:spPr>
          <a:xfrm>
            <a:off x="1371600" y="2724912"/>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REST e idempotencia</a:t>
            </a:r>
            <a:endParaRPr lang="en-US" sz="1600" dirty="0"/>
          </a:p>
        </p:txBody>
      </p:sp>
      <p:sp>
        <p:nvSpPr>
          <p:cNvPr id="22" name="Text 20"/>
          <p:cNvSpPr txBox="1"/>
          <p:nvPr/>
        </p:nvSpPr>
        <p:spPr>
          <a:xfrm>
            <a:off x="1371600" y="3108960"/>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Richardson, RFC 9110, Idempotency-Key</a:t>
            </a:r>
            <a:endParaRPr lang="en-US" sz="1200" dirty="0"/>
          </a:p>
        </p:txBody>
      </p:sp>
      <p:sp>
        <p:nvSpPr>
          <p:cNvPr id="23" name="Shape 21"/>
          <p:cNvSpPr/>
          <p:nvPr/>
        </p:nvSpPr>
        <p:spPr>
          <a:xfrm>
            <a:off x="4892040" y="2926080"/>
            <a:ext cx="868680" cy="310896"/>
          </a:xfrm>
          <a:prstGeom prst="roundRect">
            <a:avLst>
              <a:gd name="adj" fmla="val 50000"/>
            </a:avLst>
          </a:prstGeom>
          <a:solidFill>
            <a:srgbClr val="E8EEF6"/>
          </a:solidFill>
          <a:ln w="12700">
            <a:solidFill>
              <a:srgbClr val="E8EEF6"/>
            </a:solidFill>
            <a:prstDash val="solid"/>
          </a:ln>
        </p:spPr>
      </p:sp>
      <p:sp>
        <p:nvSpPr>
          <p:cNvPr id="24" name="Text 22"/>
          <p:cNvSpPr txBox="1"/>
          <p:nvPr/>
        </p:nvSpPr>
        <p:spPr>
          <a:xfrm>
            <a:off x="4892040" y="2926080"/>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17 min</a:t>
            </a:r>
            <a:endParaRPr lang="en-US" sz="1100" dirty="0"/>
          </a:p>
        </p:txBody>
      </p:sp>
      <p:sp>
        <p:nvSpPr>
          <p:cNvPr id="25" name="Shape 23"/>
          <p:cNvSpPr/>
          <p:nvPr/>
        </p:nvSpPr>
        <p:spPr>
          <a:xfrm>
            <a:off x="6172200" y="2578608"/>
            <a:ext cx="5440680" cy="1024128"/>
          </a:xfrm>
          <a:prstGeom prst="roundRect">
            <a:avLst>
              <a:gd name="adj" fmla="val 7143"/>
            </a:avLst>
          </a:prstGeom>
          <a:solidFill>
            <a:srgbClr val="FFFFFF"/>
          </a:solidFill>
          <a:ln w="12700">
            <a:solidFill>
              <a:srgbClr val="D9E2EE"/>
            </a:solidFill>
            <a:prstDash val="solid"/>
          </a:ln>
        </p:spPr>
      </p:sp>
      <p:sp>
        <p:nvSpPr>
          <p:cNvPr id="26" name="Shape 24"/>
          <p:cNvSpPr/>
          <p:nvPr/>
        </p:nvSpPr>
        <p:spPr>
          <a:xfrm>
            <a:off x="6336792" y="2798064"/>
            <a:ext cx="566928" cy="566928"/>
          </a:xfrm>
          <a:prstGeom prst="ellipse">
            <a:avLst/>
          </a:prstGeom>
          <a:solidFill>
            <a:srgbClr val="E8EEF6"/>
          </a:solidFill>
          <a:ln w="12700">
            <a:solidFill>
              <a:srgbClr val="E8EEF6"/>
            </a:solidFill>
            <a:prstDash val="solid"/>
          </a:ln>
        </p:spPr>
      </p:sp>
      <p:sp>
        <p:nvSpPr>
          <p:cNvPr id="27" name="Text 25"/>
          <p:cNvSpPr txBox="1"/>
          <p:nvPr/>
        </p:nvSpPr>
        <p:spPr>
          <a:xfrm>
            <a:off x="6336792" y="2798064"/>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D</a:t>
            </a:r>
            <a:endParaRPr lang="en-US" sz="1800" dirty="0"/>
          </a:p>
        </p:txBody>
      </p:sp>
      <p:sp>
        <p:nvSpPr>
          <p:cNvPr id="28" name="Text 26">
            <a:hlinkClick r:id="rId4" tooltip="" action="ppaction://hlinksldjump"/>
          </p:cNvPr>
          <p:cNvSpPr txBox="1"/>
          <p:nvPr/>
        </p:nvSpPr>
        <p:spPr>
          <a:xfrm>
            <a:off x="7086600" y="2724912"/>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Demo: el sistema por fuera</a:t>
            </a:r>
            <a:endParaRPr lang="en-US" sz="1600" dirty="0"/>
          </a:p>
        </p:txBody>
      </p:sp>
      <p:sp>
        <p:nvSpPr>
          <p:cNvPr id="29" name="Text 27"/>
          <p:cNvSpPr txBox="1"/>
          <p:nvPr/>
        </p:nvSpPr>
        <p:spPr>
          <a:xfrm>
            <a:off x="7086600" y="3108960"/>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caja negra</a:t>
            </a:r>
            <a:endParaRPr lang="en-US" sz="1200" dirty="0"/>
          </a:p>
        </p:txBody>
      </p:sp>
      <p:sp>
        <p:nvSpPr>
          <p:cNvPr id="30" name="Shape 28"/>
          <p:cNvSpPr/>
          <p:nvPr/>
        </p:nvSpPr>
        <p:spPr>
          <a:xfrm>
            <a:off x="10607040" y="2926080"/>
            <a:ext cx="868680" cy="310896"/>
          </a:xfrm>
          <a:prstGeom prst="roundRect">
            <a:avLst>
              <a:gd name="adj" fmla="val 50000"/>
            </a:avLst>
          </a:prstGeom>
          <a:solidFill>
            <a:srgbClr val="E8EEF6"/>
          </a:solidFill>
          <a:ln w="12700">
            <a:solidFill>
              <a:srgbClr val="E8EEF6"/>
            </a:solidFill>
            <a:prstDash val="solid"/>
          </a:ln>
        </p:spPr>
      </p:sp>
      <p:sp>
        <p:nvSpPr>
          <p:cNvPr id="31" name="Text 29"/>
          <p:cNvSpPr txBox="1"/>
          <p:nvPr/>
        </p:nvSpPr>
        <p:spPr>
          <a:xfrm>
            <a:off x="10607040" y="2926080"/>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8 min</a:t>
            </a:r>
            <a:endParaRPr lang="en-US" sz="1100" dirty="0"/>
          </a:p>
        </p:txBody>
      </p:sp>
      <p:sp>
        <p:nvSpPr>
          <p:cNvPr id="32" name="Shape 30"/>
          <p:cNvSpPr/>
          <p:nvPr/>
        </p:nvSpPr>
        <p:spPr>
          <a:xfrm>
            <a:off x="457200" y="3785616"/>
            <a:ext cx="5440680" cy="1024128"/>
          </a:xfrm>
          <a:prstGeom prst="roundRect">
            <a:avLst>
              <a:gd name="adj" fmla="val 7143"/>
            </a:avLst>
          </a:prstGeom>
          <a:solidFill>
            <a:srgbClr val="FFFFFF"/>
          </a:solidFill>
          <a:ln w="12700">
            <a:solidFill>
              <a:srgbClr val="D9E2EE"/>
            </a:solidFill>
            <a:prstDash val="solid"/>
          </a:ln>
        </p:spPr>
      </p:sp>
      <p:sp>
        <p:nvSpPr>
          <p:cNvPr id="33" name="Shape 31"/>
          <p:cNvSpPr/>
          <p:nvPr/>
        </p:nvSpPr>
        <p:spPr>
          <a:xfrm>
            <a:off x="621792" y="4005072"/>
            <a:ext cx="566928" cy="566928"/>
          </a:xfrm>
          <a:prstGeom prst="ellipse">
            <a:avLst/>
          </a:prstGeom>
          <a:solidFill>
            <a:srgbClr val="E8EEF6"/>
          </a:solidFill>
          <a:ln w="12700">
            <a:solidFill>
              <a:srgbClr val="E8EEF6"/>
            </a:solidFill>
            <a:prstDash val="solid"/>
          </a:ln>
        </p:spPr>
      </p:sp>
      <p:sp>
        <p:nvSpPr>
          <p:cNvPr id="34" name="Text 32"/>
          <p:cNvSpPr txBox="1"/>
          <p:nvPr/>
        </p:nvSpPr>
        <p:spPr>
          <a:xfrm>
            <a:off x="621792" y="4005072"/>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C</a:t>
            </a:r>
            <a:endParaRPr lang="en-US" sz="1800" dirty="0"/>
          </a:p>
        </p:txBody>
      </p:sp>
      <p:sp>
        <p:nvSpPr>
          <p:cNvPr id="35" name="Text 33">
            <a:hlinkClick r:id="rId5" tooltip="" action="ppaction://hlinksldjump"/>
          </p:cNvPr>
          <p:cNvSpPr txBox="1"/>
          <p:nvPr/>
        </p:nvSpPr>
        <p:spPr>
          <a:xfrm>
            <a:off x="1371600" y="3931920"/>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Las seis piezas</a:t>
            </a:r>
            <a:endParaRPr lang="en-US" sz="1600" dirty="0"/>
          </a:p>
        </p:txBody>
      </p:sp>
      <p:sp>
        <p:nvSpPr>
          <p:cNvPr id="36" name="Text 34"/>
          <p:cNvSpPr txBox="1"/>
          <p:nvPr/>
        </p:nvSpPr>
        <p:spPr>
          <a:xfrm>
            <a:off x="1371600" y="4315968"/>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gateway a observabilidad</a:t>
            </a:r>
            <a:endParaRPr lang="en-US" sz="1200" dirty="0"/>
          </a:p>
        </p:txBody>
      </p:sp>
      <p:sp>
        <p:nvSpPr>
          <p:cNvPr id="37" name="Shape 35"/>
          <p:cNvSpPr/>
          <p:nvPr/>
        </p:nvSpPr>
        <p:spPr>
          <a:xfrm>
            <a:off x="4892040" y="4133088"/>
            <a:ext cx="868680" cy="310896"/>
          </a:xfrm>
          <a:prstGeom prst="roundRect">
            <a:avLst>
              <a:gd name="adj" fmla="val 50000"/>
            </a:avLst>
          </a:prstGeom>
          <a:solidFill>
            <a:srgbClr val="E8EEF6"/>
          </a:solidFill>
          <a:ln w="12700">
            <a:solidFill>
              <a:srgbClr val="E8EEF6"/>
            </a:solidFill>
            <a:prstDash val="solid"/>
          </a:ln>
        </p:spPr>
      </p:sp>
      <p:sp>
        <p:nvSpPr>
          <p:cNvPr id="38" name="Text 36"/>
          <p:cNvSpPr txBox="1"/>
          <p:nvPr/>
        </p:nvSpPr>
        <p:spPr>
          <a:xfrm>
            <a:off x="4892040" y="4133088"/>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19 min</a:t>
            </a:r>
            <a:endParaRPr lang="en-US" sz="1100" dirty="0"/>
          </a:p>
        </p:txBody>
      </p:sp>
      <p:sp>
        <p:nvSpPr>
          <p:cNvPr id="39" name="Shape 37"/>
          <p:cNvSpPr/>
          <p:nvPr/>
        </p:nvSpPr>
        <p:spPr>
          <a:xfrm>
            <a:off x="6172200" y="3785616"/>
            <a:ext cx="5440680" cy="1024128"/>
          </a:xfrm>
          <a:prstGeom prst="roundRect">
            <a:avLst>
              <a:gd name="adj" fmla="val 7143"/>
            </a:avLst>
          </a:prstGeom>
          <a:solidFill>
            <a:srgbClr val="FFFFFF"/>
          </a:solidFill>
          <a:ln w="12700">
            <a:solidFill>
              <a:srgbClr val="D9E2EE"/>
            </a:solidFill>
            <a:prstDash val="solid"/>
          </a:ln>
        </p:spPr>
      </p:sp>
      <p:sp>
        <p:nvSpPr>
          <p:cNvPr id="40" name="Shape 38"/>
          <p:cNvSpPr/>
          <p:nvPr/>
        </p:nvSpPr>
        <p:spPr>
          <a:xfrm>
            <a:off x="6336792" y="4005072"/>
            <a:ext cx="566928" cy="566928"/>
          </a:xfrm>
          <a:prstGeom prst="ellipse">
            <a:avLst/>
          </a:prstGeom>
          <a:solidFill>
            <a:srgbClr val="E8EEF6"/>
          </a:solidFill>
          <a:ln w="12700">
            <a:solidFill>
              <a:srgbClr val="E8EEF6"/>
            </a:solidFill>
            <a:prstDash val="solid"/>
          </a:ln>
        </p:spPr>
      </p:sp>
      <p:sp>
        <p:nvSpPr>
          <p:cNvPr id="41" name="Text 39"/>
          <p:cNvSpPr txBox="1"/>
          <p:nvPr/>
        </p:nvSpPr>
        <p:spPr>
          <a:xfrm>
            <a:off x="6336792" y="4005072"/>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E</a:t>
            </a:r>
            <a:endParaRPr lang="en-US" sz="1800" dirty="0"/>
          </a:p>
        </p:txBody>
      </p:sp>
      <p:sp>
        <p:nvSpPr>
          <p:cNvPr id="42" name="Text 40">
            <a:hlinkClick r:id="rId6" tooltip="" action="ppaction://hlinksldjump"/>
          </p:cNvPr>
          <p:cNvSpPr txBox="1"/>
          <p:nvPr/>
        </p:nvSpPr>
        <p:spPr>
          <a:xfrm>
            <a:off x="7086600" y="3931920"/>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Los datos</a:t>
            </a:r>
            <a:endParaRPr lang="en-US" sz="1600" dirty="0"/>
          </a:p>
        </p:txBody>
      </p:sp>
      <p:sp>
        <p:nvSpPr>
          <p:cNvPr id="43" name="Text 41"/>
          <p:cNvSpPr txBox="1"/>
          <p:nvPr/>
        </p:nvSpPr>
        <p:spPr>
          <a:xfrm>
            <a:off x="7086600" y="4315968"/>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políglota, familias</a:t>
            </a:r>
            <a:endParaRPr lang="en-US" sz="1200" dirty="0"/>
          </a:p>
        </p:txBody>
      </p:sp>
      <p:sp>
        <p:nvSpPr>
          <p:cNvPr id="44" name="Shape 42"/>
          <p:cNvSpPr/>
          <p:nvPr/>
        </p:nvSpPr>
        <p:spPr>
          <a:xfrm>
            <a:off x="10607040" y="4133088"/>
            <a:ext cx="868680" cy="310896"/>
          </a:xfrm>
          <a:prstGeom prst="roundRect">
            <a:avLst>
              <a:gd name="adj" fmla="val 50000"/>
            </a:avLst>
          </a:prstGeom>
          <a:solidFill>
            <a:srgbClr val="E8EEF6"/>
          </a:solidFill>
          <a:ln w="12700">
            <a:solidFill>
              <a:srgbClr val="E8EEF6"/>
            </a:solidFill>
            <a:prstDash val="solid"/>
          </a:ln>
        </p:spPr>
      </p:sp>
      <p:sp>
        <p:nvSpPr>
          <p:cNvPr id="45" name="Text 43"/>
          <p:cNvSpPr txBox="1"/>
          <p:nvPr/>
        </p:nvSpPr>
        <p:spPr>
          <a:xfrm>
            <a:off x="10607040" y="4133088"/>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4 min</a:t>
            </a:r>
            <a:endParaRPr lang="en-US" sz="1100" dirty="0"/>
          </a:p>
        </p:txBody>
      </p:sp>
      <p:sp>
        <p:nvSpPr>
          <p:cNvPr id="46" name="Shape 44"/>
          <p:cNvSpPr/>
          <p:nvPr/>
        </p:nvSpPr>
        <p:spPr>
          <a:xfrm>
            <a:off x="457200" y="4992624"/>
            <a:ext cx="5440680" cy="1024128"/>
          </a:xfrm>
          <a:prstGeom prst="roundRect">
            <a:avLst>
              <a:gd name="adj" fmla="val 7143"/>
            </a:avLst>
          </a:prstGeom>
          <a:solidFill>
            <a:srgbClr val="FFFFFF"/>
          </a:solidFill>
          <a:ln w="12700">
            <a:solidFill>
              <a:srgbClr val="D9E2EE"/>
            </a:solidFill>
            <a:prstDash val="solid"/>
          </a:ln>
        </p:spPr>
      </p:sp>
      <p:sp>
        <p:nvSpPr>
          <p:cNvPr id="47" name="Shape 45"/>
          <p:cNvSpPr/>
          <p:nvPr/>
        </p:nvSpPr>
        <p:spPr>
          <a:xfrm>
            <a:off x="621792" y="5212080"/>
            <a:ext cx="566928" cy="566928"/>
          </a:xfrm>
          <a:prstGeom prst="ellipse">
            <a:avLst/>
          </a:prstGeom>
          <a:solidFill>
            <a:srgbClr val="2563EB"/>
          </a:solidFill>
          <a:ln w="12700">
            <a:solidFill>
              <a:srgbClr val="2563EB"/>
            </a:solidFill>
            <a:prstDash val="solid"/>
          </a:ln>
        </p:spPr>
      </p:sp>
      <p:sp>
        <p:nvSpPr>
          <p:cNvPr id="48" name="Text 46"/>
          <p:cNvSpPr txBox="1"/>
          <p:nvPr/>
        </p:nvSpPr>
        <p:spPr>
          <a:xfrm>
            <a:off x="621792" y="52120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a:t>
            </a:r>
            <a:endParaRPr lang="en-US" sz="1800" dirty="0"/>
          </a:p>
        </p:txBody>
      </p:sp>
      <p:sp>
        <p:nvSpPr>
          <p:cNvPr id="49" name="Text 47">
            <a:hlinkClick r:id="rId7" tooltip="" action="ppaction://hlinksldjump"/>
          </p:cNvPr>
          <p:cNvSpPr txBox="1"/>
          <p:nvPr/>
        </p:nvSpPr>
        <p:spPr>
          <a:xfrm>
            <a:off x="1371600" y="5138928"/>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La decisión de hoy</a:t>
            </a:r>
            <a:endParaRPr lang="en-US" sz="1600" dirty="0"/>
          </a:p>
        </p:txBody>
      </p:sp>
      <p:sp>
        <p:nvSpPr>
          <p:cNvPr id="50" name="Text 48"/>
          <p:cNvSpPr txBox="1"/>
          <p:nvPr/>
        </p:nvSpPr>
        <p:spPr>
          <a:xfrm>
            <a:off x="1371600" y="5522976"/>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FarmaYa</a:t>
            </a:r>
            <a:endParaRPr lang="en-US" sz="1200" dirty="0"/>
          </a:p>
        </p:txBody>
      </p:sp>
      <p:sp>
        <p:nvSpPr>
          <p:cNvPr id="51" name="Shape 49"/>
          <p:cNvSpPr/>
          <p:nvPr/>
        </p:nvSpPr>
        <p:spPr>
          <a:xfrm>
            <a:off x="4892040" y="5340096"/>
            <a:ext cx="868680" cy="310896"/>
          </a:xfrm>
          <a:prstGeom prst="roundRect">
            <a:avLst>
              <a:gd name="adj" fmla="val 50000"/>
            </a:avLst>
          </a:prstGeom>
          <a:solidFill>
            <a:srgbClr val="E8EEF6"/>
          </a:solidFill>
          <a:ln w="12700">
            <a:solidFill>
              <a:srgbClr val="E8EEF6"/>
            </a:solidFill>
            <a:prstDash val="solid"/>
          </a:ln>
        </p:spPr>
      </p:sp>
      <p:sp>
        <p:nvSpPr>
          <p:cNvPr id="52" name="Text 50"/>
          <p:cNvSpPr txBox="1"/>
          <p:nvPr/>
        </p:nvSpPr>
        <p:spPr>
          <a:xfrm>
            <a:off x="4892040" y="5340096"/>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12 min</a:t>
            </a:r>
            <a:endParaRPr lang="en-US" sz="1100" dirty="0"/>
          </a:p>
        </p:txBody>
      </p:sp>
      <p:sp>
        <p:nvSpPr>
          <p:cNvPr id="53" name="Shape 51"/>
          <p:cNvSpPr/>
          <p:nvPr/>
        </p:nvSpPr>
        <p:spPr>
          <a:xfrm>
            <a:off x="6172200" y="4992624"/>
            <a:ext cx="5440680" cy="1024128"/>
          </a:xfrm>
          <a:prstGeom prst="roundRect">
            <a:avLst>
              <a:gd name="adj" fmla="val 7143"/>
            </a:avLst>
          </a:prstGeom>
          <a:solidFill>
            <a:srgbClr val="FFFFFF"/>
          </a:solidFill>
          <a:ln w="12700">
            <a:solidFill>
              <a:srgbClr val="D9E2EE"/>
            </a:solidFill>
            <a:prstDash val="solid"/>
          </a:ln>
        </p:spPr>
      </p:sp>
      <p:sp>
        <p:nvSpPr>
          <p:cNvPr id="54" name="Shape 52"/>
          <p:cNvSpPr/>
          <p:nvPr/>
        </p:nvSpPr>
        <p:spPr>
          <a:xfrm>
            <a:off x="6336792" y="5212080"/>
            <a:ext cx="566928" cy="566928"/>
          </a:xfrm>
          <a:prstGeom prst="ellipse">
            <a:avLst/>
          </a:prstGeom>
          <a:solidFill>
            <a:srgbClr val="E8EEF6"/>
          </a:solidFill>
          <a:ln w="12700">
            <a:solidFill>
              <a:srgbClr val="E8EEF6"/>
            </a:solidFill>
            <a:prstDash val="solid"/>
          </a:ln>
        </p:spPr>
      </p:sp>
      <p:sp>
        <p:nvSpPr>
          <p:cNvPr id="55" name="Text 53"/>
          <p:cNvSpPr txBox="1"/>
          <p:nvPr/>
        </p:nvSpPr>
        <p:spPr>
          <a:xfrm>
            <a:off x="6336792" y="5212080"/>
            <a:ext cx="566928" cy="566928"/>
          </a:xfrm>
          <a:prstGeom prst="rect">
            <a:avLst/>
          </a:prstGeom>
          <a:noFill/>
          <a:ln/>
        </p:spPr>
        <p:txBody>
          <a:bodyPr wrap="square" lIns="0" tIns="0" rIns="0" bIns="0" rtlCol="0" anchor="ctr"/>
          <a:lstStyle/>
          <a:p>
            <a:pPr algn="ctr" indent="0" marL="0">
              <a:buNone/>
            </a:pPr>
            <a:r>
              <a:rPr lang="en-US" sz="1800" b="1" dirty="0">
                <a:solidFill>
                  <a:srgbClr val="12253D"/>
                </a:solidFill>
                <a:latin typeface="Calibri" pitchFamily="34" charset="0"/>
                <a:ea typeface="Calibri" pitchFamily="34" charset="-122"/>
                <a:cs typeface="Calibri" pitchFamily="34" charset="-120"/>
              </a:rPr>
              <a:t>G</a:t>
            </a:r>
            <a:endParaRPr lang="en-US" sz="1800" dirty="0"/>
          </a:p>
        </p:txBody>
      </p:sp>
      <p:sp>
        <p:nvSpPr>
          <p:cNvPr id="56" name="Text 54">
            <a:hlinkClick r:id="rId8" tooltip="" action="ppaction://hlinksldjump"/>
          </p:cNvPr>
          <p:cNvSpPr txBox="1"/>
          <p:nvPr/>
        </p:nvSpPr>
        <p:spPr>
          <a:xfrm>
            <a:off x="7086600" y="5138928"/>
            <a:ext cx="3566160" cy="365760"/>
          </a:xfrm>
          <a:prstGeom prst="rect">
            <a:avLst/>
          </a:prstGeom>
          <a:noFill/>
          <a:ln/>
        </p:spPr>
        <p:txBody>
          <a:bodyPr wrap="square" lIns="0" tIns="0" rIns="0" bIns="0" rtlCol="0" anchor="ctr"/>
          <a:lstStyle/>
          <a:p>
            <a:pPr indent="0" marL="0">
              <a:buNone/>
            </a:pPr>
            <a:r>
              <a:rPr lang="en-US" sz="1600" b="1" u="sng" dirty="0">
                <a:solidFill>
                  <a:srgbClr val="12253D"/>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Para la S4</a:t>
            </a:r>
            <a:endParaRPr lang="en-US" sz="1600" dirty="0"/>
          </a:p>
        </p:txBody>
      </p:sp>
      <p:sp>
        <p:nvSpPr>
          <p:cNvPr id="57" name="Text 55"/>
          <p:cNvSpPr txBox="1"/>
          <p:nvPr/>
        </p:nvSpPr>
        <p:spPr>
          <a:xfrm>
            <a:off x="7086600" y="5522976"/>
            <a:ext cx="3566160" cy="365760"/>
          </a:xfrm>
          <a:prstGeom prst="rect">
            <a:avLst/>
          </a:prstGeom>
          <a:noFill/>
          <a:ln/>
        </p:spPr>
        <p:txBody>
          <a:bodyPr wrap="square" lIns="0" tIns="0" rIns="0" bIns="0" rtlCol="0" anchor="t"/>
          <a:lstStyle/>
          <a:p>
            <a:pPr indent="0" marL="0">
              <a:buNone/>
            </a:pPr>
            <a:r>
              <a:rPr lang="en-US" sz="1200" dirty="0">
                <a:solidFill>
                  <a:srgbClr val="4B6178"/>
                </a:solidFill>
                <a:latin typeface="Calibri" pitchFamily="34" charset="0"/>
                <a:ea typeface="Calibri" pitchFamily="34" charset="-122"/>
                <a:cs typeface="Calibri" pitchFamily="34" charset="-120"/>
              </a:rPr>
              <a:t>lectura y sistema en su máquina</a:t>
            </a:r>
            <a:endParaRPr lang="en-US" sz="1200" dirty="0"/>
          </a:p>
        </p:txBody>
      </p:sp>
      <p:sp>
        <p:nvSpPr>
          <p:cNvPr id="58" name="Shape 56"/>
          <p:cNvSpPr/>
          <p:nvPr/>
        </p:nvSpPr>
        <p:spPr>
          <a:xfrm>
            <a:off x="10607040" y="5340096"/>
            <a:ext cx="868680" cy="310896"/>
          </a:xfrm>
          <a:prstGeom prst="roundRect">
            <a:avLst>
              <a:gd name="adj" fmla="val 50000"/>
            </a:avLst>
          </a:prstGeom>
          <a:solidFill>
            <a:srgbClr val="E8EEF6"/>
          </a:solidFill>
          <a:ln w="12700">
            <a:solidFill>
              <a:srgbClr val="E8EEF6"/>
            </a:solidFill>
            <a:prstDash val="solid"/>
          </a:ln>
        </p:spPr>
      </p:sp>
      <p:sp>
        <p:nvSpPr>
          <p:cNvPr id="59" name="Text 57"/>
          <p:cNvSpPr txBox="1"/>
          <p:nvPr/>
        </p:nvSpPr>
        <p:spPr>
          <a:xfrm>
            <a:off x="10607040" y="5340096"/>
            <a:ext cx="868680" cy="310896"/>
          </a:xfrm>
          <a:prstGeom prst="rect">
            <a:avLst/>
          </a:prstGeom>
          <a:noFill/>
          <a:ln/>
        </p:spPr>
        <p:txBody>
          <a:bodyPr wrap="square" lIns="0" tIns="0" rIns="0" bIns="0" rtlCol="0" anchor="ctr"/>
          <a:lstStyle/>
          <a:p>
            <a:pPr algn="ctr" indent="0" marL="0">
              <a:buNone/>
            </a:pPr>
            <a:r>
              <a:rPr lang="en-US" sz="1100" b="1" dirty="0">
                <a:solidFill>
                  <a:srgbClr val="4B6178"/>
                </a:solidFill>
                <a:latin typeface="Calibri" pitchFamily="34" charset="0"/>
                <a:ea typeface="Calibri" pitchFamily="34" charset="-122"/>
                <a:cs typeface="Calibri" pitchFamily="34" charset="-120"/>
              </a:rPr>
              <a:t>2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¿Cuál de las cuatro diferencias no se puede esconder?</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3/32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0 · La pregunta de la semana</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vota en el chat</a:t>
            </a:r>
            <a:endParaRPr lang="en-US" sz="1100" dirty="0"/>
          </a:p>
        </p:txBody>
      </p:sp>
      <p:sp>
        <p:nvSpPr>
          <p:cNvPr id="8" name="Text 5"/>
          <p:cNvSpPr txBox="1"/>
          <p:nvPr/>
        </p:nvSpPr>
        <p:spPr>
          <a:xfrm>
            <a:off x="457200" y="1325880"/>
            <a:ext cx="11247120" cy="640080"/>
          </a:xfrm>
          <a:prstGeom prst="rect">
            <a:avLst/>
          </a:prstGeom>
          <a:noFill/>
          <a:ln/>
        </p:spPr>
        <p:txBody>
          <a:bodyPr wrap="square" lIns="0" tIns="0" rIns="0" bIns="0" rtlCol="0" anchor="t"/>
          <a:lstStyle/>
          <a:p>
            <a:pPr indent="0" marL="0">
              <a:buNone/>
            </a:pPr>
            <a:r>
              <a:rPr lang="en-US" sz="1500" dirty="0">
                <a:solidFill>
                  <a:srgbClr val="4B6178"/>
                </a:solidFill>
                <a:latin typeface="Calibri" pitchFamily="34" charset="0"/>
                <a:ea typeface="Calibri" pitchFamily="34" charset="-122"/>
                <a:cs typeface="Calibri" pitchFamily="34" charset="-120"/>
              </a:rPr>
              <a:t>Waldo, Wyant, Wollrath y Kendall (Sun, 1994): tratar objetos remotos como locales falla por cuatro diferencias. Tres se mitigan con diseño; una, no.</a:t>
            </a:r>
            <a:endParaRPr lang="en-US" sz="1500" dirty="0"/>
          </a:p>
        </p:txBody>
      </p:sp>
      <p:sp>
        <p:nvSpPr>
          <p:cNvPr id="9" name="Shape 6"/>
          <p:cNvSpPr/>
          <p:nvPr/>
        </p:nvSpPr>
        <p:spPr>
          <a:xfrm>
            <a:off x="457200" y="2194560"/>
            <a:ext cx="2651760" cy="2834640"/>
          </a:xfrm>
          <a:prstGeom prst="roundRect">
            <a:avLst>
              <a:gd name="adj" fmla="val 2759"/>
            </a:avLst>
          </a:prstGeom>
          <a:solidFill>
            <a:srgbClr val="FFFFFF"/>
          </a:solidFill>
          <a:ln w="12700">
            <a:solidFill>
              <a:srgbClr val="D9E2EE"/>
            </a:solidFill>
            <a:prstDash val="solid"/>
          </a:ln>
        </p:spPr>
      </p:sp>
      <p:sp>
        <p:nvSpPr>
          <p:cNvPr id="10" name="Shape 7"/>
          <p:cNvSpPr/>
          <p:nvPr/>
        </p:nvSpPr>
        <p:spPr>
          <a:xfrm>
            <a:off x="1463040" y="2468880"/>
            <a:ext cx="640080" cy="640080"/>
          </a:xfrm>
          <a:prstGeom prst="ellipse">
            <a:avLst/>
          </a:prstGeom>
          <a:solidFill>
            <a:srgbClr val="E8EEF6"/>
          </a:solidFill>
          <a:ln w="12700">
            <a:solidFill>
              <a:srgbClr val="E8EEF6"/>
            </a:solidFill>
            <a:prstDash val="solid"/>
          </a:ln>
        </p:spPr>
      </p:sp>
      <p:pic>
        <p:nvPicPr>
          <p:cNvPr id="11" name="Image 1" descr="preencoded.png">    </p:cNvPr>
          <p:cNvPicPr>
            <a:picLocks noChangeAspect="1"/>
          </p:cNvPicPr>
          <p:nvPr/>
        </p:nvPicPr>
        <p:blipFill>
          <a:blip r:embed="rId2"/>
          <a:stretch>
            <a:fillRect/>
          </a:stretch>
        </p:blipFill>
        <p:spPr>
          <a:xfrm>
            <a:off x="1627632" y="2633472"/>
            <a:ext cx="310896" cy="310896"/>
          </a:xfrm>
          <a:prstGeom prst="rect">
            <a:avLst/>
          </a:prstGeom>
        </p:spPr>
      </p:pic>
      <p:sp>
        <p:nvSpPr>
          <p:cNvPr id="12" name="Text 8"/>
          <p:cNvSpPr txBox="1"/>
          <p:nvPr/>
        </p:nvSpPr>
        <p:spPr>
          <a:xfrm>
            <a:off x="640080" y="242316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A</a:t>
            </a:r>
            <a:endParaRPr lang="en-US" sz="2200" dirty="0"/>
          </a:p>
        </p:txBody>
      </p:sp>
      <p:sp>
        <p:nvSpPr>
          <p:cNvPr id="13" name="Text 9"/>
          <p:cNvSpPr txBox="1"/>
          <p:nvPr/>
        </p:nvSpPr>
        <p:spPr>
          <a:xfrm>
            <a:off x="640080" y="3337560"/>
            <a:ext cx="2286000" cy="457200"/>
          </a:xfrm>
          <a:prstGeom prst="rect">
            <a:avLst/>
          </a:prstGeom>
          <a:noFill/>
          <a:ln/>
        </p:spPr>
        <p:txBody>
          <a:bodyPr wrap="square" lIns="0" tIns="0" rIns="0" bIns="0" rtlCol="0" anchor="t"/>
          <a:lstStyle/>
          <a:p>
            <a:pPr algn="ctr" indent="0" marL="0">
              <a:buNone/>
            </a:pPr>
            <a:r>
              <a:rPr lang="en-US" sz="1800" b="1" dirty="0">
                <a:solidFill>
                  <a:srgbClr val="12253D"/>
                </a:solidFill>
                <a:latin typeface="Calibri" pitchFamily="34" charset="0"/>
                <a:ea typeface="Calibri" pitchFamily="34" charset="-122"/>
                <a:cs typeface="Calibri" pitchFamily="34" charset="-120"/>
              </a:rPr>
              <a:t>Latencia</a:t>
            </a:r>
            <a:endParaRPr lang="en-US" sz="1800" dirty="0"/>
          </a:p>
        </p:txBody>
      </p:sp>
      <p:sp>
        <p:nvSpPr>
          <p:cNvPr id="14" name="Text 10"/>
          <p:cNvSpPr txBox="1"/>
          <p:nvPr/>
        </p:nvSpPr>
        <p:spPr>
          <a:xfrm>
            <a:off x="640080" y="3886200"/>
            <a:ext cx="2286000" cy="1280160"/>
          </a:xfrm>
          <a:prstGeom prst="rect">
            <a:avLst/>
          </a:prstGeom>
          <a:noFill/>
          <a:ln/>
        </p:spPr>
        <p:txBody>
          <a:bodyPr wrap="square" lIns="0" tIns="0" rIns="0" bIns="0" rtlCol="0" anchor="t"/>
          <a:lstStyle/>
          <a:p>
            <a:pPr algn="ctr" indent="0" marL="0">
              <a:buNone/>
            </a:pPr>
            <a:r>
              <a:rPr lang="en-US" sz="1300" dirty="0">
                <a:solidFill>
                  <a:srgbClr val="4B6178"/>
                </a:solidFill>
                <a:latin typeface="Calibri" pitchFamily="34" charset="0"/>
                <a:ea typeface="Calibri" pitchFamily="34" charset="-122"/>
                <a:cs typeface="Calibri" pitchFamily="34" charset="-120"/>
              </a:rPr>
              <a:t>la red es 4 o 5 órdenes de magnitud más lenta</a:t>
            </a:r>
            <a:endParaRPr lang="en-US" sz="1300" dirty="0"/>
          </a:p>
        </p:txBody>
      </p:sp>
      <p:sp>
        <p:nvSpPr>
          <p:cNvPr id="15" name="Shape 11"/>
          <p:cNvSpPr/>
          <p:nvPr/>
        </p:nvSpPr>
        <p:spPr>
          <a:xfrm>
            <a:off x="3291840" y="2194560"/>
            <a:ext cx="2651760" cy="2834640"/>
          </a:xfrm>
          <a:prstGeom prst="roundRect">
            <a:avLst>
              <a:gd name="adj" fmla="val 2759"/>
            </a:avLst>
          </a:prstGeom>
          <a:solidFill>
            <a:srgbClr val="FFFFFF"/>
          </a:solidFill>
          <a:ln w="12700">
            <a:solidFill>
              <a:srgbClr val="D9E2EE"/>
            </a:solidFill>
            <a:prstDash val="solid"/>
          </a:ln>
        </p:spPr>
      </p:sp>
      <p:sp>
        <p:nvSpPr>
          <p:cNvPr id="16" name="Shape 12"/>
          <p:cNvSpPr/>
          <p:nvPr/>
        </p:nvSpPr>
        <p:spPr>
          <a:xfrm>
            <a:off x="4297680" y="2468880"/>
            <a:ext cx="640080" cy="640080"/>
          </a:xfrm>
          <a:prstGeom prst="ellipse">
            <a:avLst/>
          </a:prstGeom>
          <a:solidFill>
            <a:srgbClr val="E8EEF6"/>
          </a:solidFill>
          <a:ln w="12700">
            <a:solidFill>
              <a:srgbClr val="E8EEF6"/>
            </a:solidFill>
            <a:prstDash val="solid"/>
          </a:ln>
        </p:spPr>
      </p:sp>
      <p:pic>
        <p:nvPicPr>
          <p:cNvPr id="17" name="Image 2" descr="preencoded.png">    </p:cNvPr>
          <p:cNvPicPr>
            <a:picLocks noChangeAspect="1"/>
          </p:cNvPicPr>
          <p:nvPr/>
        </p:nvPicPr>
        <p:blipFill>
          <a:blip r:embed="rId3"/>
          <a:stretch>
            <a:fillRect/>
          </a:stretch>
        </p:blipFill>
        <p:spPr>
          <a:xfrm>
            <a:off x="4462272" y="2633472"/>
            <a:ext cx="310896" cy="310896"/>
          </a:xfrm>
          <a:prstGeom prst="rect">
            <a:avLst/>
          </a:prstGeom>
        </p:spPr>
      </p:pic>
      <p:sp>
        <p:nvSpPr>
          <p:cNvPr id="18" name="Text 13"/>
          <p:cNvSpPr txBox="1"/>
          <p:nvPr/>
        </p:nvSpPr>
        <p:spPr>
          <a:xfrm>
            <a:off x="3474720" y="242316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B</a:t>
            </a:r>
            <a:endParaRPr lang="en-US" sz="2200" dirty="0"/>
          </a:p>
        </p:txBody>
      </p:sp>
      <p:sp>
        <p:nvSpPr>
          <p:cNvPr id="19" name="Text 14"/>
          <p:cNvSpPr txBox="1"/>
          <p:nvPr/>
        </p:nvSpPr>
        <p:spPr>
          <a:xfrm>
            <a:off x="3474720" y="3337560"/>
            <a:ext cx="2286000" cy="457200"/>
          </a:xfrm>
          <a:prstGeom prst="rect">
            <a:avLst/>
          </a:prstGeom>
          <a:noFill/>
          <a:ln/>
        </p:spPr>
        <p:txBody>
          <a:bodyPr wrap="square" lIns="0" tIns="0" rIns="0" bIns="0" rtlCol="0" anchor="t"/>
          <a:lstStyle/>
          <a:p>
            <a:pPr algn="ctr" indent="0" marL="0">
              <a:buNone/>
            </a:pPr>
            <a:r>
              <a:rPr lang="en-US" sz="1800" b="1" dirty="0">
                <a:solidFill>
                  <a:srgbClr val="12253D"/>
                </a:solidFill>
                <a:latin typeface="Calibri" pitchFamily="34" charset="0"/>
                <a:ea typeface="Calibri" pitchFamily="34" charset="-122"/>
                <a:cs typeface="Calibri" pitchFamily="34" charset="-120"/>
              </a:rPr>
              <a:t>Acceso a memoria</a:t>
            </a:r>
            <a:endParaRPr lang="en-US" sz="1800" dirty="0"/>
          </a:p>
        </p:txBody>
      </p:sp>
      <p:sp>
        <p:nvSpPr>
          <p:cNvPr id="20" name="Text 15"/>
          <p:cNvSpPr txBox="1"/>
          <p:nvPr/>
        </p:nvSpPr>
        <p:spPr>
          <a:xfrm>
            <a:off x="3474720" y="3886200"/>
            <a:ext cx="2286000" cy="1280160"/>
          </a:xfrm>
          <a:prstGeom prst="rect">
            <a:avLst/>
          </a:prstGeom>
          <a:noFill/>
          <a:ln/>
        </p:spPr>
        <p:txBody>
          <a:bodyPr wrap="square" lIns="0" tIns="0" rIns="0" bIns="0" rtlCol="0" anchor="t"/>
          <a:lstStyle/>
          <a:p>
            <a:pPr algn="ctr" indent="0" marL="0">
              <a:buNone/>
            </a:pPr>
            <a:r>
              <a:rPr lang="en-US" sz="1300" dirty="0">
                <a:solidFill>
                  <a:srgbClr val="4B6178"/>
                </a:solidFill>
                <a:latin typeface="Calibri" pitchFamily="34" charset="0"/>
                <a:ea typeface="Calibri" pitchFamily="34" charset="-122"/>
                <a:cs typeface="Calibri" pitchFamily="34" charset="-120"/>
              </a:rPr>
              <a:t>los punteros no cruzan; los datos se serializan</a:t>
            </a:r>
            <a:endParaRPr lang="en-US" sz="1300" dirty="0"/>
          </a:p>
        </p:txBody>
      </p:sp>
      <p:sp>
        <p:nvSpPr>
          <p:cNvPr id="21" name="Shape 16"/>
          <p:cNvSpPr/>
          <p:nvPr/>
        </p:nvSpPr>
        <p:spPr>
          <a:xfrm>
            <a:off x="6126480" y="2194560"/>
            <a:ext cx="2651760" cy="2834640"/>
          </a:xfrm>
          <a:prstGeom prst="roundRect">
            <a:avLst>
              <a:gd name="adj" fmla="val 2759"/>
            </a:avLst>
          </a:prstGeom>
          <a:solidFill>
            <a:srgbClr val="FFFFFF"/>
          </a:solidFill>
          <a:ln w="12700">
            <a:solidFill>
              <a:srgbClr val="D9E2EE"/>
            </a:solidFill>
            <a:prstDash val="solid"/>
          </a:ln>
        </p:spPr>
      </p:sp>
      <p:sp>
        <p:nvSpPr>
          <p:cNvPr id="22" name="Shape 17"/>
          <p:cNvSpPr/>
          <p:nvPr/>
        </p:nvSpPr>
        <p:spPr>
          <a:xfrm>
            <a:off x="7132320" y="2468880"/>
            <a:ext cx="640080" cy="640080"/>
          </a:xfrm>
          <a:prstGeom prst="ellipse">
            <a:avLst/>
          </a:prstGeom>
          <a:solidFill>
            <a:srgbClr val="E8EEF6"/>
          </a:solidFill>
          <a:ln w="12700">
            <a:solidFill>
              <a:srgbClr val="E8EEF6"/>
            </a:solidFill>
            <a:prstDash val="solid"/>
          </a:ln>
        </p:spPr>
      </p:sp>
      <p:pic>
        <p:nvPicPr>
          <p:cNvPr id="23" name="Image 3" descr="preencoded.png">    </p:cNvPr>
          <p:cNvPicPr>
            <a:picLocks noChangeAspect="1"/>
          </p:cNvPicPr>
          <p:nvPr/>
        </p:nvPicPr>
        <p:blipFill>
          <a:blip r:embed="rId4"/>
          <a:stretch>
            <a:fillRect/>
          </a:stretch>
        </p:blipFill>
        <p:spPr>
          <a:xfrm>
            <a:off x="7296912" y="2633472"/>
            <a:ext cx="310896" cy="310896"/>
          </a:xfrm>
          <a:prstGeom prst="rect">
            <a:avLst/>
          </a:prstGeom>
        </p:spPr>
      </p:pic>
      <p:sp>
        <p:nvSpPr>
          <p:cNvPr id="24" name="Text 18"/>
          <p:cNvSpPr txBox="1"/>
          <p:nvPr/>
        </p:nvSpPr>
        <p:spPr>
          <a:xfrm>
            <a:off x="6309360" y="242316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C</a:t>
            </a:r>
            <a:endParaRPr lang="en-US" sz="2200" dirty="0"/>
          </a:p>
        </p:txBody>
      </p:sp>
      <p:sp>
        <p:nvSpPr>
          <p:cNvPr id="25" name="Text 19"/>
          <p:cNvSpPr txBox="1"/>
          <p:nvPr/>
        </p:nvSpPr>
        <p:spPr>
          <a:xfrm>
            <a:off x="6309360" y="3337560"/>
            <a:ext cx="2286000" cy="457200"/>
          </a:xfrm>
          <a:prstGeom prst="rect">
            <a:avLst/>
          </a:prstGeom>
          <a:noFill/>
          <a:ln/>
        </p:spPr>
        <p:txBody>
          <a:bodyPr wrap="square" lIns="0" tIns="0" rIns="0" bIns="0" rtlCol="0" anchor="t"/>
          <a:lstStyle/>
          <a:p>
            <a:pPr algn="ctr" indent="0" marL="0">
              <a:buNone/>
            </a:pPr>
            <a:r>
              <a:rPr lang="en-US" sz="1800" b="1" dirty="0">
                <a:solidFill>
                  <a:srgbClr val="12253D"/>
                </a:solidFill>
                <a:latin typeface="Calibri" pitchFamily="34" charset="0"/>
                <a:ea typeface="Calibri" pitchFamily="34" charset="-122"/>
                <a:cs typeface="Calibri" pitchFamily="34" charset="-120"/>
              </a:rPr>
              <a:t>Concurrencia</a:t>
            </a:r>
            <a:endParaRPr lang="en-US" sz="1800" dirty="0"/>
          </a:p>
        </p:txBody>
      </p:sp>
      <p:sp>
        <p:nvSpPr>
          <p:cNvPr id="26" name="Text 20"/>
          <p:cNvSpPr txBox="1"/>
          <p:nvPr/>
        </p:nvSpPr>
        <p:spPr>
          <a:xfrm>
            <a:off x="6309360" y="3886200"/>
            <a:ext cx="2286000" cy="1280160"/>
          </a:xfrm>
          <a:prstGeom prst="rect">
            <a:avLst/>
          </a:prstGeom>
          <a:noFill/>
          <a:ln/>
        </p:spPr>
        <p:txBody>
          <a:bodyPr wrap="square" lIns="0" tIns="0" rIns="0" bIns="0" rtlCol="0" anchor="t"/>
          <a:lstStyle/>
          <a:p>
            <a:pPr algn="ctr" indent="0" marL="0">
              <a:buNone/>
            </a:pPr>
            <a:r>
              <a:rPr lang="en-US" sz="1300" dirty="0">
                <a:solidFill>
                  <a:srgbClr val="4B6178"/>
                </a:solidFill>
                <a:latin typeface="Calibri" pitchFamily="34" charset="0"/>
                <a:ea typeface="Calibri" pitchFamily="34" charset="-122"/>
                <a:cs typeface="Calibri" pitchFamily="34" charset="-120"/>
              </a:rPr>
              <a:t>muchos clientes tocan el mismo estado sin coordinador</a:t>
            </a:r>
            <a:endParaRPr lang="en-US" sz="1300" dirty="0"/>
          </a:p>
        </p:txBody>
      </p:sp>
      <p:sp>
        <p:nvSpPr>
          <p:cNvPr id="27" name="Shape 21"/>
          <p:cNvSpPr/>
          <p:nvPr/>
        </p:nvSpPr>
        <p:spPr>
          <a:xfrm>
            <a:off x="8961120" y="2194560"/>
            <a:ext cx="2651760" cy="2834640"/>
          </a:xfrm>
          <a:prstGeom prst="roundRect">
            <a:avLst>
              <a:gd name="adj" fmla="val 2759"/>
            </a:avLst>
          </a:prstGeom>
          <a:solidFill>
            <a:srgbClr val="FFFFFF"/>
          </a:solidFill>
          <a:ln w="12700">
            <a:solidFill>
              <a:srgbClr val="D9E2EE"/>
            </a:solidFill>
            <a:prstDash val="solid"/>
          </a:ln>
        </p:spPr>
      </p:sp>
      <p:sp>
        <p:nvSpPr>
          <p:cNvPr id="28" name="Shape 22"/>
          <p:cNvSpPr/>
          <p:nvPr/>
        </p:nvSpPr>
        <p:spPr>
          <a:xfrm>
            <a:off x="9966960" y="2468880"/>
            <a:ext cx="640080" cy="640080"/>
          </a:xfrm>
          <a:prstGeom prst="ellipse">
            <a:avLst/>
          </a:prstGeom>
          <a:solidFill>
            <a:srgbClr val="E8EEF6"/>
          </a:solidFill>
          <a:ln w="12700">
            <a:solidFill>
              <a:srgbClr val="E8EEF6"/>
            </a:solidFill>
            <a:prstDash val="solid"/>
          </a:ln>
        </p:spPr>
      </p:sp>
      <p:pic>
        <p:nvPicPr>
          <p:cNvPr id="29" name="Image 4" descr="preencoded.png">    </p:cNvPr>
          <p:cNvPicPr>
            <a:picLocks noChangeAspect="1"/>
          </p:cNvPicPr>
          <p:nvPr/>
        </p:nvPicPr>
        <p:blipFill>
          <a:blip r:embed="rId5"/>
          <a:stretch>
            <a:fillRect/>
          </a:stretch>
        </p:blipFill>
        <p:spPr>
          <a:xfrm>
            <a:off x="10131552" y="2633472"/>
            <a:ext cx="310896" cy="310896"/>
          </a:xfrm>
          <a:prstGeom prst="rect">
            <a:avLst/>
          </a:prstGeom>
        </p:spPr>
      </p:pic>
      <p:sp>
        <p:nvSpPr>
          <p:cNvPr id="30" name="Text 23"/>
          <p:cNvSpPr txBox="1"/>
          <p:nvPr/>
        </p:nvSpPr>
        <p:spPr>
          <a:xfrm>
            <a:off x="9144000" y="2423160"/>
            <a:ext cx="45720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D</a:t>
            </a:r>
            <a:endParaRPr lang="en-US" sz="2200" dirty="0"/>
          </a:p>
        </p:txBody>
      </p:sp>
      <p:sp>
        <p:nvSpPr>
          <p:cNvPr id="31" name="Text 24"/>
          <p:cNvSpPr txBox="1"/>
          <p:nvPr/>
        </p:nvSpPr>
        <p:spPr>
          <a:xfrm>
            <a:off x="9144000" y="3337560"/>
            <a:ext cx="2286000" cy="457200"/>
          </a:xfrm>
          <a:prstGeom prst="rect">
            <a:avLst/>
          </a:prstGeom>
          <a:noFill/>
          <a:ln/>
        </p:spPr>
        <p:txBody>
          <a:bodyPr wrap="square" lIns="0" tIns="0" rIns="0" bIns="0" rtlCol="0" anchor="t"/>
          <a:lstStyle/>
          <a:p>
            <a:pPr algn="ctr" indent="0" marL="0">
              <a:buNone/>
            </a:pPr>
            <a:r>
              <a:rPr lang="en-US" sz="1800" b="1" dirty="0">
                <a:solidFill>
                  <a:srgbClr val="12253D"/>
                </a:solidFill>
                <a:latin typeface="Calibri" pitchFamily="34" charset="0"/>
                <a:ea typeface="Calibri" pitchFamily="34" charset="-122"/>
                <a:cs typeface="Calibri" pitchFamily="34" charset="-120"/>
              </a:rPr>
              <a:t>Fallo parcial</a:t>
            </a:r>
            <a:endParaRPr lang="en-US" sz="1800" dirty="0"/>
          </a:p>
        </p:txBody>
      </p:sp>
      <p:sp>
        <p:nvSpPr>
          <p:cNvPr id="32" name="Text 25"/>
          <p:cNvSpPr txBox="1"/>
          <p:nvPr/>
        </p:nvSpPr>
        <p:spPr>
          <a:xfrm>
            <a:off x="9144000" y="3886200"/>
            <a:ext cx="2286000" cy="1280160"/>
          </a:xfrm>
          <a:prstGeom prst="rect">
            <a:avLst/>
          </a:prstGeom>
          <a:noFill/>
          <a:ln/>
        </p:spPr>
        <p:txBody>
          <a:bodyPr wrap="square" lIns="0" tIns="0" rIns="0" bIns="0" rtlCol="0" anchor="t"/>
          <a:lstStyle/>
          <a:p>
            <a:pPr algn="ctr" indent="0" marL="0">
              <a:buNone/>
            </a:pPr>
            <a:r>
              <a:rPr lang="en-US" sz="1300" dirty="0">
                <a:solidFill>
                  <a:srgbClr val="4B6178"/>
                </a:solidFill>
                <a:latin typeface="Calibri" pitchFamily="34" charset="0"/>
                <a:ea typeface="Calibri" pitchFamily="34" charset="-122"/>
                <a:cs typeface="Calibri" pitchFamily="34" charset="-120"/>
              </a:rPr>
              <a:t>una parte falla mientras el resto sigue, y nadie sabe qué</a:t>
            </a:r>
            <a:endParaRPr lang="en-US" sz="1300" dirty="0"/>
          </a:p>
        </p:txBody>
      </p:sp>
      <p:sp>
        <p:nvSpPr>
          <p:cNvPr id="33" name="Text 26"/>
          <p:cNvSpPr txBox="1"/>
          <p:nvPr/>
        </p:nvSpPr>
        <p:spPr>
          <a:xfrm>
            <a:off x="457200" y="525780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Después: las dos preguntas más votadas de la Discussion #2.</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Una llamada local promete tres cosas; la red rompe las tres</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4/32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sp>
        <p:nvSpPr>
          <p:cNvPr id="5" name="Shape 3"/>
          <p:cNvSpPr/>
          <p:nvPr/>
        </p:nvSpPr>
        <p:spPr>
          <a:xfrm>
            <a:off x="457200" y="1371600"/>
            <a:ext cx="4206240" cy="4480560"/>
          </a:xfrm>
          <a:prstGeom prst="roundRect">
            <a:avLst>
              <a:gd name="adj" fmla="val 1739"/>
            </a:avLst>
          </a:prstGeom>
          <a:solidFill>
            <a:srgbClr val="FFFFFF"/>
          </a:solidFill>
          <a:ln w="12700">
            <a:solidFill>
              <a:srgbClr val="D9E2EE"/>
            </a:solidFill>
            <a:prstDash val="solid"/>
          </a:ln>
        </p:spPr>
      </p:sp>
      <p:sp>
        <p:nvSpPr>
          <p:cNvPr id="6" name="Text 4"/>
          <p:cNvSpPr txBox="1"/>
          <p:nvPr/>
        </p:nvSpPr>
        <p:spPr>
          <a:xfrm>
            <a:off x="621792" y="1481328"/>
            <a:ext cx="387705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Llamada local · pagos.procesar(tarjeta, 250)</a:t>
            </a:r>
            <a:endParaRPr lang="en-US" sz="1300" dirty="0"/>
          </a:p>
        </p:txBody>
      </p:sp>
      <p:sp>
        <p:nvSpPr>
          <p:cNvPr id="7" name="Shape 5"/>
          <p:cNvSpPr/>
          <p:nvPr/>
        </p:nvSpPr>
        <p:spPr>
          <a:xfrm>
            <a:off x="740664" y="1975104"/>
            <a:ext cx="621792" cy="621792"/>
          </a:xfrm>
          <a:prstGeom prst="ellipse">
            <a:avLst/>
          </a:prstGeom>
          <a:solidFill>
            <a:srgbClr val="F0FDF4"/>
          </a:solidFill>
          <a:ln w="12700">
            <a:solidFill>
              <a:srgbClr val="F0FDF4"/>
            </a:solidFill>
            <a:prstDash val="solid"/>
          </a:ln>
        </p:spPr>
      </p:sp>
      <p:pic>
        <p:nvPicPr>
          <p:cNvPr id="8" name="Image 0" descr="preencoded.png">    </p:cNvPr>
          <p:cNvPicPr>
            <a:picLocks noChangeAspect="1"/>
          </p:cNvPicPr>
          <p:nvPr/>
        </p:nvPicPr>
        <p:blipFill>
          <a:blip r:embed="rId1"/>
          <a:stretch>
            <a:fillRect/>
          </a:stretch>
        </p:blipFill>
        <p:spPr>
          <a:xfrm>
            <a:off x="868680" y="2103120"/>
            <a:ext cx="365760" cy="365760"/>
          </a:xfrm>
          <a:prstGeom prst="rect">
            <a:avLst/>
          </a:prstGeom>
        </p:spPr>
      </p:pic>
      <p:sp>
        <p:nvSpPr>
          <p:cNvPr id="9" name="Text 6"/>
          <p:cNvSpPr txBox="1"/>
          <p:nvPr/>
        </p:nvSpPr>
        <p:spPr>
          <a:xfrm>
            <a:off x="1600200" y="2011680"/>
            <a:ext cx="292608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Es rápida</a:t>
            </a:r>
            <a:endParaRPr lang="en-US" sz="1700" dirty="0"/>
          </a:p>
        </p:txBody>
      </p:sp>
      <p:sp>
        <p:nvSpPr>
          <p:cNvPr id="10" name="Text 7"/>
          <p:cNvSpPr txBox="1"/>
          <p:nvPr/>
        </p:nvSpPr>
        <p:spPr>
          <a:xfrm>
            <a:off x="1600200" y="2395728"/>
            <a:ext cx="292608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9 µs, un salto en la pila</a:t>
            </a:r>
            <a:endParaRPr lang="en-US" sz="1300" dirty="0"/>
          </a:p>
        </p:txBody>
      </p:sp>
      <p:sp>
        <p:nvSpPr>
          <p:cNvPr id="11" name="Shape 8"/>
          <p:cNvSpPr/>
          <p:nvPr/>
        </p:nvSpPr>
        <p:spPr>
          <a:xfrm>
            <a:off x="740664" y="3209544"/>
            <a:ext cx="621792" cy="621792"/>
          </a:xfrm>
          <a:prstGeom prst="ellipse">
            <a:avLst/>
          </a:prstGeom>
          <a:solidFill>
            <a:srgbClr val="F0FDF4"/>
          </a:solidFill>
          <a:ln w="12700">
            <a:solidFill>
              <a:srgbClr val="F0FDF4"/>
            </a:solidFill>
            <a:prstDash val="solid"/>
          </a:ln>
        </p:spPr>
      </p:sp>
      <p:pic>
        <p:nvPicPr>
          <p:cNvPr id="12" name="Image 1" descr="preencoded.png">    </p:cNvPr>
          <p:cNvPicPr>
            <a:picLocks noChangeAspect="1"/>
          </p:cNvPicPr>
          <p:nvPr/>
        </p:nvPicPr>
        <p:blipFill>
          <a:blip r:embed="rId2"/>
          <a:stretch>
            <a:fillRect/>
          </a:stretch>
        </p:blipFill>
        <p:spPr>
          <a:xfrm>
            <a:off x="868680" y="3337560"/>
            <a:ext cx="365760" cy="365760"/>
          </a:xfrm>
          <a:prstGeom prst="rect">
            <a:avLst/>
          </a:prstGeom>
        </p:spPr>
      </p:pic>
      <p:sp>
        <p:nvSpPr>
          <p:cNvPr id="13" name="Text 9"/>
          <p:cNvSpPr txBox="1"/>
          <p:nvPr/>
        </p:nvSpPr>
        <p:spPr>
          <a:xfrm>
            <a:off x="1600200" y="3246120"/>
            <a:ext cx="292608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Es todo o nada</a:t>
            </a:r>
            <a:endParaRPr lang="en-US" sz="1700" dirty="0"/>
          </a:p>
        </p:txBody>
      </p:sp>
      <p:sp>
        <p:nvSpPr>
          <p:cNvPr id="14" name="Text 10"/>
          <p:cNvSpPr txBox="1"/>
          <p:nvPr/>
        </p:nvSpPr>
        <p:spPr>
          <a:xfrm>
            <a:off x="1600200" y="3630168"/>
            <a:ext cx="292608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se ejecuta o el proceso completo cae</a:t>
            </a:r>
            <a:endParaRPr lang="en-US" sz="1300" dirty="0"/>
          </a:p>
        </p:txBody>
      </p:sp>
      <p:sp>
        <p:nvSpPr>
          <p:cNvPr id="15" name="Shape 11"/>
          <p:cNvSpPr/>
          <p:nvPr/>
        </p:nvSpPr>
        <p:spPr>
          <a:xfrm>
            <a:off x="740664" y="4443984"/>
            <a:ext cx="621792" cy="621792"/>
          </a:xfrm>
          <a:prstGeom prst="ellipse">
            <a:avLst/>
          </a:prstGeom>
          <a:solidFill>
            <a:srgbClr val="F0FDF4"/>
          </a:solidFill>
          <a:ln w="12700">
            <a:solidFill>
              <a:srgbClr val="F0FDF4"/>
            </a:solidFill>
            <a:prstDash val="solid"/>
          </a:ln>
        </p:spPr>
      </p:sp>
      <p:pic>
        <p:nvPicPr>
          <p:cNvPr id="16" name="Image 2" descr="preencoded.png">    </p:cNvPr>
          <p:cNvPicPr>
            <a:picLocks noChangeAspect="1"/>
          </p:cNvPicPr>
          <p:nvPr/>
        </p:nvPicPr>
        <p:blipFill>
          <a:blip r:embed="rId3"/>
          <a:stretch>
            <a:fillRect/>
          </a:stretch>
        </p:blipFill>
        <p:spPr>
          <a:xfrm>
            <a:off x="868680" y="4572000"/>
            <a:ext cx="365760" cy="365760"/>
          </a:xfrm>
          <a:prstGeom prst="rect">
            <a:avLst/>
          </a:prstGeom>
        </p:spPr>
      </p:pic>
      <p:sp>
        <p:nvSpPr>
          <p:cNvPr id="17" name="Text 12"/>
          <p:cNvSpPr txBox="1"/>
          <p:nvPr/>
        </p:nvSpPr>
        <p:spPr>
          <a:xfrm>
            <a:off x="1600200" y="4480560"/>
            <a:ext cx="292608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Comparte memoria</a:t>
            </a:r>
            <a:endParaRPr lang="en-US" sz="1700" dirty="0"/>
          </a:p>
        </p:txBody>
      </p:sp>
      <p:sp>
        <p:nvSpPr>
          <p:cNvPr id="18" name="Text 13"/>
          <p:cNvSpPr txBox="1"/>
          <p:nvPr/>
        </p:nvSpPr>
        <p:spPr>
          <a:xfrm>
            <a:off x="1600200" y="4864608"/>
            <a:ext cx="292608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se pasan punteros y referencias</a:t>
            </a:r>
            <a:endParaRPr lang="en-US" sz="1300" dirty="0"/>
          </a:p>
        </p:txBody>
      </p:sp>
      <p:sp>
        <p:nvSpPr>
          <p:cNvPr id="19" name="Shape 14"/>
          <p:cNvSpPr/>
          <p:nvPr/>
        </p:nvSpPr>
        <p:spPr>
          <a:xfrm>
            <a:off x="4983480" y="1600200"/>
            <a:ext cx="914400" cy="4251960"/>
          </a:xfrm>
          <a:prstGeom prst="roundRect">
            <a:avLst/>
          </a:prstGeom>
          <a:solidFill>
            <a:srgbClr val="F5F8FC">
              <a:alpha val="0"/>
            </a:srgbClr>
          </a:solidFill>
          <a:ln w="12700">
            <a:solidFill>
              <a:srgbClr val="4B6178"/>
            </a:solidFill>
            <a:prstDash val="dash"/>
          </a:ln>
        </p:spPr>
      </p:sp>
      <p:sp>
        <p:nvSpPr>
          <p:cNvPr id="20" name="Text 15"/>
          <p:cNvSpPr txBox="1"/>
          <p:nvPr/>
        </p:nvSpPr>
        <p:spPr>
          <a:xfrm>
            <a:off x="4983480" y="1307592"/>
            <a:ext cx="91440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la red</a:t>
            </a:r>
            <a:endParaRPr lang="en-US" sz="1100" dirty="0"/>
          </a:p>
        </p:txBody>
      </p:sp>
      <p:sp>
        <p:nvSpPr>
          <p:cNvPr id="21" name="Shape 16"/>
          <p:cNvSpPr/>
          <p:nvPr/>
        </p:nvSpPr>
        <p:spPr>
          <a:xfrm>
            <a:off x="4709160" y="3657600"/>
            <a:ext cx="1463040" cy="0"/>
          </a:xfrm>
          <a:prstGeom prst="line">
            <a:avLst/>
          </a:prstGeom>
          <a:noFill/>
          <a:ln w="25400">
            <a:solidFill>
              <a:srgbClr val="4B6178"/>
            </a:solidFill>
            <a:prstDash val="solid"/>
            <a:tailEnd type="triangle"/>
          </a:ln>
        </p:spPr>
      </p:sp>
      <p:sp>
        <p:nvSpPr>
          <p:cNvPr id="22" name="Shape 17"/>
          <p:cNvSpPr/>
          <p:nvPr/>
        </p:nvSpPr>
        <p:spPr>
          <a:xfrm>
            <a:off x="6217920" y="1371600"/>
            <a:ext cx="5486400" cy="4480560"/>
          </a:xfrm>
          <a:prstGeom prst="roundRect">
            <a:avLst>
              <a:gd name="adj" fmla="val 1633"/>
            </a:avLst>
          </a:prstGeom>
          <a:solidFill>
            <a:srgbClr val="FFFFFF"/>
          </a:solidFill>
          <a:ln w="12700">
            <a:solidFill>
              <a:srgbClr val="B91C1C"/>
            </a:solidFill>
            <a:prstDash val="solid"/>
          </a:ln>
        </p:spPr>
      </p:sp>
      <p:sp>
        <p:nvSpPr>
          <p:cNvPr id="23" name="Text 18"/>
          <p:cNvSpPr txBox="1"/>
          <p:nvPr/>
        </p:nvSpPr>
        <p:spPr>
          <a:xfrm>
            <a:off x="6382512" y="1481328"/>
            <a:ext cx="515721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Llamada remota · el código se ve igual</a:t>
            </a:r>
            <a:endParaRPr lang="en-US" sz="1300" dirty="0"/>
          </a:p>
        </p:txBody>
      </p:sp>
      <p:sp>
        <p:nvSpPr>
          <p:cNvPr id="24" name="Shape 19"/>
          <p:cNvSpPr/>
          <p:nvPr/>
        </p:nvSpPr>
        <p:spPr>
          <a:xfrm>
            <a:off x="6501384" y="1975104"/>
            <a:ext cx="621792" cy="621792"/>
          </a:xfrm>
          <a:prstGeom prst="ellipse">
            <a:avLst/>
          </a:prstGeom>
          <a:solidFill>
            <a:srgbClr val="FEF2F2"/>
          </a:solidFill>
          <a:ln w="12700">
            <a:solidFill>
              <a:srgbClr val="FEF2F2"/>
            </a:solidFill>
            <a:prstDash val="solid"/>
          </a:ln>
        </p:spPr>
      </p:sp>
      <p:pic>
        <p:nvPicPr>
          <p:cNvPr id="25" name="Image 3" descr="preencoded.png">    </p:cNvPr>
          <p:cNvPicPr>
            <a:picLocks noChangeAspect="1"/>
          </p:cNvPicPr>
          <p:nvPr/>
        </p:nvPicPr>
        <p:blipFill>
          <a:blip r:embed="rId4"/>
          <a:stretch>
            <a:fillRect/>
          </a:stretch>
        </p:blipFill>
        <p:spPr>
          <a:xfrm>
            <a:off x="6629400" y="2103120"/>
            <a:ext cx="365760" cy="365760"/>
          </a:xfrm>
          <a:prstGeom prst="rect">
            <a:avLst/>
          </a:prstGeom>
        </p:spPr>
      </p:pic>
      <p:sp>
        <p:nvSpPr>
          <p:cNvPr id="26" name="Text 20"/>
          <p:cNvSpPr txBox="1"/>
          <p:nvPr/>
        </p:nvSpPr>
        <p:spPr>
          <a:xfrm>
            <a:off x="7360920" y="2011680"/>
            <a:ext cx="420624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1 097 µs: 120 veces más lenta</a:t>
            </a:r>
            <a:endParaRPr lang="en-US" sz="1700" dirty="0"/>
          </a:p>
        </p:txBody>
      </p:sp>
      <p:sp>
        <p:nvSpPr>
          <p:cNvPr id="27" name="Text 21"/>
          <p:cNvSpPr txBox="1"/>
          <p:nvPr/>
        </p:nvSpPr>
        <p:spPr>
          <a:xfrm>
            <a:off x="7360920" y="2395728"/>
            <a:ext cx="420624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Birrell y Nelson, Xerox PARC, 1984</a:t>
            </a:r>
            <a:endParaRPr lang="en-US" sz="1300" dirty="0"/>
          </a:p>
        </p:txBody>
      </p:sp>
      <p:sp>
        <p:nvSpPr>
          <p:cNvPr id="28" name="Shape 22"/>
          <p:cNvSpPr/>
          <p:nvPr/>
        </p:nvSpPr>
        <p:spPr>
          <a:xfrm>
            <a:off x="6501384" y="3209544"/>
            <a:ext cx="621792" cy="621792"/>
          </a:xfrm>
          <a:prstGeom prst="ellipse">
            <a:avLst/>
          </a:prstGeom>
          <a:solidFill>
            <a:srgbClr val="FEF2F2"/>
          </a:solidFill>
          <a:ln w="12700">
            <a:solidFill>
              <a:srgbClr val="FEF2F2"/>
            </a:solidFill>
            <a:prstDash val="solid"/>
          </a:ln>
        </p:spPr>
      </p:sp>
      <p:pic>
        <p:nvPicPr>
          <p:cNvPr id="29" name="Image 4" descr="preencoded.png">    </p:cNvPr>
          <p:cNvPicPr>
            <a:picLocks noChangeAspect="1"/>
          </p:cNvPicPr>
          <p:nvPr/>
        </p:nvPicPr>
        <p:blipFill>
          <a:blip r:embed="rId5"/>
          <a:stretch>
            <a:fillRect/>
          </a:stretch>
        </p:blipFill>
        <p:spPr>
          <a:xfrm>
            <a:off x="6629400" y="3337560"/>
            <a:ext cx="365760" cy="365760"/>
          </a:xfrm>
          <a:prstGeom prst="rect">
            <a:avLst/>
          </a:prstGeom>
        </p:spPr>
      </p:pic>
      <p:sp>
        <p:nvSpPr>
          <p:cNvPr id="30" name="Text 23"/>
          <p:cNvSpPr txBox="1"/>
          <p:nvPr/>
        </p:nvSpPr>
        <p:spPr>
          <a:xfrm>
            <a:off x="7360920" y="3246120"/>
            <a:ext cx="420624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Puede quedar a medias</a:t>
            </a:r>
            <a:endParaRPr lang="en-US" sz="1700" dirty="0"/>
          </a:p>
        </p:txBody>
      </p:sp>
      <p:sp>
        <p:nvSpPr>
          <p:cNvPr id="31" name="Text 24"/>
          <p:cNvSpPr txBox="1"/>
          <p:nvPr/>
        </p:nvSpPr>
        <p:spPr>
          <a:xfrm>
            <a:off x="7360920" y="3630168"/>
            <a:ext cx="420624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el servidor muere con el cargo hecho y sin avisar</a:t>
            </a:r>
            <a:endParaRPr lang="en-US" sz="1300" dirty="0"/>
          </a:p>
        </p:txBody>
      </p:sp>
      <p:sp>
        <p:nvSpPr>
          <p:cNvPr id="32" name="Shape 25"/>
          <p:cNvSpPr/>
          <p:nvPr/>
        </p:nvSpPr>
        <p:spPr>
          <a:xfrm>
            <a:off x="6501384" y="4443984"/>
            <a:ext cx="621792" cy="621792"/>
          </a:xfrm>
          <a:prstGeom prst="ellipse">
            <a:avLst/>
          </a:prstGeom>
          <a:solidFill>
            <a:srgbClr val="FEF2F2"/>
          </a:solidFill>
          <a:ln w="12700">
            <a:solidFill>
              <a:srgbClr val="FEF2F2"/>
            </a:solidFill>
            <a:prstDash val="solid"/>
          </a:ln>
        </p:spPr>
      </p:sp>
      <p:pic>
        <p:nvPicPr>
          <p:cNvPr id="33" name="Image 5" descr="preencoded.png">    </p:cNvPr>
          <p:cNvPicPr>
            <a:picLocks noChangeAspect="1"/>
          </p:cNvPicPr>
          <p:nvPr/>
        </p:nvPicPr>
        <p:blipFill>
          <a:blip r:embed="rId6"/>
          <a:stretch>
            <a:fillRect/>
          </a:stretch>
        </p:blipFill>
        <p:spPr>
          <a:xfrm>
            <a:off x="6629400" y="4572000"/>
            <a:ext cx="365760" cy="365760"/>
          </a:xfrm>
          <a:prstGeom prst="rect">
            <a:avLst/>
          </a:prstGeom>
        </p:spPr>
      </p:pic>
      <p:sp>
        <p:nvSpPr>
          <p:cNvPr id="34" name="Text 26"/>
          <p:cNvSpPr txBox="1"/>
          <p:nvPr/>
        </p:nvSpPr>
        <p:spPr>
          <a:xfrm>
            <a:off x="7360920" y="4480560"/>
            <a:ext cx="4206240" cy="365760"/>
          </a:xfrm>
          <a:prstGeom prst="rect">
            <a:avLst/>
          </a:prstGeom>
          <a:noFill/>
          <a:ln/>
        </p:spPr>
        <p:txBody>
          <a:bodyPr wrap="square" lIns="0" tIns="0" rIns="0" bIns="0" rtlCol="0" anchor="t"/>
          <a:lstStyle/>
          <a:p>
            <a:pPr indent="0" marL="0">
              <a:buNone/>
            </a:pPr>
            <a:r>
              <a:rPr lang="en-US" sz="1700" b="1" dirty="0">
                <a:solidFill>
                  <a:srgbClr val="12253D"/>
                </a:solidFill>
                <a:latin typeface="Calibri" pitchFamily="34" charset="0"/>
                <a:ea typeface="Calibri" pitchFamily="34" charset="-122"/>
                <a:cs typeface="Calibri" pitchFamily="34" charset="-120"/>
              </a:rPr>
              <a:t>Solo viajan bytes</a:t>
            </a:r>
            <a:endParaRPr lang="en-US" sz="1700" dirty="0"/>
          </a:p>
        </p:txBody>
      </p:sp>
      <p:sp>
        <p:nvSpPr>
          <p:cNvPr id="35" name="Text 27"/>
          <p:cNvSpPr txBox="1"/>
          <p:nvPr/>
        </p:nvSpPr>
        <p:spPr>
          <a:xfrm>
            <a:off x="7360920" y="4864608"/>
            <a:ext cx="4206240" cy="54864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todo se serializa; los punteros no significan nada allá</a:t>
            </a:r>
            <a:endParaRPr lang="en-US" sz="1300" dirty="0"/>
          </a:p>
        </p:txBody>
      </p:sp>
      <p:sp>
        <p:nvSpPr>
          <p:cNvPr id="36" name="Text 28"/>
          <p:cNvSpPr txBox="1"/>
          <p:nvPr/>
        </p:nvSpPr>
        <p:spPr>
          <a:xfrm>
            <a:off x="457200" y="594360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Waldo (1994): la diferencia que no se esconde es la segunda; en un solo proceso no existe "a medias".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Un timeout no dice qué pasó: tres historias idénticas para el cliente</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5/32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sp>
        <p:nvSpPr>
          <p:cNvPr id="5" name="Shape 3"/>
          <p:cNvSpPr/>
          <p:nvPr/>
        </p:nvSpPr>
        <p:spPr>
          <a:xfrm>
            <a:off x="457200" y="1371600"/>
            <a:ext cx="3611880" cy="3566160"/>
          </a:xfrm>
          <a:prstGeom prst="roundRect">
            <a:avLst>
              <a:gd name="adj" fmla="val 2051"/>
            </a:avLst>
          </a:prstGeom>
          <a:solidFill>
            <a:srgbClr val="FFFFFF"/>
          </a:solidFill>
          <a:ln w="12700">
            <a:solidFill>
              <a:srgbClr val="D9E2EE"/>
            </a:solidFill>
            <a:prstDash val="solid"/>
          </a:ln>
        </p:spPr>
      </p:sp>
      <p:sp>
        <p:nvSpPr>
          <p:cNvPr id="6" name="Text 4"/>
          <p:cNvSpPr txBox="1"/>
          <p:nvPr/>
        </p:nvSpPr>
        <p:spPr>
          <a:xfrm>
            <a:off x="594360" y="1481328"/>
            <a:ext cx="3337560" cy="320040"/>
          </a:xfrm>
          <a:prstGeom prst="rect">
            <a:avLst/>
          </a:prstGeom>
          <a:noFill/>
          <a:ln/>
        </p:spPr>
        <p:txBody>
          <a:bodyPr wrap="square" lIns="0" tIns="0" rIns="0" bIns="0" rtlCol="0" anchor="t"/>
          <a:lstStyle/>
          <a:p>
            <a:pPr indent="0" marL="0">
              <a:buNone/>
            </a:pPr>
            <a:r>
              <a:rPr lang="en-US" sz="1400" b="1" dirty="0">
                <a:solidFill>
                  <a:srgbClr val="12253D"/>
                </a:solidFill>
                <a:latin typeface="Calibri" pitchFamily="34" charset="0"/>
                <a:ea typeface="Calibri" pitchFamily="34" charset="-122"/>
                <a:cs typeface="Calibri" pitchFamily="34" charset="-120"/>
              </a:rPr>
              <a:t>1 · La petición se pierde</a:t>
            </a:r>
            <a:endParaRPr lang="en-US" sz="1400" dirty="0"/>
          </a:p>
        </p:txBody>
      </p:sp>
      <p:sp>
        <p:nvSpPr>
          <p:cNvPr id="7" name="Shape 5"/>
          <p:cNvSpPr/>
          <p:nvPr/>
        </p:nvSpPr>
        <p:spPr>
          <a:xfrm>
            <a:off x="681228" y="1961388"/>
            <a:ext cx="466344" cy="466344"/>
          </a:xfrm>
          <a:prstGeom prst="ellipse">
            <a:avLst/>
          </a:prstGeom>
          <a:solidFill>
            <a:srgbClr val="E8EEF6"/>
          </a:solidFill>
          <a:ln w="12700">
            <a:solidFill>
              <a:srgbClr val="E8EEF6"/>
            </a:solidFill>
            <a:prstDash val="solid"/>
          </a:ln>
        </p:spPr>
      </p:sp>
      <p:pic>
        <p:nvPicPr>
          <p:cNvPr id="8" name="Image 0" descr="preencoded.png">    </p:cNvPr>
          <p:cNvPicPr>
            <a:picLocks noChangeAspect="1"/>
          </p:cNvPicPr>
          <p:nvPr/>
        </p:nvPicPr>
        <p:blipFill>
          <a:blip r:embed="rId1"/>
          <a:stretch>
            <a:fillRect/>
          </a:stretch>
        </p:blipFill>
        <p:spPr>
          <a:xfrm>
            <a:off x="777240" y="2057400"/>
            <a:ext cx="274320" cy="274320"/>
          </a:xfrm>
          <a:prstGeom prst="rect">
            <a:avLst/>
          </a:prstGeom>
        </p:spPr>
      </p:pic>
      <p:sp>
        <p:nvSpPr>
          <p:cNvPr id="9" name="Text 6"/>
          <p:cNvSpPr txBox="1"/>
          <p:nvPr/>
        </p:nvSpPr>
        <p:spPr>
          <a:xfrm>
            <a:off x="502920" y="2468880"/>
            <a:ext cx="914400" cy="274320"/>
          </a:xfrm>
          <a:prstGeom prst="rect">
            <a:avLst/>
          </a:prstGeom>
          <a:noFill/>
          <a:ln/>
        </p:spPr>
        <p:txBody>
          <a:bodyPr wrap="square" lIns="0" tIns="0" rIns="0" bIns="0" rtlCol="0" anchor="t"/>
          <a:lstStyle/>
          <a:p>
            <a:pPr algn="ctr" indent="0" marL="0">
              <a:buNone/>
            </a:pPr>
            <a:r>
              <a:rPr lang="en-US" sz="1000" dirty="0">
                <a:solidFill>
                  <a:srgbClr val="4B6178"/>
                </a:solidFill>
                <a:latin typeface="Calibri" pitchFamily="34" charset="0"/>
                <a:ea typeface="Calibri" pitchFamily="34" charset="-122"/>
                <a:cs typeface="Calibri" pitchFamily="34" charset="-120"/>
              </a:rPr>
              <a:t>cliente</a:t>
            </a:r>
            <a:endParaRPr lang="en-US" sz="1000" dirty="0"/>
          </a:p>
        </p:txBody>
      </p:sp>
      <p:sp>
        <p:nvSpPr>
          <p:cNvPr id="10" name="Shape 7"/>
          <p:cNvSpPr/>
          <p:nvPr/>
        </p:nvSpPr>
        <p:spPr>
          <a:xfrm>
            <a:off x="2880360" y="1920240"/>
            <a:ext cx="1051560" cy="457200"/>
          </a:xfrm>
          <a:prstGeom prst="roundRect">
            <a:avLst>
              <a:gd name="adj" fmla="val 16000"/>
            </a:avLst>
          </a:prstGeom>
          <a:solidFill>
            <a:srgbClr val="FFFFFF"/>
          </a:solidFill>
          <a:ln w="15875">
            <a:solidFill>
              <a:srgbClr val="12253D"/>
            </a:solidFill>
            <a:prstDash val="solid"/>
          </a:ln>
        </p:spPr>
      </p:sp>
      <p:sp>
        <p:nvSpPr>
          <p:cNvPr id="11" name="Text 8"/>
          <p:cNvSpPr txBox="1"/>
          <p:nvPr/>
        </p:nvSpPr>
        <p:spPr>
          <a:xfrm>
            <a:off x="2971800" y="1920240"/>
            <a:ext cx="868680" cy="45720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pagos</a:t>
            </a:r>
            <a:endParaRPr lang="en-US" sz="1200" dirty="0"/>
          </a:p>
        </p:txBody>
      </p:sp>
      <p:sp>
        <p:nvSpPr>
          <p:cNvPr id="12" name="Shape 9"/>
          <p:cNvSpPr/>
          <p:nvPr/>
        </p:nvSpPr>
        <p:spPr>
          <a:xfrm>
            <a:off x="1874520" y="2057400"/>
            <a:ext cx="731520" cy="2148840"/>
          </a:xfrm>
          <a:prstGeom prst="roundRect">
            <a:avLst/>
          </a:prstGeom>
          <a:solidFill>
            <a:srgbClr val="F5F8FC">
              <a:alpha val="0"/>
            </a:srgbClr>
          </a:solidFill>
          <a:ln w="12700">
            <a:solidFill>
              <a:srgbClr val="4B6178"/>
            </a:solidFill>
            <a:prstDash val="dash"/>
          </a:ln>
        </p:spPr>
      </p:sp>
      <p:sp>
        <p:nvSpPr>
          <p:cNvPr id="13" name="Text 10"/>
          <p:cNvSpPr txBox="1"/>
          <p:nvPr/>
        </p:nvSpPr>
        <p:spPr>
          <a:xfrm>
            <a:off x="1874520" y="1764792"/>
            <a:ext cx="7315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14" name="Shape 11"/>
          <p:cNvSpPr/>
          <p:nvPr/>
        </p:nvSpPr>
        <p:spPr>
          <a:xfrm>
            <a:off x="960120" y="2971800"/>
            <a:ext cx="1280160" cy="0"/>
          </a:xfrm>
          <a:prstGeom prst="line">
            <a:avLst/>
          </a:prstGeom>
          <a:noFill/>
          <a:ln w="22225">
            <a:solidFill>
              <a:srgbClr val="12253D"/>
            </a:solidFill>
            <a:prstDash val="solid"/>
            <a:tailEnd type="triangle"/>
          </a:ln>
        </p:spPr>
      </p:sp>
      <p:sp>
        <p:nvSpPr>
          <p:cNvPr id="15" name="Text 12"/>
          <p:cNvSpPr txBox="1"/>
          <p:nvPr/>
        </p:nvSpPr>
        <p:spPr>
          <a:xfrm>
            <a:off x="914400" y="2679192"/>
            <a:ext cx="1005840" cy="274320"/>
          </a:xfrm>
          <a:prstGeom prst="rect">
            <a:avLst/>
          </a:prstGeom>
          <a:noFill/>
          <a:ln/>
        </p:spPr>
        <p:txBody>
          <a:bodyPr wrap="square" lIns="0" tIns="0" rIns="0" bIns="0" rtlCol="0" anchor="ctr"/>
          <a:lstStyle/>
          <a:p>
            <a:pPr algn="ctr" indent="0" marL="0">
              <a:buNone/>
            </a:pPr>
            <a:r>
              <a:rPr lang="en-US" sz="1000" dirty="0">
                <a:solidFill>
                  <a:srgbClr val="12253D"/>
                </a:solidFill>
                <a:latin typeface="Calibri" pitchFamily="34" charset="0"/>
                <a:ea typeface="Calibri" pitchFamily="34" charset="-122"/>
                <a:cs typeface="Calibri" pitchFamily="34" charset="-120"/>
              </a:rPr>
              <a:t>POST /pagos</a:t>
            </a:r>
            <a:endParaRPr lang="en-US" sz="1000" dirty="0"/>
          </a:p>
        </p:txBody>
      </p:sp>
      <p:pic>
        <p:nvPicPr>
          <p:cNvPr id="16" name="Image 1" descr="preencoded.png">    </p:cNvPr>
          <p:cNvPicPr>
            <a:picLocks noChangeAspect="1"/>
          </p:cNvPicPr>
          <p:nvPr/>
        </p:nvPicPr>
        <p:blipFill>
          <a:blip r:embed="rId2"/>
          <a:stretch>
            <a:fillRect/>
          </a:stretch>
        </p:blipFill>
        <p:spPr>
          <a:xfrm>
            <a:off x="2103120" y="2816352"/>
            <a:ext cx="292608" cy="292608"/>
          </a:xfrm>
          <a:prstGeom prst="rect">
            <a:avLst/>
          </a:prstGeom>
        </p:spPr>
      </p:pic>
      <p:sp>
        <p:nvSpPr>
          <p:cNvPr id="17" name="Shape 13"/>
          <p:cNvSpPr/>
          <p:nvPr/>
        </p:nvSpPr>
        <p:spPr>
          <a:xfrm>
            <a:off x="594360" y="4343400"/>
            <a:ext cx="1463040" cy="457200"/>
          </a:xfrm>
          <a:prstGeom prst="roundRect">
            <a:avLst>
              <a:gd name="adj" fmla="val 16000"/>
            </a:avLst>
          </a:prstGeom>
          <a:solidFill>
            <a:srgbClr val="FEF2F2"/>
          </a:solidFill>
          <a:ln w="12700">
            <a:solidFill>
              <a:srgbClr val="B91C1C"/>
            </a:solidFill>
            <a:prstDash val="solid"/>
          </a:ln>
        </p:spPr>
      </p:sp>
      <p:sp>
        <p:nvSpPr>
          <p:cNvPr id="18" name="Text 14"/>
          <p:cNvSpPr txBox="1"/>
          <p:nvPr/>
        </p:nvSpPr>
        <p:spPr>
          <a:xfrm>
            <a:off x="594360" y="4343400"/>
            <a:ext cx="1463040" cy="45720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timeout</a:t>
            </a:r>
            <a:endParaRPr lang="en-US" sz="1200" dirty="0"/>
          </a:p>
        </p:txBody>
      </p:sp>
      <p:sp>
        <p:nvSpPr>
          <p:cNvPr id="19" name="Text 15"/>
          <p:cNvSpPr txBox="1"/>
          <p:nvPr/>
        </p:nvSpPr>
        <p:spPr>
          <a:xfrm>
            <a:off x="2286000" y="4389120"/>
            <a:ext cx="1737360" cy="411480"/>
          </a:xfrm>
          <a:prstGeom prst="rect">
            <a:avLst/>
          </a:prstGeom>
          <a:noFill/>
          <a:ln/>
        </p:spPr>
        <p:txBody>
          <a:bodyPr wrap="square" lIns="0" tIns="0" rIns="0" bIns="0" rtlCol="0" anchor="ctr"/>
          <a:lstStyle/>
          <a:p>
            <a:pPr algn="ctr" indent="0" marL="0">
              <a:buNone/>
            </a:pPr>
            <a:r>
              <a:rPr lang="en-US" sz="1100" dirty="0">
                <a:solidFill>
                  <a:srgbClr val="4B6178"/>
                </a:solidFill>
                <a:latin typeface="Calibri" pitchFamily="34" charset="0"/>
                <a:ea typeface="Calibri" pitchFamily="34" charset="-122"/>
                <a:cs typeface="Calibri" pitchFamily="34" charset="-120"/>
              </a:rPr>
              <a:t>no se ejecutó</a:t>
            </a:r>
            <a:endParaRPr lang="en-US" sz="1100" dirty="0"/>
          </a:p>
        </p:txBody>
      </p:sp>
      <p:sp>
        <p:nvSpPr>
          <p:cNvPr id="20" name="Shape 16"/>
          <p:cNvSpPr/>
          <p:nvPr/>
        </p:nvSpPr>
        <p:spPr>
          <a:xfrm>
            <a:off x="4251960" y="1371600"/>
            <a:ext cx="3611880" cy="3566160"/>
          </a:xfrm>
          <a:prstGeom prst="roundRect">
            <a:avLst>
              <a:gd name="adj" fmla="val 2051"/>
            </a:avLst>
          </a:prstGeom>
          <a:solidFill>
            <a:srgbClr val="FFFFFF"/>
          </a:solidFill>
          <a:ln w="12700">
            <a:solidFill>
              <a:srgbClr val="D9E2EE"/>
            </a:solidFill>
            <a:prstDash val="solid"/>
          </a:ln>
        </p:spPr>
      </p:sp>
      <p:sp>
        <p:nvSpPr>
          <p:cNvPr id="21" name="Text 17"/>
          <p:cNvSpPr txBox="1"/>
          <p:nvPr/>
        </p:nvSpPr>
        <p:spPr>
          <a:xfrm>
            <a:off x="4389120" y="1481328"/>
            <a:ext cx="3337560" cy="320040"/>
          </a:xfrm>
          <a:prstGeom prst="rect">
            <a:avLst/>
          </a:prstGeom>
          <a:noFill/>
          <a:ln/>
        </p:spPr>
        <p:txBody>
          <a:bodyPr wrap="square" lIns="0" tIns="0" rIns="0" bIns="0" rtlCol="0" anchor="t"/>
          <a:lstStyle/>
          <a:p>
            <a:pPr indent="0" marL="0">
              <a:buNone/>
            </a:pPr>
            <a:r>
              <a:rPr lang="en-US" sz="1400" b="1" dirty="0">
                <a:solidFill>
                  <a:srgbClr val="12253D"/>
                </a:solidFill>
                <a:latin typeface="Calibri" pitchFamily="34" charset="0"/>
                <a:ea typeface="Calibri" pitchFamily="34" charset="-122"/>
                <a:cs typeface="Calibri" pitchFamily="34" charset="-120"/>
              </a:rPr>
              <a:t>2 · El servidor muere a medias</a:t>
            </a:r>
            <a:endParaRPr lang="en-US" sz="1400" dirty="0"/>
          </a:p>
        </p:txBody>
      </p:sp>
      <p:sp>
        <p:nvSpPr>
          <p:cNvPr id="22" name="Shape 18"/>
          <p:cNvSpPr/>
          <p:nvPr/>
        </p:nvSpPr>
        <p:spPr>
          <a:xfrm>
            <a:off x="4475988" y="1961388"/>
            <a:ext cx="466344" cy="466344"/>
          </a:xfrm>
          <a:prstGeom prst="ellipse">
            <a:avLst/>
          </a:prstGeom>
          <a:solidFill>
            <a:srgbClr val="E8EEF6"/>
          </a:solidFill>
          <a:ln w="12700">
            <a:solidFill>
              <a:srgbClr val="E8EEF6"/>
            </a:solidFill>
            <a:prstDash val="solid"/>
          </a:ln>
        </p:spPr>
      </p:sp>
      <p:pic>
        <p:nvPicPr>
          <p:cNvPr id="23" name="Image 2" descr="preencoded.png">    </p:cNvPr>
          <p:cNvPicPr>
            <a:picLocks noChangeAspect="1"/>
          </p:cNvPicPr>
          <p:nvPr/>
        </p:nvPicPr>
        <p:blipFill>
          <a:blip r:embed="rId3"/>
          <a:stretch>
            <a:fillRect/>
          </a:stretch>
        </p:blipFill>
        <p:spPr>
          <a:xfrm>
            <a:off x="4572000" y="2057400"/>
            <a:ext cx="274320" cy="274320"/>
          </a:xfrm>
          <a:prstGeom prst="rect">
            <a:avLst/>
          </a:prstGeom>
        </p:spPr>
      </p:pic>
      <p:sp>
        <p:nvSpPr>
          <p:cNvPr id="24" name="Text 19"/>
          <p:cNvSpPr txBox="1"/>
          <p:nvPr/>
        </p:nvSpPr>
        <p:spPr>
          <a:xfrm>
            <a:off x="4297680" y="2468880"/>
            <a:ext cx="914400" cy="274320"/>
          </a:xfrm>
          <a:prstGeom prst="rect">
            <a:avLst/>
          </a:prstGeom>
          <a:noFill/>
          <a:ln/>
        </p:spPr>
        <p:txBody>
          <a:bodyPr wrap="square" lIns="0" tIns="0" rIns="0" bIns="0" rtlCol="0" anchor="t"/>
          <a:lstStyle/>
          <a:p>
            <a:pPr algn="ctr" indent="0" marL="0">
              <a:buNone/>
            </a:pPr>
            <a:r>
              <a:rPr lang="en-US" sz="1000" dirty="0">
                <a:solidFill>
                  <a:srgbClr val="4B6178"/>
                </a:solidFill>
                <a:latin typeface="Calibri" pitchFamily="34" charset="0"/>
                <a:ea typeface="Calibri" pitchFamily="34" charset="-122"/>
                <a:cs typeface="Calibri" pitchFamily="34" charset="-120"/>
              </a:rPr>
              <a:t>cliente</a:t>
            </a:r>
            <a:endParaRPr lang="en-US" sz="1000" dirty="0"/>
          </a:p>
        </p:txBody>
      </p:sp>
      <p:sp>
        <p:nvSpPr>
          <p:cNvPr id="25" name="Shape 20"/>
          <p:cNvSpPr/>
          <p:nvPr/>
        </p:nvSpPr>
        <p:spPr>
          <a:xfrm>
            <a:off x="6675120" y="1920240"/>
            <a:ext cx="1051560" cy="457200"/>
          </a:xfrm>
          <a:prstGeom prst="roundRect">
            <a:avLst>
              <a:gd name="adj" fmla="val 16000"/>
            </a:avLst>
          </a:prstGeom>
          <a:solidFill>
            <a:srgbClr val="FFFFFF"/>
          </a:solidFill>
          <a:ln w="15875">
            <a:solidFill>
              <a:srgbClr val="12253D"/>
            </a:solidFill>
            <a:prstDash val="solid"/>
          </a:ln>
        </p:spPr>
      </p:sp>
      <p:sp>
        <p:nvSpPr>
          <p:cNvPr id="26" name="Text 21"/>
          <p:cNvSpPr txBox="1"/>
          <p:nvPr/>
        </p:nvSpPr>
        <p:spPr>
          <a:xfrm>
            <a:off x="6766560" y="1920240"/>
            <a:ext cx="868680" cy="45720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pagos</a:t>
            </a:r>
            <a:endParaRPr lang="en-US" sz="1200" dirty="0"/>
          </a:p>
        </p:txBody>
      </p:sp>
      <p:sp>
        <p:nvSpPr>
          <p:cNvPr id="27" name="Shape 22"/>
          <p:cNvSpPr/>
          <p:nvPr/>
        </p:nvSpPr>
        <p:spPr>
          <a:xfrm>
            <a:off x="5669280" y="2057400"/>
            <a:ext cx="731520" cy="2148840"/>
          </a:xfrm>
          <a:prstGeom prst="roundRect">
            <a:avLst/>
          </a:prstGeom>
          <a:solidFill>
            <a:srgbClr val="F5F8FC">
              <a:alpha val="0"/>
            </a:srgbClr>
          </a:solidFill>
          <a:ln w="12700">
            <a:solidFill>
              <a:srgbClr val="4B6178"/>
            </a:solidFill>
            <a:prstDash val="dash"/>
          </a:ln>
        </p:spPr>
      </p:sp>
      <p:sp>
        <p:nvSpPr>
          <p:cNvPr id="28" name="Text 23"/>
          <p:cNvSpPr txBox="1"/>
          <p:nvPr/>
        </p:nvSpPr>
        <p:spPr>
          <a:xfrm>
            <a:off x="5669280" y="1764792"/>
            <a:ext cx="7315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29" name="Shape 24"/>
          <p:cNvSpPr/>
          <p:nvPr/>
        </p:nvSpPr>
        <p:spPr>
          <a:xfrm>
            <a:off x="4754880" y="2971800"/>
            <a:ext cx="1920240" cy="0"/>
          </a:xfrm>
          <a:prstGeom prst="line">
            <a:avLst/>
          </a:prstGeom>
          <a:noFill/>
          <a:ln w="22225">
            <a:solidFill>
              <a:srgbClr val="12253D"/>
            </a:solidFill>
            <a:prstDash val="solid"/>
            <a:tailEnd type="triangle"/>
          </a:ln>
        </p:spPr>
      </p:sp>
      <p:sp>
        <p:nvSpPr>
          <p:cNvPr id="30" name="Text 25"/>
          <p:cNvSpPr txBox="1"/>
          <p:nvPr/>
        </p:nvSpPr>
        <p:spPr>
          <a:xfrm>
            <a:off x="4709160" y="2679192"/>
            <a:ext cx="1005840" cy="274320"/>
          </a:xfrm>
          <a:prstGeom prst="rect">
            <a:avLst/>
          </a:prstGeom>
          <a:noFill/>
          <a:ln/>
        </p:spPr>
        <p:txBody>
          <a:bodyPr wrap="square" lIns="0" tIns="0" rIns="0" bIns="0" rtlCol="0" anchor="ctr"/>
          <a:lstStyle/>
          <a:p>
            <a:pPr algn="ctr" indent="0" marL="0">
              <a:buNone/>
            </a:pPr>
            <a:r>
              <a:rPr lang="en-US" sz="1000" dirty="0">
                <a:solidFill>
                  <a:srgbClr val="12253D"/>
                </a:solidFill>
                <a:latin typeface="Calibri" pitchFamily="34" charset="0"/>
                <a:ea typeface="Calibri" pitchFamily="34" charset="-122"/>
                <a:cs typeface="Calibri" pitchFamily="34" charset="-120"/>
              </a:rPr>
              <a:t>POST /pagos</a:t>
            </a:r>
            <a:endParaRPr lang="en-US" sz="1000" dirty="0"/>
          </a:p>
        </p:txBody>
      </p:sp>
      <p:pic>
        <p:nvPicPr>
          <p:cNvPr id="31" name="Image 3" descr="preencoded.png">    </p:cNvPr>
          <p:cNvPicPr>
            <a:picLocks noChangeAspect="1"/>
          </p:cNvPicPr>
          <p:nvPr/>
        </p:nvPicPr>
        <p:blipFill>
          <a:blip r:embed="rId4"/>
          <a:stretch>
            <a:fillRect/>
          </a:stretch>
        </p:blipFill>
        <p:spPr>
          <a:xfrm>
            <a:off x="7040880" y="3108960"/>
            <a:ext cx="329184" cy="329184"/>
          </a:xfrm>
          <a:prstGeom prst="rect">
            <a:avLst/>
          </a:prstGeom>
        </p:spPr>
      </p:pic>
      <p:sp>
        <p:nvSpPr>
          <p:cNvPr id="32" name="Text 26"/>
          <p:cNvSpPr txBox="1"/>
          <p:nvPr/>
        </p:nvSpPr>
        <p:spPr>
          <a:xfrm>
            <a:off x="6675120" y="3474720"/>
            <a:ext cx="1051560" cy="274320"/>
          </a:xfrm>
          <a:prstGeom prst="rect">
            <a:avLst/>
          </a:prstGeom>
          <a:noFill/>
          <a:ln/>
        </p:spPr>
        <p:txBody>
          <a:bodyPr wrap="square" lIns="0" tIns="0" rIns="0" bIns="0" rtlCol="0" anchor="t"/>
          <a:lstStyle/>
          <a:p>
            <a:pPr algn="ctr" indent="0" marL="0">
              <a:buNone/>
            </a:pPr>
            <a:r>
              <a:rPr lang="en-US" sz="1000" dirty="0">
                <a:solidFill>
                  <a:srgbClr val="B91C1C"/>
                </a:solidFill>
                <a:latin typeface="Calibri" pitchFamily="34" charset="0"/>
                <a:ea typeface="Calibri" pitchFamily="34" charset="-122"/>
                <a:cs typeface="Calibri" pitchFamily="34" charset="-120"/>
              </a:rPr>
              <a:t>cobra y cae</a:t>
            </a:r>
            <a:endParaRPr lang="en-US" sz="1000" dirty="0"/>
          </a:p>
        </p:txBody>
      </p:sp>
      <p:sp>
        <p:nvSpPr>
          <p:cNvPr id="33" name="Shape 27"/>
          <p:cNvSpPr/>
          <p:nvPr/>
        </p:nvSpPr>
        <p:spPr>
          <a:xfrm>
            <a:off x="4389120" y="4343400"/>
            <a:ext cx="1463040" cy="457200"/>
          </a:xfrm>
          <a:prstGeom prst="roundRect">
            <a:avLst>
              <a:gd name="adj" fmla="val 16000"/>
            </a:avLst>
          </a:prstGeom>
          <a:solidFill>
            <a:srgbClr val="FEF2F2"/>
          </a:solidFill>
          <a:ln w="12700">
            <a:solidFill>
              <a:srgbClr val="B91C1C"/>
            </a:solidFill>
            <a:prstDash val="solid"/>
          </a:ln>
        </p:spPr>
      </p:sp>
      <p:sp>
        <p:nvSpPr>
          <p:cNvPr id="34" name="Text 28"/>
          <p:cNvSpPr txBox="1"/>
          <p:nvPr/>
        </p:nvSpPr>
        <p:spPr>
          <a:xfrm>
            <a:off x="4389120" y="4343400"/>
            <a:ext cx="1463040" cy="45720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timeout</a:t>
            </a:r>
            <a:endParaRPr lang="en-US" sz="1200" dirty="0"/>
          </a:p>
        </p:txBody>
      </p:sp>
      <p:sp>
        <p:nvSpPr>
          <p:cNvPr id="35" name="Text 29"/>
          <p:cNvSpPr txBox="1"/>
          <p:nvPr/>
        </p:nvSpPr>
        <p:spPr>
          <a:xfrm>
            <a:off x="6080760" y="4389120"/>
            <a:ext cx="1737360" cy="411480"/>
          </a:xfrm>
          <a:prstGeom prst="rect">
            <a:avLst/>
          </a:prstGeom>
          <a:noFill/>
          <a:ln/>
        </p:spPr>
        <p:txBody>
          <a:bodyPr wrap="square" lIns="0" tIns="0" rIns="0" bIns="0" rtlCol="0" anchor="ctr"/>
          <a:lstStyle/>
          <a:p>
            <a:pPr algn="ctr" indent="0" marL="0">
              <a:buNone/>
            </a:pPr>
            <a:r>
              <a:rPr lang="en-US" sz="1100" dirty="0">
                <a:solidFill>
                  <a:srgbClr val="4B6178"/>
                </a:solidFill>
                <a:latin typeface="Calibri" pitchFamily="34" charset="0"/>
                <a:ea typeface="Calibri" pitchFamily="34" charset="-122"/>
                <a:cs typeface="Calibri" pitchFamily="34" charset="-120"/>
              </a:rPr>
              <a:t>se ejecutó... o no</a:t>
            </a:r>
            <a:endParaRPr lang="en-US" sz="1100" dirty="0"/>
          </a:p>
        </p:txBody>
      </p:sp>
      <p:sp>
        <p:nvSpPr>
          <p:cNvPr id="36" name="Shape 30"/>
          <p:cNvSpPr/>
          <p:nvPr/>
        </p:nvSpPr>
        <p:spPr>
          <a:xfrm>
            <a:off x="8046720" y="1371600"/>
            <a:ext cx="3611880" cy="3566160"/>
          </a:xfrm>
          <a:prstGeom prst="roundRect">
            <a:avLst>
              <a:gd name="adj" fmla="val 2051"/>
            </a:avLst>
          </a:prstGeom>
          <a:solidFill>
            <a:srgbClr val="FFFFFF"/>
          </a:solidFill>
          <a:ln w="12700">
            <a:solidFill>
              <a:srgbClr val="D9E2EE"/>
            </a:solidFill>
            <a:prstDash val="solid"/>
          </a:ln>
        </p:spPr>
      </p:sp>
      <p:sp>
        <p:nvSpPr>
          <p:cNvPr id="37" name="Text 31"/>
          <p:cNvSpPr txBox="1"/>
          <p:nvPr/>
        </p:nvSpPr>
        <p:spPr>
          <a:xfrm>
            <a:off x="8183880" y="1481328"/>
            <a:ext cx="3337560" cy="320040"/>
          </a:xfrm>
          <a:prstGeom prst="rect">
            <a:avLst/>
          </a:prstGeom>
          <a:noFill/>
          <a:ln/>
        </p:spPr>
        <p:txBody>
          <a:bodyPr wrap="square" lIns="0" tIns="0" rIns="0" bIns="0" rtlCol="0" anchor="t"/>
          <a:lstStyle/>
          <a:p>
            <a:pPr indent="0" marL="0">
              <a:buNone/>
            </a:pPr>
            <a:r>
              <a:rPr lang="en-US" sz="1400" b="1" dirty="0">
                <a:solidFill>
                  <a:srgbClr val="12253D"/>
                </a:solidFill>
                <a:latin typeface="Calibri" pitchFamily="34" charset="0"/>
                <a:ea typeface="Calibri" pitchFamily="34" charset="-122"/>
                <a:cs typeface="Calibri" pitchFamily="34" charset="-120"/>
              </a:rPr>
              <a:t>3 · La respuesta se pierde</a:t>
            </a:r>
            <a:endParaRPr lang="en-US" sz="1400" dirty="0"/>
          </a:p>
        </p:txBody>
      </p:sp>
      <p:sp>
        <p:nvSpPr>
          <p:cNvPr id="38" name="Shape 32"/>
          <p:cNvSpPr/>
          <p:nvPr/>
        </p:nvSpPr>
        <p:spPr>
          <a:xfrm>
            <a:off x="8270748" y="1961388"/>
            <a:ext cx="466344" cy="466344"/>
          </a:xfrm>
          <a:prstGeom prst="ellipse">
            <a:avLst/>
          </a:prstGeom>
          <a:solidFill>
            <a:srgbClr val="E8EEF6"/>
          </a:solidFill>
          <a:ln w="12700">
            <a:solidFill>
              <a:srgbClr val="E8EEF6"/>
            </a:solidFill>
            <a:prstDash val="solid"/>
          </a:ln>
        </p:spPr>
      </p:sp>
      <p:pic>
        <p:nvPicPr>
          <p:cNvPr id="39" name="Image 4" descr="preencoded.png">    </p:cNvPr>
          <p:cNvPicPr>
            <a:picLocks noChangeAspect="1"/>
          </p:cNvPicPr>
          <p:nvPr/>
        </p:nvPicPr>
        <p:blipFill>
          <a:blip r:embed="rId5"/>
          <a:stretch>
            <a:fillRect/>
          </a:stretch>
        </p:blipFill>
        <p:spPr>
          <a:xfrm>
            <a:off x="8366760" y="2057400"/>
            <a:ext cx="274320" cy="274320"/>
          </a:xfrm>
          <a:prstGeom prst="rect">
            <a:avLst/>
          </a:prstGeom>
        </p:spPr>
      </p:pic>
      <p:sp>
        <p:nvSpPr>
          <p:cNvPr id="40" name="Text 33"/>
          <p:cNvSpPr txBox="1"/>
          <p:nvPr/>
        </p:nvSpPr>
        <p:spPr>
          <a:xfrm>
            <a:off x="8092440" y="2468880"/>
            <a:ext cx="914400" cy="274320"/>
          </a:xfrm>
          <a:prstGeom prst="rect">
            <a:avLst/>
          </a:prstGeom>
          <a:noFill/>
          <a:ln/>
        </p:spPr>
        <p:txBody>
          <a:bodyPr wrap="square" lIns="0" tIns="0" rIns="0" bIns="0" rtlCol="0" anchor="t"/>
          <a:lstStyle/>
          <a:p>
            <a:pPr algn="ctr" indent="0" marL="0">
              <a:buNone/>
            </a:pPr>
            <a:r>
              <a:rPr lang="en-US" sz="1000" dirty="0">
                <a:solidFill>
                  <a:srgbClr val="4B6178"/>
                </a:solidFill>
                <a:latin typeface="Calibri" pitchFamily="34" charset="0"/>
                <a:ea typeface="Calibri" pitchFamily="34" charset="-122"/>
                <a:cs typeface="Calibri" pitchFamily="34" charset="-120"/>
              </a:rPr>
              <a:t>cliente</a:t>
            </a:r>
            <a:endParaRPr lang="en-US" sz="1000" dirty="0"/>
          </a:p>
        </p:txBody>
      </p:sp>
      <p:sp>
        <p:nvSpPr>
          <p:cNvPr id="41" name="Shape 34"/>
          <p:cNvSpPr/>
          <p:nvPr/>
        </p:nvSpPr>
        <p:spPr>
          <a:xfrm>
            <a:off x="10469880" y="1920240"/>
            <a:ext cx="1051560" cy="457200"/>
          </a:xfrm>
          <a:prstGeom prst="roundRect">
            <a:avLst>
              <a:gd name="adj" fmla="val 16000"/>
            </a:avLst>
          </a:prstGeom>
          <a:solidFill>
            <a:srgbClr val="FFFFFF"/>
          </a:solidFill>
          <a:ln w="15875">
            <a:solidFill>
              <a:srgbClr val="12253D"/>
            </a:solidFill>
            <a:prstDash val="solid"/>
          </a:ln>
        </p:spPr>
      </p:sp>
      <p:sp>
        <p:nvSpPr>
          <p:cNvPr id="42" name="Text 35"/>
          <p:cNvSpPr txBox="1"/>
          <p:nvPr/>
        </p:nvSpPr>
        <p:spPr>
          <a:xfrm>
            <a:off x="10561320" y="1920240"/>
            <a:ext cx="868680" cy="45720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pagos</a:t>
            </a:r>
            <a:endParaRPr lang="en-US" sz="1200" dirty="0"/>
          </a:p>
        </p:txBody>
      </p:sp>
      <p:sp>
        <p:nvSpPr>
          <p:cNvPr id="43" name="Shape 36"/>
          <p:cNvSpPr/>
          <p:nvPr/>
        </p:nvSpPr>
        <p:spPr>
          <a:xfrm>
            <a:off x="9464040" y="2057400"/>
            <a:ext cx="731520" cy="2148840"/>
          </a:xfrm>
          <a:prstGeom prst="roundRect">
            <a:avLst/>
          </a:prstGeom>
          <a:solidFill>
            <a:srgbClr val="F5F8FC">
              <a:alpha val="0"/>
            </a:srgbClr>
          </a:solidFill>
          <a:ln w="12700">
            <a:solidFill>
              <a:srgbClr val="4B6178"/>
            </a:solidFill>
            <a:prstDash val="dash"/>
          </a:ln>
        </p:spPr>
      </p:sp>
      <p:sp>
        <p:nvSpPr>
          <p:cNvPr id="44" name="Text 37"/>
          <p:cNvSpPr txBox="1"/>
          <p:nvPr/>
        </p:nvSpPr>
        <p:spPr>
          <a:xfrm>
            <a:off x="9464040" y="1764792"/>
            <a:ext cx="7315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45" name="Shape 38"/>
          <p:cNvSpPr/>
          <p:nvPr/>
        </p:nvSpPr>
        <p:spPr>
          <a:xfrm>
            <a:off x="8549640" y="2971800"/>
            <a:ext cx="1920240" cy="0"/>
          </a:xfrm>
          <a:prstGeom prst="line">
            <a:avLst/>
          </a:prstGeom>
          <a:noFill/>
          <a:ln w="22225">
            <a:solidFill>
              <a:srgbClr val="12253D"/>
            </a:solidFill>
            <a:prstDash val="solid"/>
            <a:tailEnd type="triangle"/>
          </a:ln>
        </p:spPr>
      </p:sp>
      <p:sp>
        <p:nvSpPr>
          <p:cNvPr id="46" name="Text 39"/>
          <p:cNvSpPr txBox="1"/>
          <p:nvPr/>
        </p:nvSpPr>
        <p:spPr>
          <a:xfrm>
            <a:off x="8503920" y="2679192"/>
            <a:ext cx="1005840" cy="274320"/>
          </a:xfrm>
          <a:prstGeom prst="rect">
            <a:avLst/>
          </a:prstGeom>
          <a:noFill/>
          <a:ln/>
        </p:spPr>
        <p:txBody>
          <a:bodyPr wrap="square" lIns="0" tIns="0" rIns="0" bIns="0" rtlCol="0" anchor="ctr"/>
          <a:lstStyle/>
          <a:p>
            <a:pPr algn="ctr" indent="0" marL="0">
              <a:buNone/>
            </a:pPr>
            <a:r>
              <a:rPr lang="en-US" sz="1000" dirty="0">
                <a:solidFill>
                  <a:srgbClr val="12253D"/>
                </a:solidFill>
                <a:latin typeface="Calibri" pitchFamily="34" charset="0"/>
                <a:ea typeface="Calibri" pitchFamily="34" charset="-122"/>
                <a:cs typeface="Calibri" pitchFamily="34" charset="-120"/>
              </a:rPr>
              <a:t>POST /pagos</a:t>
            </a:r>
            <a:endParaRPr lang="en-US" sz="1000" dirty="0"/>
          </a:p>
        </p:txBody>
      </p:sp>
      <p:sp>
        <p:nvSpPr>
          <p:cNvPr id="47" name="Text 40"/>
          <p:cNvSpPr txBox="1"/>
          <p:nvPr/>
        </p:nvSpPr>
        <p:spPr>
          <a:xfrm>
            <a:off x="10469880" y="3108960"/>
            <a:ext cx="1051560" cy="274320"/>
          </a:xfrm>
          <a:prstGeom prst="rect">
            <a:avLst/>
          </a:prstGeom>
          <a:noFill/>
          <a:ln/>
        </p:spPr>
        <p:txBody>
          <a:bodyPr wrap="square" lIns="0" tIns="0" rIns="0" bIns="0" rtlCol="0" anchor="t"/>
          <a:lstStyle/>
          <a:p>
            <a:pPr algn="ctr" indent="0" marL="0">
              <a:buNone/>
            </a:pPr>
            <a:r>
              <a:rPr lang="en-US" sz="1000" dirty="0">
                <a:solidFill>
                  <a:srgbClr val="15803D"/>
                </a:solidFill>
                <a:latin typeface="Calibri" pitchFamily="34" charset="0"/>
                <a:ea typeface="Calibri" pitchFamily="34" charset="-122"/>
                <a:cs typeface="Calibri" pitchFamily="34" charset="-120"/>
              </a:rPr>
              <a:t>cobra: 201</a:t>
            </a:r>
            <a:endParaRPr lang="en-US" sz="1000" dirty="0"/>
          </a:p>
        </p:txBody>
      </p:sp>
      <p:sp>
        <p:nvSpPr>
          <p:cNvPr id="48" name="Shape 41"/>
          <p:cNvSpPr/>
          <p:nvPr/>
        </p:nvSpPr>
        <p:spPr>
          <a:xfrm flipH="1">
            <a:off x="9646920" y="3977640"/>
            <a:ext cx="822960" cy="0"/>
          </a:xfrm>
          <a:prstGeom prst="line">
            <a:avLst/>
          </a:prstGeom>
          <a:noFill/>
          <a:ln w="22225">
            <a:solidFill>
              <a:srgbClr val="15803D"/>
            </a:solidFill>
            <a:prstDash val="solid"/>
            <a:tailEnd type="triangle"/>
          </a:ln>
        </p:spPr>
      </p:sp>
      <p:pic>
        <p:nvPicPr>
          <p:cNvPr id="49" name="Image 5" descr="preencoded.png">    </p:cNvPr>
          <p:cNvPicPr>
            <a:picLocks noChangeAspect="1"/>
          </p:cNvPicPr>
          <p:nvPr/>
        </p:nvPicPr>
        <p:blipFill>
          <a:blip r:embed="rId6"/>
          <a:stretch>
            <a:fillRect/>
          </a:stretch>
        </p:blipFill>
        <p:spPr>
          <a:xfrm>
            <a:off x="9509760" y="3822192"/>
            <a:ext cx="292608" cy="292608"/>
          </a:xfrm>
          <a:prstGeom prst="rect">
            <a:avLst/>
          </a:prstGeom>
        </p:spPr>
      </p:pic>
      <p:sp>
        <p:nvSpPr>
          <p:cNvPr id="50" name="Shape 42"/>
          <p:cNvSpPr/>
          <p:nvPr/>
        </p:nvSpPr>
        <p:spPr>
          <a:xfrm>
            <a:off x="8183880" y="4343400"/>
            <a:ext cx="1463040" cy="457200"/>
          </a:xfrm>
          <a:prstGeom prst="roundRect">
            <a:avLst>
              <a:gd name="adj" fmla="val 16000"/>
            </a:avLst>
          </a:prstGeom>
          <a:solidFill>
            <a:srgbClr val="FEF2F2"/>
          </a:solidFill>
          <a:ln w="12700">
            <a:solidFill>
              <a:srgbClr val="B91C1C"/>
            </a:solidFill>
            <a:prstDash val="solid"/>
          </a:ln>
        </p:spPr>
      </p:sp>
      <p:sp>
        <p:nvSpPr>
          <p:cNvPr id="51" name="Text 43"/>
          <p:cNvSpPr txBox="1"/>
          <p:nvPr/>
        </p:nvSpPr>
        <p:spPr>
          <a:xfrm>
            <a:off x="8183880" y="4343400"/>
            <a:ext cx="1463040" cy="45720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timeout</a:t>
            </a:r>
            <a:endParaRPr lang="en-US" sz="1200" dirty="0"/>
          </a:p>
        </p:txBody>
      </p:sp>
      <p:sp>
        <p:nvSpPr>
          <p:cNvPr id="52" name="Text 44"/>
          <p:cNvSpPr txBox="1"/>
          <p:nvPr/>
        </p:nvSpPr>
        <p:spPr>
          <a:xfrm>
            <a:off x="9875520" y="4389120"/>
            <a:ext cx="1737360" cy="411480"/>
          </a:xfrm>
          <a:prstGeom prst="rect">
            <a:avLst/>
          </a:prstGeom>
          <a:noFill/>
          <a:ln/>
        </p:spPr>
        <p:txBody>
          <a:bodyPr wrap="square" lIns="0" tIns="0" rIns="0" bIns="0" rtlCol="0" anchor="ctr"/>
          <a:lstStyle/>
          <a:p>
            <a:pPr algn="ctr" indent="0" marL="0">
              <a:buNone/>
            </a:pPr>
            <a:r>
              <a:rPr lang="en-US" sz="1100" dirty="0">
                <a:solidFill>
                  <a:srgbClr val="4B6178"/>
                </a:solidFill>
                <a:latin typeface="Calibri" pitchFamily="34" charset="0"/>
                <a:ea typeface="Calibri" pitchFamily="34" charset="-122"/>
                <a:cs typeface="Calibri" pitchFamily="34" charset="-120"/>
              </a:rPr>
              <a:t>sí se ejecutó</a:t>
            </a:r>
            <a:endParaRPr lang="en-US" sz="1100" dirty="0"/>
          </a:p>
        </p:txBody>
      </p:sp>
      <p:sp>
        <p:nvSpPr>
          <p:cNvPr id="53" name="Shape 45"/>
          <p:cNvSpPr/>
          <p:nvPr/>
        </p:nvSpPr>
        <p:spPr>
          <a:xfrm>
            <a:off x="457200" y="5120640"/>
            <a:ext cx="11247120" cy="822960"/>
          </a:xfrm>
          <a:prstGeom prst="roundRect">
            <a:avLst>
              <a:gd name="adj" fmla="val 8889"/>
            </a:avLst>
          </a:prstGeom>
          <a:solidFill>
            <a:srgbClr val="DBEAFE"/>
          </a:solidFill>
          <a:ln w="12700">
            <a:solidFill>
              <a:srgbClr val="DBEAFE"/>
            </a:solidFill>
            <a:prstDash val="solid"/>
          </a:ln>
        </p:spPr>
      </p:sp>
      <p:sp>
        <p:nvSpPr>
          <p:cNvPr id="54" name="Text 46"/>
          <p:cNvSpPr txBox="1"/>
          <p:nvPr/>
        </p:nvSpPr>
        <p:spPr>
          <a:xfrm>
            <a:off x="640080" y="5120640"/>
            <a:ext cx="10881360" cy="822960"/>
          </a:xfrm>
          <a:prstGeom prst="rect">
            <a:avLst/>
          </a:prstGeom>
          <a:noFill/>
          <a:ln/>
        </p:spPr>
        <p:txBody>
          <a:bodyPr wrap="square" lIns="0" tIns="0" rIns="0" bIns="0" rtlCol="0" anchor="ctr"/>
          <a:lstStyle/>
          <a:p>
            <a:pPr indent="0" marL="0">
              <a:buNone/>
            </a:pPr>
            <a:r>
              <a:rPr lang="en-US" sz="1600" b="1" dirty="0">
                <a:solidFill>
                  <a:srgbClr val="12253D"/>
                </a:solidFill>
                <a:latin typeface="Calibri" pitchFamily="34" charset="0"/>
                <a:ea typeface="Calibri" pitchFamily="34" charset="-122"/>
                <a:cs typeface="Calibri" pitchFamily="34" charset="-120"/>
              </a:rPr>
              <a:t>El cliente ve exactamente lo mismo en las tres: un timeout. Asumir "no se ejecutó" es la causa clásica del cobro doble.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Predice: un cliente con timeout de 2 s contra un servidor que tarda 5 s</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6/32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predice</a:t>
            </a:r>
            <a:endParaRPr lang="en-US" sz="1100" dirty="0"/>
          </a:p>
        </p:txBody>
      </p:sp>
      <p:sp>
        <p:nvSpPr>
          <p:cNvPr id="8" name="Shape 5"/>
          <p:cNvSpPr/>
          <p:nvPr/>
        </p:nvSpPr>
        <p:spPr>
          <a:xfrm>
            <a:off x="457200" y="1371600"/>
            <a:ext cx="7589520" cy="3566160"/>
          </a:xfrm>
          <a:prstGeom prst="roundRect">
            <a:avLst>
              <a:gd name="adj" fmla="val 1538"/>
            </a:avLst>
          </a:prstGeom>
          <a:solidFill>
            <a:srgbClr val="1E293B"/>
          </a:solidFill>
          <a:ln w="12700">
            <a:solidFill>
              <a:srgbClr val="1E293B"/>
            </a:solidFill>
            <a:prstDash val="solid"/>
          </a:ln>
        </p:spPr>
      </p:sp>
      <p:sp>
        <p:nvSpPr>
          <p:cNvPr id="9" name="Text 6"/>
          <p:cNvSpPr txBox="1"/>
          <p:nvPr/>
        </p:nvSpPr>
        <p:spPr>
          <a:xfrm>
            <a:off x="621792" y="150876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HttpClient client = HttpClient.newBuilder()</a:t>
            </a:r>
            <a:endParaRPr lang="en-US" sz="1100" dirty="0"/>
          </a:p>
        </p:txBody>
      </p:sp>
      <p:sp>
        <p:nvSpPr>
          <p:cNvPr id="10" name="Text 7"/>
          <p:cNvSpPr txBox="1"/>
          <p:nvPr/>
        </p:nvSpPr>
        <p:spPr>
          <a:xfrm>
            <a:off x="621792" y="178308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        .connectTimeout(Duration.ofSeconds(1)).build();</a:t>
            </a:r>
            <a:endParaRPr lang="en-US" sz="1100" dirty="0"/>
          </a:p>
        </p:txBody>
      </p:sp>
      <p:sp>
        <p:nvSpPr>
          <p:cNvPr id="11" name="Text 8"/>
          <p:cNvSpPr txBox="1"/>
          <p:nvPr/>
        </p:nvSpPr>
        <p:spPr>
          <a:xfrm>
            <a:off x="621792" y="205740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HttpRequest req = HttpRequest.newBuilder(URI.create(url))   // :8081/cobrar</a:t>
            </a:r>
            <a:endParaRPr lang="en-US" sz="1100" dirty="0"/>
          </a:p>
        </p:txBody>
      </p:sp>
      <p:sp>
        <p:nvSpPr>
          <p:cNvPr id="12" name="Shape 9"/>
          <p:cNvSpPr/>
          <p:nvPr/>
        </p:nvSpPr>
        <p:spPr>
          <a:xfrm>
            <a:off x="530352" y="2313432"/>
            <a:ext cx="7443216" cy="292608"/>
          </a:xfrm>
          <a:prstGeom prst="roundRect">
            <a:avLst>
              <a:gd name="adj" fmla="val 9375"/>
            </a:avLst>
          </a:prstGeom>
          <a:solidFill>
            <a:srgbClr val="334155"/>
          </a:solidFill>
          <a:ln w="12700">
            <a:solidFill>
              <a:srgbClr val="334155"/>
            </a:solidFill>
            <a:prstDash val="solid"/>
          </a:ln>
        </p:spPr>
      </p:sp>
      <p:sp>
        <p:nvSpPr>
          <p:cNvPr id="13" name="Text 10"/>
          <p:cNvSpPr txBox="1"/>
          <p:nvPr/>
        </p:nvSpPr>
        <p:spPr>
          <a:xfrm>
            <a:off x="621792" y="2331720"/>
            <a:ext cx="7315200" cy="274320"/>
          </a:xfrm>
          <a:prstGeom prst="rect">
            <a:avLst/>
          </a:prstGeom>
          <a:noFill/>
          <a:ln/>
        </p:spPr>
        <p:txBody>
          <a:bodyPr wrap="square" lIns="0" tIns="0" rIns="0" bIns="0" rtlCol="0" anchor="ctr"/>
          <a:lstStyle/>
          <a:p>
            <a:pPr indent="0" marL="0">
              <a:buNone/>
            </a:pPr>
            <a:r>
              <a:rPr lang="en-US" sz="1100" dirty="0">
                <a:solidFill>
                  <a:srgbClr val="FDE68A"/>
                </a:solidFill>
                <a:latin typeface="Courier New" pitchFamily="34" charset="0"/>
                <a:ea typeface="Courier New" pitchFamily="34" charset="-122"/>
                <a:cs typeface="Courier New" pitchFamily="34" charset="-120"/>
              </a:rPr>
              <a:t>        .timeout(Duration.ofSeconds(2))</a:t>
            </a:r>
            <a:endParaRPr lang="en-US" sz="1100" dirty="0"/>
          </a:p>
        </p:txBody>
      </p:sp>
      <p:sp>
        <p:nvSpPr>
          <p:cNvPr id="14" name="Text 11"/>
          <p:cNvSpPr txBox="1"/>
          <p:nvPr/>
        </p:nvSpPr>
        <p:spPr>
          <a:xfrm>
            <a:off x="621792" y="260604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        .POST(BodyPublishers.ofString("250")).build();</a:t>
            </a:r>
            <a:endParaRPr lang="en-US" sz="1100" dirty="0"/>
          </a:p>
        </p:txBody>
      </p:sp>
      <p:sp>
        <p:nvSpPr>
          <p:cNvPr id="15" name="Text 12"/>
          <p:cNvSpPr txBox="1"/>
          <p:nvPr/>
        </p:nvSpPr>
        <p:spPr>
          <a:xfrm>
            <a:off x="621792" y="288036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long t0 = System.currentTimeMillis();</a:t>
            </a:r>
            <a:endParaRPr lang="en-US" sz="1100" dirty="0"/>
          </a:p>
        </p:txBody>
      </p:sp>
      <p:sp>
        <p:nvSpPr>
          <p:cNvPr id="16" name="Text 13"/>
          <p:cNvSpPr txBox="1"/>
          <p:nvPr/>
        </p:nvSpPr>
        <p:spPr>
          <a:xfrm>
            <a:off x="621792" y="315468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try {</a:t>
            </a:r>
            <a:endParaRPr lang="en-US" sz="1100" dirty="0"/>
          </a:p>
        </p:txBody>
      </p:sp>
      <p:sp>
        <p:nvSpPr>
          <p:cNvPr id="17" name="Text 14"/>
          <p:cNvSpPr txBox="1"/>
          <p:nvPr/>
        </p:nvSpPr>
        <p:spPr>
          <a:xfrm>
            <a:off x="621792" y="342900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    var r = client.send(req, BodyHandlers.ofString());</a:t>
            </a:r>
            <a:endParaRPr lang="en-US" sz="1100" dirty="0"/>
          </a:p>
        </p:txBody>
      </p:sp>
      <p:sp>
        <p:nvSpPr>
          <p:cNvPr id="18" name="Text 15"/>
          <p:cNvSpPr txBox="1"/>
          <p:nvPr/>
        </p:nvSpPr>
        <p:spPr>
          <a:xfrm>
            <a:off x="621792" y="370332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    System.out.println("respuesta " + r.statusCode() + ": " + r.body());</a:t>
            </a:r>
            <a:endParaRPr lang="en-US" sz="1100" dirty="0"/>
          </a:p>
        </p:txBody>
      </p:sp>
      <p:sp>
        <p:nvSpPr>
          <p:cNvPr id="19" name="Shape 16"/>
          <p:cNvSpPr/>
          <p:nvPr/>
        </p:nvSpPr>
        <p:spPr>
          <a:xfrm>
            <a:off x="530352" y="3959352"/>
            <a:ext cx="7443216" cy="292608"/>
          </a:xfrm>
          <a:prstGeom prst="roundRect">
            <a:avLst>
              <a:gd name="adj" fmla="val 9375"/>
            </a:avLst>
          </a:prstGeom>
          <a:solidFill>
            <a:srgbClr val="334155"/>
          </a:solidFill>
          <a:ln w="12700">
            <a:solidFill>
              <a:srgbClr val="334155"/>
            </a:solidFill>
            <a:prstDash val="solid"/>
          </a:ln>
        </p:spPr>
      </p:sp>
      <p:sp>
        <p:nvSpPr>
          <p:cNvPr id="20" name="Text 17"/>
          <p:cNvSpPr txBox="1"/>
          <p:nvPr/>
        </p:nvSpPr>
        <p:spPr>
          <a:xfrm>
            <a:off x="621792" y="3977640"/>
            <a:ext cx="7315200" cy="274320"/>
          </a:xfrm>
          <a:prstGeom prst="rect">
            <a:avLst/>
          </a:prstGeom>
          <a:noFill/>
          <a:ln/>
        </p:spPr>
        <p:txBody>
          <a:bodyPr wrap="square" lIns="0" tIns="0" rIns="0" bIns="0" rtlCol="0" anchor="ctr"/>
          <a:lstStyle/>
          <a:p>
            <a:pPr indent="0" marL="0">
              <a:buNone/>
            </a:pPr>
            <a:r>
              <a:rPr lang="en-US" sz="1100" dirty="0">
                <a:solidFill>
                  <a:srgbClr val="FDE68A"/>
                </a:solidFill>
                <a:latin typeface="Courier New" pitchFamily="34" charset="0"/>
                <a:ea typeface="Courier New" pitchFamily="34" charset="-122"/>
                <a:cs typeface="Courier New" pitchFamily="34" charset="-120"/>
              </a:rPr>
              <a:t>} catch (HttpTimeoutException e) {</a:t>
            </a:r>
            <a:endParaRPr lang="en-US" sz="1100" dirty="0"/>
          </a:p>
        </p:txBody>
      </p:sp>
      <p:sp>
        <p:nvSpPr>
          <p:cNvPr id="21" name="Text 18"/>
          <p:cNvSpPr txBox="1"/>
          <p:nvPr/>
        </p:nvSpPr>
        <p:spPr>
          <a:xfrm>
            <a:off x="621792" y="425196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    System.out.println(e + " a los " + (System.currentTimeMillis()-t0) + " ms");</a:t>
            </a:r>
            <a:endParaRPr lang="en-US" sz="1100" dirty="0"/>
          </a:p>
        </p:txBody>
      </p:sp>
      <p:sp>
        <p:nvSpPr>
          <p:cNvPr id="22" name="Text 19"/>
          <p:cNvSpPr txBox="1"/>
          <p:nvPr/>
        </p:nvSpPr>
        <p:spPr>
          <a:xfrm>
            <a:off x="621792" y="4526280"/>
            <a:ext cx="7315200" cy="27432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23" name="Text 20"/>
          <p:cNvSpPr txBox="1"/>
          <p:nvPr/>
        </p:nvSpPr>
        <p:spPr>
          <a:xfrm>
            <a:off x="457200" y="5120640"/>
            <a:ext cx="7589520" cy="36576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El servidor (Servidor.java, puerto 8081) duerme 5 s y luego imprime "cobro hecho".</a:t>
            </a:r>
            <a:endParaRPr lang="en-US" sz="1300" dirty="0"/>
          </a:p>
        </p:txBody>
      </p:sp>
      <p:sp>
        <p:nvSpPr>
          <p:cNvPr id="24" name="Shape 21"/>
          <p:cNvSpPr/>
          <p:nvPr/>
        </p:nvSpPr>
        <p:spPr>
          <a:xfrm>
            <a:off x="8321040" y="1371600"/>
            <a:ext cx="3383280" cy="2743200"/>
          </a:xfrm>
          <a:prstGeom prst="roundRect">
            <a:avLst>
              <a:gd name="adj" fmla="val 2667"/>
            </a:avLst>
          </a:prstGeom>
          <a:solidFill>
            <a:srgbClr val="FFFFFF"/>
          </a:solidFill>
          <a:ln w="12700">
            <a:solidFill>
              <a:srgbClr val="D9E2EE"/>
            </a:solidFill>
            <a:prstDash val="solid"/>
          </a:ln>
        </p:spPr>
      </p:sp>
      <p:pic>
        <p:nvPicPr>
          <p:cNvPr id="25" name="Image 1" descr="preencoded.png">    </p:cNvPr>
          <p:cNvPicPr>
            <a:picLocks noChangeAspect="1"/>
          </p:cNvPicPr>
          <p:nvPr/>
        </p:nvPicPr>
        <p:blipFill>
          <a:blip r:embed="rId2"/>
          <a:stretch>
            <a:fillRect/>
          </a:stretch>
        </p:blipFill>
        <p:spPr>
          <a:xfrm>
            <a:off x="8485632" y="1508760"/>
            <a:ext cx="274320" cy="274320"/>
          </a:xfrm>
          <a:prstGeom prst="rect">
            <a:avLst/>
          </a:prstGeom>
        </p:spPr>
      </p:pic>
      <p:sp>
        <p:nvSpPr>
          <p:cNvPr id="26" name="Text 22"/>
          <p:cNvSpPr txBox="1"/>
          <p:nvPr/>
        </p:nvSpPr>
        <p:spPr>
          <a:xfrm>
            <a:off x="8869680" y="1481328"/>
            <a:ext cx="267004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Dos preguntas</a:t>
            </a:r>
            <a:endParaRPr lang="en-US" sz="1300" dirty="0"/>
          </a:p>
        </p:txBody>
      </p:sp>
      <p:sp>
        <p:nvSpPr>
          <p:cNvPr id="27" name="Text 23"/>
          <p:cNvSpPr txBox="1"/>
          <p:nvPr/>
        </p:nvSpPr>
        <p:spPr>
          <a:xfrm>
            <a:off x="8485632" y="1847088"/>
            <a:ext cx="3054096" cy="2157984"/>
          </a:xfrm>
          <a:prstGeom prst="rect">
            <a:avLst/>
          </a:prstGeom>
          <a:noFill/>
          <a:ln/>
        </p:spPr>
        <p:txBody>
          <a:bodyPr wrap="square" lIns="0" tIns="0" rIns="0" bIns="0" rtlCol="0" anchor="t"/>
          <a:lstStyle/>
          <a:p>
            <a:pPr indent="0" marL="0">
              <a:spcAft>
                <a:spcPts val="400"/>
              </a:spcAft>
              <a:buNone/>
            </a:pPr>
            <a:r>
              <a:rPr lang="en-US" sz="1500" dirty="0">
                <a:solidFill>
                  <a:srgbClr val="12253D"/>
                </a:solidFill>
                <a:latin typeface="Calibri" pitchFamily="34" charset="0"/>
                <a:ea typeface="Calibri" pitchFamily="34" charset="-122"/>
                <a:cs typeface="Calibri" pitchFamily="34" charset="-120"/>
              </a:rPr>
              <a:t>1. ¿Qué imprime el cliente y a los cuántos milisegundos?</a:t>
            </a:r>
            <a:endParaRPr lang="en-US" sz="1500" dirty="0"/>
          </a:p>
          <a:p>
            <a:pPr indent="0" marL="0">
              <a:spcAft>
                <a:spcPts val="400"/>
              </a:spcAft>
              <a:buNone/>
            </a:pPr>
            <a:endParaRPr lang="en-US" sz="1500" dirty="0"/>
          </a:p>
          <a:p>
            <a:pPr indent="0" marL="0">
              <a:spcAft>
                <a:spcPts val="400"/>
              </a:spcAft>
              <a:buNone/>
            </a:pPr>
            <a:r>
              <a:rPr lang="en-US" sz="1500" dirty="0">
                <a:solidFill>
                  <a:srgbClr val="12253D"/>
                </a:solidFill>
                <a:latin typeface="Calibri" pitchFamily="34" charset="0"/>
                <a:ea typeface="Calibri" pitchFamily="34" charset="-122"/>
                <a:cs typeface="Calibri" pitchFamily="34" charset="-120"/>
              </a:rPr>
              <a:t>2. ¿El servidor termina el cobro de todos modos?</a:t>
            </a:r>
            <a:endParaRPr lang="en-US" sz="1500" dirty="0"/>
          </a:p>
        </p:txBody>
      </p:sp>
      <p:sp>
        <p:nvSpPr>
          <p:cNvPr id="28" name="Shape 24"/>
          <p:cNvSpPr/>
          <p:nvPr/>
        </p:nvSpPr>
        <p:spPr>
          <a:xfrm>
            <a:off x="8321040" y="4297680"/>
            <a:ext cx="3383280" cy="365760"/>
          </a:xfrm>
          <a:prstGeom prst="roundRect">
            <a:avLst>
              <a:gd name="adj" fmla="val 42500"/>
            </a:avLst>
          </a:prstGeom>
          <a:solidFill>
            <a:srgbClr val="DBEAFE"/>
          </a:solidFill>
          <a:ln w="12700">
            <a:solidFill>
              <a:srgbClr val="DBEAFE"/>
            </a:solidFill>
            <a:prstDash val="solid"/>
          </a:ln>
        </p:spPr>
      </p:sp>
      <p:sp>
        <p:nvSpPr>
          <p:cNvPr id="29" name="Text 25"/>
          <p:cNvSpPr txBox="1"/>
          <p:nvPr/>
        </p:nvSpPr>
        <p:spPr>
          <a:xfrm>
            <a:off x="8321040" y="4297680"/>
            <a:ext cx="3383280" cy="36576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demo en vivo: codigo/TimeoutDemo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El timeout limita la espera, no el efecto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7/32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sp>
        <p:nvSpPr>
          <p:cNvPr id="5" name="Text 3"/>
          <p:cNvSpPr txBox="1"/>
          <p:nvPr/>
        </p:nvSpPr>
        <p:spPr>
          <a:xfrm>
            <a:off x="457200" y="1371600"/>
            <a:ext cx="5486400" cy="320040"/>
          </a:xfrm>
          <a:prstGeom prst="rect">
            <a:avLst/>
          </a:prstGeom>
          <a:noFill/>
          <a:ln/>
        </p:spPr>
        <p:txBody>
          <a:bodyPr wrap="square" lIns="0" tIns="0" rIns="0" bIns="0" rtlCol="0" anchor="t"/>
          <a:lstStyle/>
          <a:p>
            <a:pPr indent="0" marL="0">
              <a:buNone/>
            </a:pPr>
            <a:r>
              <a:rPr lang="en-US" sz="1300" b="1" dirty="0">
                <a:solidFill>
                  <a:srgbClr val="4B6178"/>
                </a:solidFill>
                <a:latin typeface="Calibri" pitchFamily="34" charset="0"/>
                <a:ea typeface="Calibri" pitchFamily="34" charset="-122"/>
                <a:cs typeface="Calibri" pitchFamily="34" charset="-120"/>
              </a:rPr>
              <a:t>Terminal del cliente</a:t>
            </a:r>
            <a:endParaRPr lang="en-US" sz="1300" dirty="0"/>
          </a:p>
        </p:txBody>
      </p:sp>
      <p:sp>
        <p:nvSpPr>
          <p:cNvPr id="6" name="Shape 4"/>
          <p:cNvSpPr/>
          <p:nvPr/>
        </p:nvSpPr>
        <p:spPr>
          <a:xfrm>
            <a:off x="457200" y="1737360"/>
            <a:ext cx="5486400" cy="1371600"/>
          </a:xfrm>
          <a:prstGeom prst="roundRect">
            <a:avLst>
              <a:gd name="adj" fmla="val 4000"/>
            </a:avLst>
          </a:prstGeom>
          <a:solidFill>
            <a:srgbClr val="1E293B"/>
          </a:solidFill>
          <a:ln w="12700">
            <a:solidFill>
              <a:srgbClr val="1E293B"/>
            </a:solidFill>
            <a:prstDash val="solid"/>
          </a:ln>
        </p:spPr>
      </p:sp>
      <p:sp>
        <p:nvSpPr>
          <p:cNvPr id="7" name="Text 5"/>
          <p:cNvSpPr txBox="1"/>
          <p:nvPr/>
        </p:nvSpPr>
        <p:spPr>
          <a:xfrm>
            <a:off x="621792" y="187452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java Cliente</a:t>
            </a:r>
            <a:endParaRPr lang="en-US" sz="1200" dirty="0"/>
          </a:p>
        </p:txBody>
      </p:sp>
      <p:sp>
        <p:nvSpPr>
          <p:cNvPr id="8" name="Text 6"/>
          <p:cNvSpPr txBox="1"/>
          <p:nvPr/>
        </p:nvSpPr>
        <p:spPr>
          <a:xfrm>
            <a:off x="621792" y="214884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java.net.http.HttpTimeoutException:</a:t>
            </a:r>
            <a:endParaRPr lang="en-US" sz="1200" dirty="0"/>
          </a:p>
        </p:txBody>
      </p:sp>
      <p:sp>
        <p:nvSpPr>
          <p:cNvPr id="9" name="Shape 7"/>
          <p:cNvSpPr/>
          <p:nvPr/>
        </p:nvSpPr>
        <p:spPr>
          <a:xfrm>
            <a:off x="530352" y="2404872"/>
            <a:ext cx="5340096" cy="292608"/>
          </a:xfrm>
          <a:prstGeom prst="roundRect">
            <a:avLst>
              <a:gd name="adj" fmla="val 9375"/>
            </a:avLst>
          </a:prstGeom>
          <a:solidFill>
            <a:srgbClr val="334155"/>
          </a:solidFill>
          <a:ln w="12700">
            <a:solidFill>
              <a:srgbClr val="334155"/>
            </a:solidFill>
            <a:prstDash val="solid"/>
          </a:ln>
        </p:spPr>
      </p:sp>
      <p:sp>
        <p:nvSpPr>
          <p:cNvPr id="10" name="Text 8"/>
          <p:cNvSpPr txBox="1"/>
          <p:nvPr/>
        </p:nvSpPr>
        <p:spPr>
          <a:xfrm>
            <a:off x="621792" y="2423160"/>
            <a:ext cx="5212080" cy="274320"/>
          </a:xfrm>
          <a:prstGeom prst="rect">
            <a:avLst/>
          </a:prstGeom>
          <a:noFill/>
          <a:ln/>
        </p:spPr>
        <p:txBody>
          <a:bodyPr wrap="square" lIns="0" tIns="0" rIns="0" bIns="0" rtlCol="0" anchor="ctr"/>
          <a:lstStyle/>
          <a:p>
            <a:pPr indent="0" marL="0">
              <a:buNone/>
            </a:pPr>
            <a:r>
              <a:rPr lang="en-US" sz="1200" dirty="0">
                <a:solidFill>
                  <a:srgbClr val="FDE68A"/>
                </a:solidFill>
                <a:latin typeface="Courier New" pitchFamily="34" charset="0"/>
                <a:ea typeface="Courier New" pitchFamily="34" charset="-122"/>
                <a:cs typeface="Courier New" pitchFamily="34" charset="-120"/>
              </a:rPr>
              <a:t>  request timed out a los 2015 ms</a:t>
            </a:r>
            <a:endParaRPr lang="en-US" sz="1200" dirty="0"/>
          </a:p>
        </p:txBody>
      </p:sp>
      <p:sp>
        <p:nvSpPr>
          <p:cNvPr id="11" name="Text 9"/>
          <p:cNvSpPr txBox="1"/>
          <p:nvPr/>
        </p:nvSpPr>
        <p:spPr>
          <a:xfrm>
            <a:off x="621792" y="269748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[cliente] no se si el servidor cobro</a:t>
            </a:r>
            <a:endParaRPr lang="en-US" sz="1200" dirty="0"/>
          </a:p>
        </p:txBody>
      </p:sp>
      <p:sp>
        <p:nvSpPr>
          <p:cNvPr id="12" name="Text 10"/>
          <p:cNvSpPr txBox="1"/>
          <p:nvPr/>
        </p:nvSpPr>
        <p:spPr>
          <a:xfrm>
            <a:off x="6245352" y="1371600"/>
            <a:ext cx="5486400" cy="320040"/>
          </a:xfrm>
          <a:prstGeom prst="rect">
            <a:avLst/>
          </a:prstGeom>
          <a:noFill/>
          <a:ln/>
        </p:spPr>
        <p:txBody>
          <a:bodyPr wrap="square" lIns="0" tIns="0" rIns="0" bIns="0" rtlCol="0" anchor="t"/>
          <a:lstStyle/>
          <a:p>
            <a:pPr indent="0" marL="0">
              <a:buNone/>
            </a:pPr>
            <a:r>
              <a:rPr lang="en-US" sz="1300" b="1" dirty="0">
                <a:solidFill>
                  <a:srgbClr val="4B6178"/>
                </a:solidFill>
                <a:latin typeface="Calibri" pitchFamily="34" charset="0"/>
                <a:ea typeface="Calibri" pitchFamily="34" charset="-122"/>
                <a:cs typeface="Calibri" pitchFamily="34" charset="-120"/>
              </a:rPr>
              <a:t>Terminal del servidor</a:t>
            </a:r>
            <a:endParaRPr lang="en-US" sz="1300" dirty="0"/>
          </a:p>
        </p:txBody>
      </p:sp>
      <p:sp>
        <p:nvSpPr>
          <p:cNvPr id="13" name="Shape 11"/>
          <p:cNvSpPr/>
          <p:nvPr/>
        </p:nvSpPr>
        <p:spPr>
          <a:xfrm>
            <a:off x="6245352" y="1737360"/>
            <a:ext cx="5486400" cy="1371600"/>
          </a:xfrm>
          <a:prstGeom prst="roundRect">
            <a:avLst>
              <a:gd name="adj" fmla="val 4000"/>
            </a:avLst>
          </a:prstGeom>
          <a:solidFill>
            <a:srgbClr val="1E293B"/>
          </a:solidFill>
          <a:ln w="12700">
            <a:solidFill>
              <a:srgbClr val="1E293B"/>
            </a:solidFill>
            <a:prstDash val="solid"/>
          </a:ln>
        </p:spPr>
      </p:sp>
      <p:sp>
        <p:nvSpPr>
          <p:cNvPr id="14" name="Text 12"/>
          <p:cNvSpPr txBox="1"/>
          <p:nvPr/>
        </p:nvSpPr>
        <p:spPr>
          <a:xfrm>
            <a:off x="6409944" y="187452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java Servidor</a:t>
            </a:r>
            <a:endParaRPr lang="en-US" sz="1200" dirty="0"/>
          </a:p>
        </p:txBody>
      </p:sp>
      <p:sp>
        <p:nvSpPr>
          <p:cNvPr id="15" name="Text 13"/>
          <p:cNvSpPr txBox="1"/>
          <p:nvPr/>
        </p:nvSpPr>
        <p:spPr>
          <a:xfrm>
            <a:off x="6409944" y="214884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[servidor] peticion recibida, cobrando $250...</a:t>
            </a:r>
            <a:endParaRPr lang="en-US" sz="1200" dirty="0"/>
          </a:p>
        </p:txBody>
      </p:sp>
      <p:sp>
        <p:nvSpPr>
          <p:cNvPr id="16" name="Shape 14"/>
          <p:cNvSpPr/>
          <p:nvPr/>
        </p:nvSpPr>
        <p:spPr>
          <a:xfrm>
            <a:off x="6318504" y="2404872"/>
            <a:ext cx="5340096" cy="292608"/>
          </a:xfrm>
          <a:prstGeom prst="roundRect">
            <a:avLst>
              <a:gd name="adj" fmla="val 9375"/>
            </a:avLst>
          </a:prstGeom>
          <a:solidFill>
            <a:srgbClr val="334155"/>
          </a:solidFill>
          <a:ln w="12700">
            <a:solidFill>
              <a:srgbClr val="334155"/>
            </a:solidFill>
            <a:prstDash val="solid"/>
          </a:ln>
        </p:spPr>
      </p:sp>
      <p:sp>
        <p:nvSpPr>
          <p:cNvPr id="17" name="Text 15"/>
          <p:cNvSpPr txBox="1"/>
          <p:nvPr/>
        </p:nvSpPr>
        <p:spPr>
          <a:xfrm>
            <a:off x="6409944" y="2423160"/>
            <a:ext cx="5212080" cy="274320"/>
          </a:xfrm>
          <a:prstGeom prst="rect">
            <a:avLst/>
          </a:prstGeom>
          <a:noFill/>
          <a:ln/>
        </p:spPr>
        <p:txBody>
          <a:bodyPr wrap="square" lIns="0" tIns="0" rIns="0" bIns="0" rtlCol="0" anchor="ctr"/>
          <a:lstStyle/>
          <a:p>
            <a:pPr indent="0" marL="0">
              <a:buNone/>
            </a:pPr>
            <a:r>
              <a:rPr lang="en-US" sz="1200" dirty="0">
                <a:solidFill>
                  <a:srgbClr val="FDE68A"/>
                </a:solidFill>
                <a:latin typeface="Courier New" pitchFamily="34" charset="0"/>
                <a:ea typeface="Courier New" pitchFamily="34" charset="-122"/>
                <a:cs typeface="Courier New" pitchFamily="34" charset="-120"/>
              </a:rPr>
              <a:t>[servidor] cobro hecho (5000 ms despues)</a:t>
            </a:r>
            <a:endParaRPr lang="en-US" sz="1200" dirty="0"/>
          </a:p>
        </p:txBody>
      </p:sp>
      <p:sp>
        <p:nvSpPr>
          <p:cNvPr id="18" name="Text 16"/>
          <p:cNvSpPr txBox="1"/>
          <p:nvPr/>
        </p:nvSpPr>
        <p:spPr>
          <a:xfrm>
            <a:off x="6409944" y="2697480"/>
            <a:ext cx="521208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[servidor] no pude entregar la respuesta</a:t>
            </a:r>
            <a:endParaRPr lang="en-US" sz="1200" dirty="0"/>
          </a:p>
        </p:txBody>
      </p:sp>
      <p:sp>
        <p:nvSpPr>
          <p:cNvPr id="19" name="Text 17"/>
          <p:cNvSpPr txBox="1"/>
          <p:nvPr/>
        </p:nvSpPr>
        <p:spPr>
          <a:xfrm>
            <a:off x="457200" y="3291840"/>
            <a:ext cx="3657600" cy="731520"/>
          </a:xfrm>
          <a:prstGeom prst="rect">
            <a:avLst/>
          </a:prstGeom>
          <a:noFill/>
          <a:ln/>
        </p:spPr>
        <p:txBody>
          <a:bodyPr wrap="square" lIns="0" tIns="0" rIns="0" bIns="0" rtlCol="0" anchor="b"/>
          <a:lstStyle/>
          <a:p>
            <a:pPr algn="ctr" indent="0" marL="0">
              <a:buNone/>
            </a:pPr>
            <a:r>
              <a:rPr lang="en-US" sz="4000" b="1" dirty="0">
                <a:solidFill>
                  <a:srgbClr val="B91C1C"/>
                </a:solidFill>
                <a:latin typeface="Calibri" pitchFamily="34" charset="0"/>
                <a:ea typeface="Calibri" pitchFamily="34" charset="-122"/>
                <a:cs typeface="Calibri" pitchFamily="34" charset="-120"/>
              </a:rPr>
              <a:t>2 015 ms</a:t>
            </a:r>
            <a:endParaRPr lang="en-US" sz="4000" dirty="0"/>
          </a:p>
        </p:txBody>
      </p:sp>
      <p:sp>
        <p:nvSpPr>
          <p:cNvPr id="20" name="Text 18"/>
          <p:cNvSpPr txBox="1"/>
          <p:nvPr/>
        </p:nvSpPr>
        <p:spPr>
          <a:xfrm>
            <a:off x="457200" y="4023360"/>
            <a:ext cx="3657600" cy="457200"/>
          </a:xfrm>
          <a:prstGeom prst="rect">
            <a:avLst/>
          </a:prstGeom>
          <a:noFill/>
          <a:ln/>
        </p:spPr>
        <p:txBody>
          <a:bodyPr wrap="square" lIns="0" tIns="0" rIns="0" bIns="0" rtlCol="0" anchor="t"/>
          <a:lstStyle/>
          <a:p>
            <a:pPr algn="ctr" indent="0" marL="0">
              <a:buNone/>
            </a:pPr>
            <a:r>
              <a:rPr lang="en-US" sz="1200" dirty="0">
                <a:solidFill>
                  <a:srgbClr val="4B6178"/>
                </a:solidFill>
                <a:latin typeface="Calibri" pitchFamily="34" charset="0"/>
                <a:ea typeface="Calibri" pitchFamily="34" charset="-122"/>
                <a:cs typeface="Calibri" pitchFamily="34" charset="-120"/>
              </a:rPr>
              <a:t>el cliente dejó de esperar</a:t>
            </a:r>
            <a:endParaRPr lang="en-US" sz="1200" dirty="0"/>
          </a:p>
        </p:txBody>
      </p:sp>
      <p:sp>
        <p:nvSpPr>
          <p:cNvPr id="21" name="Text 19"/>
          <p:cNvSpPr txBox="1"/>
          <p:nvPr/>
        </p:nvSpPr>
        <p:spPr>
          <a:xfrm>
            <a:off x="4251960" y="3291840"/>
            <a:ext cx="3657600" cy="731520"/>
          </a:xfrm>
          <a:prstGeom prst="rect">
            <a:avLst/>
          </a:prstGeom>
          <a:noFill/>
          <a:ln/>
        </p:spPr>
        <p:txBody>
          <a:bodyPr wrap="square" lIns="0" tIns="0" rIns="0" bIns="0" rtlCol="0" anchor="b"/>
          <a:lstStyle/>
          <a:p>
            <a:pPr algn="ctr" indent="0" marL="0">
              <a:buNone/>
            </a:pPr>
            <a:r>
              <a:rPr lang="en-US" sz="4000" b="1" dirty="0">
                <a:solidFill>
                  <a:srgbClr val="15803D"/>
                </a:solidFill>
                <a:latin typeface="Calibri" pitchFamily="34" charset="0"/>
                <a:ea typeface="Calibri" pitchFamily="34" charset="-122"/>
                <a:cs typeface="Calibri" pitchFamily="34" charset="-120"/>
              </a:rPr>
              <a:t>5 000 ms</a:t>
            </a:r>
            <a:endParaRPr lang="en-US" sz="4000" dirty="0"/>
          </a:p>
        </p:txBody>
      </p:sp>
      <p:sp>
        <p:nvSpPr>
          <p:cNvPr id="22" name="Text 20"/>
          <p:cNvSpPr txBox="1"/>
          <p:nvPr/>
        </p:nvSpPr>
        <p:spPr>
          <a:xfrm>
            <a:off x="4251960" y="4023360"/>
            <a:ext cx="3657600" cy="457200"/>
          </a:xfrm>
          <a:prstGeom prst="rect">
            <a:avLst/>
          </a:prstGeom>
          <a:noFill/>
          <a:ln/>
        </p:spPr>
        <p:txBody>
          <a:bodyPr wrap="square" lIns="0" tIns="0" rIns="0" bIns="0" rtlCol="0" anchor="t"/>
          <a:lstStyle/>
          <a:p>
            <a:pPr algn="ctr" indent="0" marL="0">
              <a:buNone/>
            </a:pPr>
            <a:r>
              <a:rPr lang="en-US" sz="1200" dirty="0">
                <a:solidFill>
                  <a:srgbClr val="4B6178"/>
                </a:solidFill>
                <a:latin typeface="Calibri" pitchFamily="34" charset="0"/>
                <a:ea typeface="Calibri" pitchFamily="34" charset="-122"/>
                <a:cs typeface="Calibri" pitchFamily="34" charset="-120"/>
              </a:rPr>
              <a:t>el servidor cobró igual</a:t>
            </a:r>
            <a:endParaRPr lang="en-US" sz="1200" dirty="0"/>
          </a:p>
        </p:txBody>
      </p:sp>
      <p:sp>
        <p:nvSpPr>
          <p:cNvPr id="23" name="Text 21"/>
          <p:cNvSpPr txBox="1"/>
          <p:nvPr/>
        </p:nvSpPr>
        <p:spPr>
          <a:xfrm>
            <a:off x="8046720" y="3291840"/>
            <a:ext cx="3657600" cy="731520"/>
          </a:xfrm>
          <a:prstGeom prst="rect">
            <a:avLst/>
          </a:prstGeom>
          <a:noFill/>
          <a:ln/>
        </p:spPr>
        <p:txBody>
          <a:bodyPr wrap="square" lIns="0" tIns="0" rIns="0" bIns="0" rtlCol="0" anchor="b"/>
          <a:lstStyle/>
          <a:p>
            <a:pPr algn="ctr" indent="0" marL="0">
              <a:buNone/>
            </a:pPr>
            <a:r>
              <a:rPr lang="en-US" sz="4000" b="1" dirty="0">
                <a:solidFill>
                  <a:srgbClr val="4B6178"/>
                </a:solidFill>
                <a:latin typeface="Calibri" pitchFamily="34" charset="0"/>
                <a:ea typeface="Calibri" pitchFamily="34" charset="-122"/>
                <a:cs typeface="Calibri" pitchFamily="34" charset="-120"/>
              </a:rPr>
              <a:t>?</a:t>
            </a:r>
            <a:endParaRPr lang="en-US" sz="4000" dirty="0"/>
          </a:p>
        </p:txBody>
      </p:sp>
      <p:sp>
        <p:nvSpPr>
          <p:cNvPr id="24" name="Text 22"/>
          <p:cNvSpPr txBox="1"/>
          <p:nvPr/>
        </p:nvSpPr>
        <p:spPr>
          <a:xfrm>
            <a:off x="8046720" y="4023360"/>
            <a:ext cx="3657600" cy="457200"/>
          </a:xfrm>
          <a:prstGeom prst="rect">
            <a:avLst/>
          </a:prstGeom>
          <a:noFill/>
          <a:ln/>
        </p:spPr>
        <p:txBody>
          <a:bodyPr wrap="square" lIns="0" tIns="0" rIns="0" bIns="0" rtlCol="0" anchor="t"/>
          <a:lstStyle/>
          <a:p>
            <a:pPr algn="ctr" indent="0" marL="0">
              <a:buNone/>
            </a:pPr>
            <a:r>
              <a:rPr lang="en-US" sz="1200" dirty="0">
                <a:solidFill>
                  <a:srgbClr val="4B6178"/>
                </a:solidFill>
                <a:latin typeface="Calibri" pitchFamily="34" charset="0"/>
                <a:ea typeface="Calibri" pitchFamily="34" charset="-122"/>
                <a:cs typeface="Calibri" pitchFamily="34" charset="-120"/>
              </a:rPr>
              <a:t>lo que sabe el cliente</a:t>
            </a:r>
            <a:endParaRPr lang="en-US" sz="1200" dirty="0"/>
          </a:p>
        </p:txBody>
      </p:sp>
      <p:sp>
        <p:nvSpPr>
          <p:cNvPr id="25" name="Shape 23"/>
          <p:cNvSpPr/>
          <p:nvPr/>
        </p:nvSpPr>
        <p:spPr>
          <a:xfrm>
            <a:off x="457200" y="4892040"/>
            <a:ext cx="11247120" cy="1097280"/>
          </a:xfrm>
          <a:prstGeom prst="roundRect">
            <a:avLst>
              <a:gd name="adj" fmla="val 6667"/>
            </a:avLst>
          </a:prstGeom>
          <a:solidFill>
            <a:srgbClr val="FFFFFF"/>
          </a:solidFill>
          <a:ln w="12700">
            <a:solidFill>
              <a:srgbClr val="D9E2EE"/>
            </a:solidFill>
            <a:prstDash val="solid"/>
          </a:ln>
        </p:spPr>
      </p:sp>
      <p:sp>
        <p:nvSpPr>
          <p:cNvPr id="26" name="Text 24"/>
          <p:cNvSpPr txBox="1"/>
          <p:nvPr/>
        </p:nvSpPr>
        <p:spPr>
          <a:xfrm>
            <a:off x="640080" y="4983480"/>
            <a:ext cx="10881360" cy="914400"/>
          </a:xfrm>
          <a:prstGeom prst="rect">
            <a:avLst/>
          </a:prstGeom>
          <a:noFill/>
          <a:ln/>
        </p:spPr>
        <p:txBody>
          <a:bodyPr wrap="square" lIns="0" tIns="0" rIns="0" bIns="0" rtlCol="0" anchor="ctr"/>
          <a:lstStyle/>
          <a:p>
            <a:pPr indent="0" marL="0">
              <a:buNone/>
            </a:pPr>
            <a:r>
              <a:rPr lang="en-US" sz="1500" dirty="0">
                <a:solidFill>
                  <a:srgbClr val="12253D"/>
                </a:solidFill>
                <a:latin typeface="Calibri" pitchFamily="34" charset="0"/>
                <a:ea typeface="Calibri" pitchFamily="34" charset="-122"/>
                <a:cs typeface="Calibri" pitchFamily="34" charset="-120"/>
              </a:rPr>
              <a:t>Regla del curso: timeouts cortos y explícitos en cada llamada (conexión y respuesta), porque un hilo bloqueado deja de atender a todos los demás. AWS Kinesis, 25-nov-2020: 17 horas de cascada por hilos agotados.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Reintentar es elegir una semántica de invocación</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8/32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834640"/>
                <a:gridCol w="3383280"/>
                <a:gridCol w="2560320"/>
                <a:gridCol w="2468880"/>
              </a:tblGrid>
              <a:tr h="566928">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Semántica</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Qué hace el emisor</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Dónde se usa</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566928">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At-most-once · a lo sumo una vez</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Envía una vez; si hay timeout, no reintenta</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Puede no ocurrir</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Telemetría, notificaciones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At-least-once · al menos una vez</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Reintenta hasta recibir confirmación (ack)</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Puede ejecutarse varias veces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Trabajo que no puede perderse</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Exactly-once · efecto de una vez</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Reintenta, y el receptor deduplica por identificador</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Exige un almacén durable de identificadores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Cobros, pedidos, efectos externos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977640"/>
            <a:ext cx="11247120" cy="960120"/>
          </a:xfrm>
          <a:prstGeom prst="roundRect">
            <a:avLst>
              <a:gd name="adj" fmla="val 7619"/>
            </a:avLst>
          </a:prstGeom>
          <a:solidFill>
            <a:srgbClr val="DBEAFE"/>
          </a:solidFill>
          <a:ln w="12700">
            <a:solidFill>
              <a:srgbClr val="DBEAFE"/>
            </a:solidFill>
            <a:prstDash val="solid"/>
          </a:ln>
        </p:spPr>
      </p:sp>
      <p:sp>
        <p:nvSpPr>
          <p:cNvPr id="7" name="Text 4"/>
          <p:cNvSpPr txBox="1"/>
          <p:nvPr/>
        </p:nvSpPr>
        <p:spPr>
          <a:xfrm>
            <a:off x="640080" y="3977640"/>
            <a:ext cx="10881360" cy="960120"/>
          </a:xfrm>
          <a:prstGeom prst="rect">
            <a:avLst/>
          </a:prstGeom>
          <a:noFill/>
          <a:ln/>
        </p:spPr>
        <p:txBody>
          <a:bodyPr wrap="square" lIns="0" tIns="0" rIns="0" bIns="0" rtlCol="0" anchor="ctr"/>
          <a:lstStyle/>
          <a:p>
            <a:pPr algn="ctr" indent="0" marL="0">
              <a:buNone/>
            </a:pPr>
            <a:r>
              <a:rPr lang="en-US" sz="2200" b="1" dirty="0">
                <a:solidFill>
                  <a:srgbClr val="12253D"/>
                </a:solidFill>
                <a:latin typeface="Calibri" pitchFamily="34" charset="0"/>
                <a:ea typeface="Calibri" pitchFamily="34" charset="-122"/>
                <a:cs typeface="Calibri" pitchFamily="34" charset="-120"/>
              </a:rPr>
              <a:t>exactly-once (efecto)  =  at-least-once  +  idempotencia o deduplicación</a:t>
            </a:r>
            <a:endParaRPr lang="en-US" sz="2200" dirty="0"/>
          </a:p>
        </p:txBody>
      </p:sp>
      <p:sp>
        <p:nvSpPr>
          <p:cNvPr id="8" name="Shape 5"/>
          <p:cNvSpPr/>
          <p:nvPr/>
        </p:nvSpPr>
        <p:spPr>
          <a:xfrm>
            <a:off x="457200" y="5166360"/>
            <a:ext cx="5486400" cy="1051560"/>
          </a:xfrm>
          <a:prstGeom prst="roundRect">
            <a:avLst>
              <a:gd name="adj" fmla="val 6957"/>
            </a:avLst>
          </a:prstGeom>
          <a:solidFill>
            <a:srgbClr val="FFFFFF"/>
          </a:solidFill>
          <a:ln w="12700">
            <a:solidFill>
              <a:srgbClr val="D9E2EE"/>
            </a:solidFill>
            <a:prstDash val="solid"/>
          </a:ln>
        </p:spPr>
      </p:sp>
      <p:pic>
        <p:nvPicPr>
          <p:cNvPr id="9" name="Image 0" descr="preencoded.png">    </p:cNvPr>
          <p:cNvPicPr>
            <a:picLocks noChangeAspect="1"/>
          </p:cNvPicPr>
          <p:nvPr/>
        </p:nvPicPr>
        <p:blipFill>
          <a:blip r:embed="rId1"/>
          <a:stretch>
            <a:fillRect/>
          </a:stretch>
        </p:blipFill>
        <p:spPr>
          <a:xfrm>
            <a:off x="621792" y="5303520"/>
            <a:ext cx="274320" cy="274320"/>
          </a:xfrm>
          <a:prstGeom prst="rect">
            <a:avLst/>
          </a:prstGeom>
        </p:spPr>
      </p:pic>
      <p:sp>
        <p:nvSpPr>
          <p:cNvPr id="10" name="Text 6"/>
          <p:cNvSpPr txBox="1"/>
          <p:nvPr/>
        </p:nvSpPr>
        <p:spPr>
          <a:xfrm>
            <a:off x="1005840" y="5276088"/>
            <a:ext cx="47731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Por qué no existe la entrega exactamente una vez</a:t>
            </a:r>
            <a:endParaRPr lang="en-US" sz="1300" dirty="0"/>
          </a:p>
        </p:txBody>
      </p:sp>
      <p:sp>
        <p:nvSpPr>
          <p:cNvPr id="11" name="Text 7"/>
          <p:cNvSpPr txBox="1"/>
          <p:nvPr/>
        </p:nvSpPr>
        <p:spPr>
          <a:xfrm>
            <a:off x="621792" y="5641848"/>
            <a:ext cx="5157216" cy="466344"/>
          </a:xfrm>
          <a:prstGeom prst="rect">
            <a:avLst/>
          </a:prstGeom>
          <a:noFill/>
          <a:ln/>
        </p:spPr>
        <p:txBody>
          <a:bodyPr wrap="square" lIns="0" tIns="0" rIns="0" bIns="0" rtlCol="0" anchor="t"/>
          <a:lstStyle/>
          <a:p>
            <a:pPr indent="0" marL="0">
              <a:spcAft>
                <a:spcPts val="400"/>
              </a:spcAft>
              <a:buNone/>
            </a:pPr>
            <a:r>
              <a:rPr lang="en-US" sz="1200" dirty="0">
                <a:solidFill>
                  <a:srgbClr val="12253D"/>
                </a:solidFill>
                <a:latin typeface="Calibri" pitchFamily="34" charset="0"/>
                <a:ea typeface="Calibri" pitchFamily="34" charset="-122"/>
                <a:cs typeface="Calibri" pitchFamily="34" charset="-120"/>
              </a:rPr>
              <a:t>Dos generales que solo se hablan por mensajeros que pueden ser capturados nunca alcanzan certeza: el último mensaje siempre puede perderse.</a:t>
            </a:r>
            <a:endParaRPr lang="en-US" sz="1200" dirty="0"/>
          </a:p>
        </p:txBody>
      </p:sp>
      <p:sp>
        <p:nvSpPr>
          <p:cNvPr id="12" name="Shape 8"/>
          <p:cNvSpPr/>
          <p:nvPr/>
        </p:nvSpPr>
        <p:spPr>
          <a:xfrm>
            <a:off x="6217920" y="5166360"/>
            <a:ext cx="5486400" cy="1051560"/>
          </a:xfrm>
          <a:prstGeom prst="roundRect">
            <a:avLst>
              <a:gd name="adj" fmla="val 6957"/>
            </a:avLst>
          </a:prstGeom>
          <a:solidFill>
            <a:srgbClr val="FFFFFF"/>
          </a:solidFill>
          <a:ln w="12700">
            <a:solidFill>
              <a:srgbClr val="D9E2EE"/>
            </a:solidFill>
            <a:prstDash val="solid"/>
          </a:ln>
        </p:spPr>
      </p:sp>
      <p:pic>
        <p:nvPicPr>
          <p:cNvPr id="13" name="Image 1" descr="preencoded.png">    </p:cNvPr>
          <p:cNvPicPr>
            <a:picLocks noChangeAspect="1"/>
          </p:cNvPicPr>
          <p:nvPr/>
        </p:nvPicPr>
        <p:blipFill>
          <a:blip r:embed="rId2"/>
          <a:stretch>
            <a:fillRect/>
          </a:stretch>
        </p:blipFill>
        <p:spPr>
          <a:xfrm>
            <a:off x="6382512" y="5303520"/>
            <a:ext cx="274320" cy="274320"/>
          </a:xfrm>
          <a:prstGeom prst="rect">
            <a:avLst/>
          </a:prstGeom>
        </p:spPr>
      </p:pic>
      <p:sp>
        <p:nvSpPr>
          <p:cNvPr id="14" name="Text 9"/>
          <p:cNvSpPr txBox="1"/>
          <p:nvPr/>
        </p:nvSpPr>
        <p:spPr>
          <a:xfrm>
            <a:off x="6766560" y="5276088"/>
            <a:ext cx="47731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Lo que sí garantiza cada capa</a:t>
            </a:r>
            <a:endParaRPr lang="en-US" sz="1300" dirty="0"/>
          </a:p>
        </p:txBody>
      </p:sp>
      <p:sp>
        <p:nvSpPr>
          <p:cNvPr id="15" name="Text 10"/>
          <p:cNvSpPr txBox="1"/>
          <p:nvPr/>
        </p:nvSpPr>
        <p:spPr>
          <a:xfrm>
            <a:off x="6382512" y="5641848"/>
            <a:ext cx="5157216" cy="466344"/>
          </a:xfrm>
          <a:prstGeom prst="rect">
            <a:avLst/>
          </a:prstGeom>
          <a:noFill/>
          <a:ln/>
        </p:spPr>
        <p:txBody>
          <a:bodyPr wrap="square" lIns="0" tIns="0" rIns="0" bIns="0" rtlCol="0" anchor="t"/>
          <a:lstStyle/>
          <a:p>
            <a:pPr indent="0" marL="0">
              <a:spcAft>
                <a:spcPts val="400"/>
              </a:spcAft>
              <a:buNone/>
            </a:pPr>
            <a:r>
              <a:rPr lang="en-US" sz="1200" dirty="0">
                <a:solidFill>
                  <a:srgbClr val="12253D"/>
                </a:solidFill>
                <a:latin typeface="Calibri" pitchFamily="34" charset="0"/>
                <a:ea typeface="Calibri" pitchFamily="34" charset="-122"/>
                <a:cs typeface="Calibri" pitchFamily="34" charset="-120"/>
              </a:rPr>
              <a:t>TCP entrega bytes, no efectos. Kafka garantiza exactly-once solo dentro de Kafka; el efecto en su base de datos sigue siendo suyo.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Exactly-once no existe en la red: tres razones de ingeniería</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9/32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A · La red no es una llamada local</a:t>
            </a:r>
            <a:endParaRPr lang="en-US" sz="1000" dirty="0"/>
          </a:p>
        </p:txBody>
      </p:sp>
      <p:sp>
        <p:nvSpPr>
          <p:cNvPr id="5" name="Shape 3"/>
          <p:cNvSpPr/>
          <p:nvPr/>
        </p:nvSpPr>
        <p:spPr>
          <a:xfrm>
            <a:off x="457200" y="1325880"/>
            <a:ext cx="3611880" cy="4343400"/>
          </a:xfrm>
          <a:prstGeom prst="roundRect">
            <a:avLst>
              <a:gd name="adj" fmla="val 2025"/>
            </a:avLst>
          </a:prstGeom>
          <a:solidFill>
            <a:srgbClr val="FFFFFF"/>
          </a:solidFill>
          <a:ln w="12700">
            <a:solidFill>
              <a:srgbClr val="D9E2EE"/>
            </a:solidFill>
            <a:prstDash val="solid"/>
          </a:ln>
        </p:spPr>
      </p:sp>
      <p:sp>
        <p:nvSpPr>
          <p:cNvPr id="6" name="Text 4"/>
          <p:cNvSpPr txBox="1"/>
          <p:nvPr/>
        </p:nvSpPr>
        <p:spPr>
          <a:xfrm>
            <a:off x="621792" y="1435608"/>
            <a:ext cx="328269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1 · La matemática: los Dos Generales</a:t>
            </a:r>
            <a:endParaRPr lang="en-US" sz="1300" dirty="0"/>
          </a:p>
        </p:txBody>
      </p:sp>
      <p:sp>
        <p:nvSpPr>
          <p:cNvPr id="7" name="Shape 5"/>
          <p:cNvSpPr/>
          <p:nvPr/>
        </p:nvSpPr>
        <p:spPr>
          <a:xfrm>
            <a:off x="640080" y="1828800"/>
            <a:ext cx="1234440" cy="457200"/>
          </a:xfrm>
          <a:prstGeom prst="roundRect">
            <a:avLst>
              <a:gd name="adj" fmla="val 16000"/>
            </a:avLst>
          </a:prstGeom>
          <a:solidFill>
            <a:srgbClr val="FFFFFF"/>
          </a:solidFill>
          <a:ln w="15875">
            <a:solidFill>
              <a:srgbClr val="12253D"/>
            </a:solidFill>
            <a:prstDash val="solid"/>
          </a:ln>
        </p:spPr>
      </p:sp>
      <p:sp>
        <p:nvSpPr>
          <p:cNvPr id="8" name="Text 6"/>
          <p:cNvSpPr txBox="1"/>
          <p:nvPr/>
        </p:nvSpPr>
        <p:spPr>
          <a:xfrm>
            <a:off x="731520" y="1828800"/>
            <a:ext cx="1051560" cy="45720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General A</a:t>
            </a:r>
            <a:endParaRPr lang="en-US" sz="1200" dirty="0"/>
          </a:p>
        </p:txBody>
      </p:sp>
      <p:sp>
        <p:nvSpPr>
          <p:cNvPr id="9" name="Shape 7"/>
          <p:cNvSpPr/>
          <p:nvPr/>
        </p:nvSpPr>
        <p:spPr>
          <a:xfrm>
            <a:off x="2651760" y="1828800"/>
            <a:ext cx="1234440" cy="457200"/>
          </a:xfrm>
          <a:prstGeom prst="roundRect">
            <a:avLst>
              <a:gd name="adj" fmla="val 16000"/>
            </a:avLst>
          </a:prstGeom>
          <a:solidFill>
            <a:srgbClr val="FFFFFF"/>
          </a:solidFill>
          <a:ln w="15875">
            <a:solidFill>
              <a:srgbClr val="12253D"/>
            </a:solidFill>
            <a:prstDash val="solid"/>
          </a:ln>
        </p:spPr>
      </p:sp>
      <p:sp>
        <p:nvSpPr>
          <p:cNvPr id="10" name="Text 8"/>
          <p:cNvSpPr txBox="1"/>
          <p:nvPr/>
        </p:nvSpPr>
        <p:spPr>
          <a:xfrm>
            <a:off x="2743200" y="1828800"/>
            <a:ext cx="1051560" cy="45720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General B</a:t>
            </a:r>
            <a:endParaRPr lang="en-US" sz="1200" dirty="0"/>
          </a:p>
        </p:txBody>
      </p:sp>
      <p:sp>
        <p:nvSpPr>
          <p:cNvPr id="11" name="Shape 9"/>
          <p:cNvSpPr/>
          <p:nvPr/>
        </p:nvSpPr>
        <p:spPr>
          <a:xfrm>
            <a:off x="2011680" y="2423160"/>
            <a:ext cx="502920" cy="2011680"/>
          </a:xfrm>
          <a:prstGeom prst="roundRect">
            <a:avLst/>
          </a:prstGeom>
          <a:solidFill>
            <a:srgbClr val="F5F8FC">
              <a:alpha val="0"/>
            </a:srgbClr>
          </a:solidFill>
          <a:ln w="12700">
            <a:solidFill>
              <a:srgbClr val="4B6178"/>
            </a:solidFill>
            <a:prstDash val="dash"/>
          </a:ln>
        </p:spPr>
      </p:sp>
      <p:sp>
        <p:nvSpPr>
          <p:cNvPr id="12" name="Text 10"/>
          <p:cNvSpPr txBox="1"/>
          <p:nvPr/>
        </p:nvSpPr>
        <p:spPr>
          <a:xfrm>
            <a:off x="2011680" y="2130552"/>
            <a:ext cx="5029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13" name="Shape 11"/>
          <p:cNvSpPr/>
          <p:nvPr/>
        </p:nvSpPr>
        <p:spPr>
          <a:xfrm>
            <a:off x="960120" y="2743200"/>
            <a:ext cx="2606040" cy="0"/>
          </a:xfrm>
          <a:prstGeom prst="line">
            <a:avLst/>
          </a:prstGeom>
          <a:noFill/>
          <a:ln w="22225">
            <a:solidFill>
              <a:srgbClr val="12253D"/>
            </a:solidFill>
            <a:prstDash val="solid"/>
            <a:tailEnd type="triangle"/>
          </a:ln>
        </p:spPr>
      </p:sp>
      <p:sp>
        <p:nvSpPr>
          <p:cNvPr id="14" name="Text 12"/>
          <p:cNvSpPr txBox="1"/>
          <p:nvPr/>
        </p:nvSpPr>
        <p:spPr>
          <a:xfrm>
            <a:off x="1394460" y="2468880"/>
            <a:ext cx="1737360" cy="274320"/>
          </a:xfrm>
          <a:prstGeom prst="rect">
            <a:avLst/>
          </a:prstGeom>
          <a:solidFill>
            <a:srgbClr val="FFFFFF"/>
          </a:solidFill>
          <a:ln/>
        </p:spPr>
        <p:txBody>
          <a:bodyPr wrap="square" lIns="0" tIns="0" rIns="0" bIns="0" rtlCol="0" anchor="ctr"/>
          <a:lstStyle/>
          <a:p>
            <a:pPr algn="ctr" indent="0" marL="0">
              <a:buNone/>
            </a:pPr>
            <a:r>
              <a:rPr lang="en-US" sz="1000" dirty="0">
                <a:solidFill>
                  <a:srgbClr val="12253D"/>
                </a:solidFill>
                <a:latin typeface="Calibri" pitchFamily="34" charset="0"/>
                <a:ea typeface="Calibri" pitchFamily="34" charset="-122"/>
                <a:cs typeface="Calibri" pitchFamily="34" charset="-120"/>
              </a:rPr>
              <a:t>Atacamos a las 09:00</a:t>
            </a:r>
            <a:endParaRPr lang="en-US" sz="1000" dirty="0"/>
          </a:p>
        </p:txBody>
      </p:sp>
      <p:sp>
        <p:nvSpPr>
          <p:cNvPr id="15" name="Shape 13"/>
          <p:cNvSpPr/>
          <p:nvPr/>
        </p:nvSpPr>
        <p:spPr>
          <a:xfrm flipH="1">
            <a:off x="960120" y="3291840"/>
            <a:ext cx="2606040" cy="0"/>
          </a:xfrm>
          <a:prstGeom prst="line">
            <a:avLst/>
          </a:prstGeom>
          <a:noFill/>
          <a:ln w="22225">
            <a:solidFill>
              <a:srgbClr val="12253D"/>
            </a:solidFill>
            <a:prstDash val="solid"/>
            <a:tailEnd type="triangle"/>
          </a:ln>
        </p:spPr>
      </p:sp>
      <p:sp>
        <p:nvSpPr>
          <p:cNvPr id="16" name="Text 14"/>
          <p:cNvSpPr txBox="1"/>
          <p:nvPr/>
        </p:nvSpPr>
        <p:spPr>
          <a:xfrm>
            <a:off x="1943100" y="3017520"/>
            <a:ext cx="640080" cy="274320"/>
          </a:xfrm>
          <a:prstGeom prst="rect">
            <a:avLst/>
          </a:prstGeom>
          <a:solidFill>
            <a:srgbClr val="FFFFFF"/>
          </a:solidFill>
          <a:ln/>
        </p:spPr>
        <p:txBody>
          <a:bodyPr wrap="square" lIns="0" tIns="0" rIns="0" bIns="0" rtlCol="0" anchor="ctr"/>
          <a:lstStyle/>
          <a:p>
            <a:pPr algn="ctr" indent="0" marL="0">
              <a:buNone/>
            </a:pPr>
            <a:r>
              <a:rPr lang="en-US" sz="1000" dirty="0">
                <a:solidFill>
                  <a:srgbClr val="12253D"/>
                </a:solidFill>
                <a:latin typeface="Calibri" pitchFamily="34" charset="0"/>
                <a:ea typeface="Calibri" pitchFamily="34" charset="-122"/>
                <a:cs typeface="Calibri" pitchFamily="34" charset="-120"/>
              </a:rPr>
              <a:t>Ack</a:t>
            </a:r>
            <a:endParaRPr lang="en-US" sz="1000" dirty="0"/>
          </a:p>
        </p:txBody>
      </p:sp>
      <p:pic>
        <p:nvPicPr>
          <p:cNvPr id="17" name="Image 0" descr="preencoded.png">    </p:cNvPr>
          <p:cNvPicPr>
            <a:picLocks noChangeAspect="1"/>
          </p:cNvPicPr>
          <p:nvPr/>
        </p:nvPicPr>
        <p:blipFill>
          <a:blip r:embed="rId1"/>
          <a:stretch>
            <a:fillRect/>
          </a:stretch>
        </p:blipFill>
        <p:spPr>
          <a:xfrm>
            <a:off x="2121408" y="3145536"/>
            <a:ext cx="274320" cy="274320"/>
          </a:xfrm>
          <a:prstGeom prst="rect">
            <a:avLst/>
          </a:prstGeom>
        </p:spPr>
      </p:pic>
      <p:sp>
        <p:nvSpPr>
          <p:cNvPr id="18" name="Text 15"/>
          <p:cNvSpPr txBox="1"/>
          <p:nvPr/>
        </p:nvSpPr>
        <p:spPr>
          <a:xfrm>
            <a:off x="2560320" y="3017520"/>
            <a:ext cx="914400" cy="274320"/>
          </a:xfrm>
          <a:prstGeom prst="rect">
            <a:avLst/>
          </a:prstGeom>
          <a:noFill/>
          <a:ln/>
        </p:spPr>
        <p:txBody>
          <a:bodyPr wrap="square" lIns="0" tIns="0" rIns="0" bIns="0" rtlCol="0" anchor="t"/>
          <a:lstStyle/>
          <a:p>
            <a:pPr indent="0" marL="0">
              <a:buNone/>
            </a:pPr>
            <a:r>
              <a:rPr lang="en-US" sz="900" dirty="0">
                <a:solidFill>
                  <a:srgbClr val="B91C1C"/>
                </a:solidFill>
                <a:latin typeface="Calibri" pitchFamily="34" charset="0"/>
                <a:ea typeface="Calibri" pitchFamily="34" charset="-122"/>
                <a:cs typeface="Calibri" pitchFamily="34" charset="-120"/>
              </a:rPr>
              <a:t>capturado</a:t>
            </a:r>
            <a:endParaRPr lang="en-US" sz="900" dirty="0"/>
          </a:p>
        </p:txBody>
      </p:sp>
      <p:sp>
        <p:nvSpPr>
          <p:cNvPr id="19" name="Shape 16"/>
          <p:cNvSpPr/>
          <p:nvPr/>
        </p:nvSpPr>
        <p:spPr>
          <a:xfrm>
            <a:off x="960120" y="3840480"/>
            <a:ext cx="2606040" cy="0"/>
          </a:xfrm>
          <a:prstGeom prst="line">
            <a:avLst/>
          </a:prstGeom>
          <a:noFill/>
          <a:ln w="22225">
            <a:solidFill>
              <a:srgbClr val="4B6178"/>
            </a:solidFill>
            <a:prstDash val="dash"/>
            <a:tailEnd type="triangle"/>
          </a:ln>
        </p:spPr>
      </p:sp>
      <p:sp>
        <p:nvSpPr>
          <p:cNvPr id="20" name="Text 17"/>
          <p:cNvSpPr txBox="1"/>
          <p:nvPr/>
        </p:nvSpPr>
        <p:spPr>
          <a:xfrm>
            <a:off x="1714500" y="3566160"/>
            <a:ext cx="1097280" cy="274320"/>
          </a:xfrm>
          <a:prstGeom prst="rect">
            <a:avLst/>
          </a:prstGeom>
          <a:solidFill>
            <a:srgbClr val="FFFFFF"/>
          </a:solidFill>
          <a:ln/>
        </p:spPr>
        <p:txBody>
          <a:bodyPr wrap="square" lIns="0" tIns="0" rIns="0" bIns="0" rtlCol="0" anchor="ctr"/>
          <a:lstStyle/>
          <a:p>
            <a:pPr algn="ctr" indent="0" marL="0">
              <a:buNone/>
            </a:pPr>
            <a:r>
              <a:rPr lang="en-US" sz="1000" dirty="0">
                <a:solidFill>
                  <a:srgbClr val="4B6178"/>
                </a:solidFill>
                <a:latin typeface="Calibri" pitchFamily="34" charset="0"/>
                <a:ea typeface="Calibri" pitchFamily="34" charset="-122"/>
                <a:cs typeface="Calibri" pitchFamily="34" charset="-120"/>
              </a:rPr>
              <a:t>Ack del Ack</a:t>
            </a:r>
            <a:endParaRPr lang="en-US" sz="1000" dirty="0"/>
          </a:p>
        </p:txBody>
      </p:sp>
      <p:sp>
        <p:nvSpPr>
          <p:cNvPr id="21" name="Text 18"/>
          <p:cNvSpPr txBox="1"/>
          <p:nvPr/>
        </p:nvSpPr>
        <p:spPr>
          <a:xfrm>
            <a:off x="640080" y="4343400"/>
            <a:ext cx="3246120" cy="320040"/>
          </a:xfrm>
          <a:prstGeom prst="rect">
            <a:avLst/>
          </a:prstGeom>
          <a:noFill/>
          <a:ln/>
        </p:spPr>
        <p:txBody>
          <a:bodyPr wrap="square" lIns="0" tIns="0" rIns="0" bIns="0" rtlCol="0" anchor="t"/>
          <a:lstStyle/>
          <a:p>
            <a:pPr algn="ctr" indent="0" marL="0">
              <a:buNone/>
            </a:pPr>
            <a:r>
              <a:rPr lang="en-US" sz="1050" i="1" dirty="0">
                <a:solidFill>
                  <a:srgbClr val="4B6178"/>
                </a:solidFill>
                <a:latin typeface="Calibri" pitchFamily="34" charset="0"/>
                <a:ea typeface="Calibri" pitchFamily="34" charset="-122"/>
                <a:cs typeface="Calibri" pitchFamily="34" charset="-120"/>
              </a:rPr>
              <a:t>... y el último mensaje siempre puede perderse</a:t>
            </a:r>
            <a:endParaRPr lang="en-US" sz="1050" dirty="0"/>
          </a:p>
        </p:txBody>
      </p:sp>
      <p:sp>
        <p:nvSpPr>
          <p:cNvPr id="22" name="Shape 19"/>
          <p:cNvSpPr/>
          <p:nvPr/>
        </p:nvSpPr>
        <p:spPr>
          <a:xfrm>
            <a:off x="640080" y="4754880"/>
            <a:ext cx="3246120" cy="777240"/>
          </a:xfrm>
          <a:prstGeom prst="roundRect">
            <a:avLst>
              <a:gd name="adj" fmla="val 9412"/>
            </a:avLst>
          </a:prstGeom>
          <a:solidFill>
            <a:srgbClr val="FEF2F2"/>
          </a:solidFill>
          <a:ln w="12700">
            <a:solidFill>
              <a:srgbClr val="FEF2F2"/>
            </a:solidFill>
            <a:prstDash val="solid"/>
          </a:ln>
        </p:spPr>
      </p:sp>
      <p:sp>
        <p:nvSpPr>
          <p:cNvPr id="23" name="Text 20"/>
          <p:cNvSpPr txBox="1"/>
          <p:nvPr/>
        </p:nvSpPr>
        <p:spPr>
          <a:xfrm>
            <a:off x="731520" y="4800600"/>
            <a:ext cx="3063240" cy="68580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Ninguna cadena finita de confirmaciones da certeza: entregar una sola vez con total certeza es imposible.</a:t>
            </a:r>
            <a:endParaRPr lang="en-US" sz="1100" dirty="0"/>
          </a:p>
        </p:txBody>
      </p:sp>
      <p:sp>
        <p:nvSpPr>
          <p:cNvPr id="24" name="Shape 21"/>
          <p:cNvSpPr/>
          <p:nvPr/>
        </p:nvSpPr>
        <p:spPr>
          <a:xfrm>
            <a:off x="4251960" y="1325880"/>
            <a:ext cx="3611880" cy="4343400"/>
          </a:xfrm>
          <a:prstGeom prst="roundRect">
            <a:avLst>
              <a:gd name="adj" fmla="val 2025"/>
            </a:avLst>
          </a:prstGeom>
          <a:solidFill>
            <a:srgbClr val="FFFFFF"/>
          </a:solidFill>
          <a:ln w="12700">
            <a:solidFill>
              <a:srgbClr val="D9E2EE"/>
            </a:solidFill>
            <a:prstDash val="solid"/>
          </a:ln>
        </p:spPr>
      </p:sp>
      <p:sp>
        <p:nvSpPr>
          <p:cNvPr id="25" name="Text 22"/>
          <p:cNvSpPr txBox="1"/>
          <p:nvPr/>
        </p:nvSpPr>
        <p:spPr>
          <a:xfrm>
            <a:off x="4416552" y="1435608"/>
            <a:ext cx="328269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2 · Las capas: la trampa de TCP</a:t>
            </a:r>
            <a:endParaRPr lang="en-US" sz="1300" dirty="0"/>
          </a:p>
        </p:txBody>
      </p:sp>
      <p:sp>
        <p:nvSpPr>
          <p:cNvPr id="26" name="Shape 23"/>
          <p:cNvSpPr/>
          <p:nvPr/>
        </p:nvSpPr>
        <p:spPr>
          <a:xfrm>
            <a:off x="4456786" y="2627986"/>
            <a:ext cx="559613" cy="559613"/>
          </a:xfrm>
          <a:prstGeom prst="ellipse">
            <a:avLst/>
          </a:prstGeom>
          <a:solidFill>
            <a:srgbClr val="E8EEF6"/>
          </a:solidFill>
          <a:ln w="12700">
            <a:solidFill>
              <a:srgbClr val="E8EEF6"/>
            </a:solidFill>
            <a:prstDash val="solid"/>
          </a:ln>
        </p:spPr>
      </p:sp>
      <p:pic>
        <p:nvPicPr>
          <p:cNvPr id="27" name="Image 1" descr="preencoded.png">    </p:cNvPr>
          <p:cNvPicPr>
            <a:picLocks noChangeAspect="1"/>
          </p:cNvPicPr>
          <p:nvPr/>
        </p:nvPicPr>
        <p:blipFill>
          <a:blip r:embed="rId2"/>
          <a:stretch>
            <a:fillRect/>
          </a:stretch>
        </p:blipFill>
        <p:spPr>
          <a:xfrm>
            <a:off x="4572000" y="2743200"/>
            <a:ext cx="329184" cy="329184"/>
          </a:xfrm>
          <a:prstGeom prst="rect">
            <a:avLst/>
          </a:prstGeom>
        </p:spPr>
      </p:pic>
      <p:sp>
        <p:nvSpPr>
          <p:cNvPr id="28" name="Text 24"/>
          <p:cNvSpPr txBox="1"/>
          <p:nvPr/>
        </p:nvSpPr>
        <p:spPr>
          <a:xfrm>
            <a:off x="4343400" y="3246120"/>
            <a:ext cx="822960" cy="274320"/>
          </a:xfrm>
          <a:prstGeom prst="rect">
            <a:avLst/>
          </a:prstGeom>
          <a:noFill/>
          <a:ln/>
        </p:spPr>
        <p:txBody>
          <a:bodyPr wrap="square" lIns="0" tIns="0" rIns="0" bIns="0" rtlCol="0" anchor="t"/>
          <a:lstStyle/>
          <a:p>
            <a:pPr algn="ctr" indent="0" marL="0">
              <a:buNone/>
            </a:pPr>
            <a:r>
              <a:rPr lang="en-US" sz="1000" dirty="0">
                <a:solidFill>
                  <a:srgbClr val="4B6178"/>
                </a:solidFill>
                <a:latin typeface="Calibri" pitchFamily="34" charset="0"/>
                <a:ea typeface="Calibri" pitchFamily="34" charset="-122"/>
                <a:cs typeface="Calibri" pitchFamily="34" charset="-120"/>
              </a:rPr>
              <a:t>cliente</a:t>
            </a:r>
            <a:endParaRPr lang="en-US" sz="1000" dirty="0"/>
          </a:p>
        </p:txBody>
      </p:sp>
      <p:sp>
        <p:nvSpPr>
          <p:cNvPr id="29" name="Shape 25"/>
          <p:cNvSpPr/>
          <p:nvPr/>
        </p:nvSpPr>
        <p:spPr>
          <a:xfrm>
            <a:off x="5669280" y="1874520"/>
            <a:ext cx="2011680" cy="685800"/>
          </a:xfrm>
          <a:prstGeom prst="roundRect">
            <a:avLst>
              <a:gd name="adj" fmla="val 10667"/>
            </a:avLst>
          </a:prstGeom>
          <a:solidFill>
            <a:srgbClr val="FFFFFF"/>
          </a:solidFill>
          <a:ln w="15875">
            <a:solidFill>
              <a:srgbClr val="12253D"/>
            </a:solidFill>
            <a:prstDash val="solid"/>
          </a:ln>
        </p:spPr>
      </p:sp>
      <p:sp>
        <p:nvSpPr>
          <p:cNvPr id="30" name="Text 26"/>
          <p:cNvSpPr txBox="1"/>
          <p:nvPr/>
        </p:nvSpPr>
        <p:spPr>
          <a:xfrm>
            <a:off x="5760720" y="1874520"/>
            <a:ext cx="1828800" cy="685800"/>
          </a:xfrm>
          <a:prstGeom prst="rect">
            <a:avLst/>
          </a:prstGeom>
          <a:noFill/>
          <a:ln/>
        </p:spPr>
        <p:txBody>
          <a:bodyPr wrap="square" lIns="0" tIns="0" rIns="0" bIns="0" rtlCol="0" anchor="ctr"/>
          <a:lstStyle/>
          <a:p>
            <a:pPr algn="ctr" indent="0" marL="0">
              <a:buNone/>
            </a:pPr>
            <a:r>
              <a:rPr lang="en-US" sz="1100" b="1" dirty="0">
                <a:solidFill>
                  <a:srgbClr val="12253D"/>
                </a:solidFill>
                <a:latin typeface="Calibri" pitchFamily="34" charset="0"/>
                <a:ea typeface="Calibri" pitchFamily="34" charset="-122"/>
                <a:cs typeface="Calibri" pitchFamily="34" charset="-120"/>
              </a:rPr>
              <a:t>Aplicación (Java)</a:t>
            </a:r>
            <a:endParaRPr lang="en-US" sz="1100" dirty="0"/>
          </a:p>
          <a:p>
            <a:pPr algn="ctr" indent="0" marL="0">
              <a:buNone/>
            </a:pPr>
            <a:r>
              <a:rPr lang="en-US" sz="1100" b="1" dirty="0">
                <a:solidFill>
                  <a:srgbClr val="12253D"/>
                </a:solidFill>
                <a:latin typeface="Calibri" pitchFamily="34" charset="0"/>
                <a:ea typeface="Calibri" pitchFamily="34" charset="-122"/>
                <a:cs typeface="Calibri" pitchFamily="34" charset="-120"/>
              </a:rPr>
              <a:t>guardar el pago</a:t>
            </a:r>
            <a:endParaRPr lang="en-US" sz="1100" dirty="0"/>
          </a:p>
        </p:txBody>
      </p:sp>
      <p:sp>
        <p:nvSpPr>
          <p:cNvPr id="31" name="Shape 27"/>
          <p:cNvSpPr/>
          <p:nvPr/>
        </p:nvSpPr>
        <p:spPr>
          <a:xfrm>
            <a:off x="5669280" y="2788920"/>
            <a:ext cx="2011680" cy="685800"/>
          </a:xfrm>
          <a:prstGeom prst="roundRect">
            <a:avLst>
              <a:gd name="adj" fmla="val 10667"/>
            </a:avLst>
          </a:prstGeom>
          <a:solidFill>
            <a:srgbClr val="E8EEF6"/>
          </a:solidFill>
          <a:ln w="12700">
            <a:solidFill>
              <a:srgbClr val="4B6178"/>
            </a:solidFill>
            <a:prstDash val="solid"/>
          </a:ln>
        </p:spPr>
      </p:sp>
      <p:sp>
        <p:nvSpPr>
          <p:cNvPr id="32" name="Text 28"/>
          <p:cNvSpPr txBox="1"/>
          <p:nvPr/>
        </p:nvSpPr>
        <p:spPr>
          <a:xfrm>
            <a:off x="5760720" y="2788920"/>
            <a:ext cx="1828800" cy="685800"/>
          </a:xfrm>
          <a:prstGeom prst="rect">
            <a:avLst/>
          </a:prstGeom>
          <a:noFill/>
          <a:ln/>
        </p:spPr>
        <p:txBody>
          <a:bodyPr wrap="square" lIns="0" tIns="0" rIns="0" bIns="0" rtlCol="0" anchor="ctr"/>
          <a:lstStyle/>
          <a:p>
            <a:pPr algn="ctr" indent="0" marL="0">
              <a:buNone/>
            </a:pPr>
            <a:r>
              <a:rPr lang="en-US" sz="1100" b="1" dirty="0">
                <a:solidFill>
                  <a:srgbClr val="12253D"/>
                </a:solidFill>
                <a:latin typeface="Calibri" pitchFamily="34" charset="0"/>
                <a:ea typeface="Calibri" pitchFamily="34" charset="-122"/>
                <a:cs typeface="Calibri" pitchFamily="34" charset="-120"/>
              </a:rPr>
              <a:t>Transporte TCP</a:t>
            </a:r>
            <a:endParaRPr lang="en-US" sz="1100" dirty="0"/>
          </a:p>
          <a:p>
            <a:pPr algn="ctr" indent="0" marL="0">
              <a:buNone/>
            </a:pPr>
            <a:r>
              <a:rPr lang="en-US" sz="1100" b="1" dirty="0">
                <a:solidFill>
                  <a:srgbClr val="12253D"/>
                </a:solidFill>
                <a:latin typeface="Calibri" pitchFamily="34" charset="0"/>
                <a:ea typeface="Calibri" pitchFamily="34" charset="-122"/>
                <a:cs typeface="Calibri" pitchFamily="34" charset="-120"/>
              </a:rPr>
              <a:t>(kernel del SO)</a:t>
            </a:r>
            <a:endParaRPr lang="en-US" sz="1100" dirty="0"/>
          </a:p>
        </p:txBody>
      </p:sp>
      <p:sp>
        <p:nvSpPr>
          <p:cNvPr id="33" name="Shape 29"/>
          <p:cNvSpPr/>
          <p:nvPr/>
        </p:nvSpPr>
        <p:spPr>
          <a:xfrm>
            <a:off x="5120640" y="3017520"/>
            <a:ext cx="548640" cy="0"/>
          </a:xfrm>
          <a:prstGeom prst="line">
            <a:avLst/>
          </a:prstGeom>
          <a:noFill/>
          <a:ln w="22225">
            <a:solidFill>
              <a:srgbClr val="12253D"/>
            </a:solidFill>
            <a:prstDash val="solid"/>
            <a:tailEnd type="triangle"/>
          </a:ln>
        </p:spPr>
      </p:sp>
      <p:sp>
        <p:nvSpPr>
          <p:cNvPr id="34" name="Text 30"/>
          <p:cNvSpPr txBox="1"/>
          <p:nvPr/>
        </p:nvSpPr>
        <p:spPr>
          <a:xfrm>
            <a:off x="5074920" y="2697480"/>
            <a:ext cx="640080" cy="274320"/>
          </a:xfrm>
          <a:prstGeom prst="rect">
            <a:avLst/>
          </a:prstGeom>
          <a:noFill/>
          <a:ln/>
        </p:spPr>
        <p:txBody>
          <a:bodyPr wrap="square" lIns="0" tIns="0" rIns="0" bIns="0" rtlCol="0" anchor="ctr"/>
          <a:lstStyle/>
          <a:p>
            <a:pPr algn="ctr" indent="0" marL="0">
              <a:buNone/>
            </a:pPr>
            <a:r>
              <a:rPr lang="en-US" sz="900" dirty="0">
                <a:solidFill>
                  <a:srgbClr val="12253D"/>
                </a:solidFill>
                <a:latin typeface="Calibri" pitchFamily="34" charset="0"/>
                <a:ea typeface="Calibri" pitchFamily="34" charset="-122"/>
                <a:cs typeface="Calibri" pitchFamily="34" charset="-120"/>
              </a:rPr>
              <a:t>bytes</a:t>
            </a:r>
            <a:endParaRPr lang="en-US" sz="900" dirty="0"/>
          </a:p>
        </p:txBody>
      </p:sp>
      <p:sp>
        <p:nvSpPr>
          <p:cNvPr id="35" name="Shape 31"/>
          <p:cNvSpPr/>
          <p:nvPr/>
        </p:nvSpPr>
        <p:spPr>
          <a:xfrm flipH="1">
            <a:off x="5120640" y="3337560"/>
            <a:ext cx="548640" cy="0"/>
          </a:xfrm>
          <a:prstGeom prst="line">
            <a:avLst/>
          </a:prstGeom>
          <a:noFill/>
          <a:ln w="22225">
            <a:solidFill>
              <a:srgbClr val="15803D"/>
            </a:solidFill>
            <a:prstDash val="solid"/>
            <a:tailEnd type="triangle"/>
          </a:ln>
        </p:spPr>
      </p:sp>
      <p:sp>
        <p:nvSpPr>
          <p:cNvPr id="36" name="Text 32"/>
          <p:cNvSpPr txBox="1"/>
          <p:nvPr/>
        </p:nvSpPr>
        <p:spPr>
          <a:xfrm>
            <a:off x="4754880" y="3410712"/>
            <a:ext cx="822960" cy="274320"/>
          </a:xfrm>
          <a:prstGeom prst="rect">
            <a:avLst/>
          </a:prstGeom>
          <a:noFill/>
          <a:ln/>
        </p:spPr>
        <p:txBody>
          <a:bodyPr wrap="square" lIns="0" tIns="0" rIns="0" bIns="0" rtlCol="0" anchor="ctr"/>
          <a:lstStyle/>
          <a:p>
            <a:pPr algn="ctr" indent="0" marL="0">
              <a:buNone/>
            </a:pPr>
            <a:r>
              <a:rPr lang="en-US" sz="900" dirty="0">
                <a:solidFill>
                  <a:srgbClr val="15803D"/>
                </a:solidFill>
                <a:latin typeface="Calibri" pitchFamily="34" charset="0"/>
                <a:ea typeface="Calibri" pitchFamily="34" charset="-122"/>
                <a:cs typeface="Calibri" pitchFamily="34" charset="-120"/>
              </a:rPr>
              <a:t>ack de TCP</a:t>
            </a:r>
            <a:endParaRPr lang="en-US" sz="900" dirty="0"/>
          </a:p>
        </p:txBody>
      </p:sp>
      <p:sp>
        <p:nvSpPr>
          <p:cNvPr id="37" name="Shape 33"/>
          <p:cNvSpPr/>
          <p:nvPr/>
        </p:nvSpPr>
        <p:spPr>
          <a:xfrm flipV="1">
            <a:off x="6675120" y="2560320"/>
            <a:ext cx="0" cy="228600"/>
          </a:xfrm>
          <a:prstGeom prst="line">
            <a:avLst/>
          </a:prstGeom>
          <a:noFill/>
          <a:ln w="22225">
            <a:solidFill>
              <a:srgbClr val="4B6178"/>
            </a:solidFill>
            <a:prstDash val="dash"/>
            <a:tailEnd type="triangle"/>
          </a:ln>
        </p:spPr>
      </p:sp>
      <p:pic>
        <p:nvPicPr>
          <p:cNvPr id="38" name="Image 2" descr="preencoded.png">    </p:cNvPr>
          <p:cNvPicPr>
            <a:picLocks noChangeAspect="1"/>
          </p:cNvPicPr>
          <p:nvPr/>
        </p:nvPicPr>
        <p:blipFill>
          <a:blip r:embed="rId3"/>
          <a:stretch>
            <a:fillRect/>
          </a:stretch>
        </p:blipFill>
        <p:spPr>
          <a:xfrm>
            <a:off x="7406640" y="1737360"/>
            <a:ext cx="310896" cy="310896"/>
          </a:xfrm>
          <a:prstGeom prst="rect">
            <a:avLst/>
          </a:prstGeom>
        </p:spPr>
      </p:pic>
      <p:sp>
        <p:nvSpPr>
          <p:cNvPr id="39" name="Text 34"/>
          <p:cNvSpPr txBox="1"/>
          <p:nvPr/>
        </p:nvSpPr>
        <p:spPr>
          <a:xfrm>
            <a:off x="5669280" y="3611880"/>
            <a:ext cx="2011680" cy="457200"/>
          </a:xfrm>
          <a:prstGeom prst="rect">
            <a:avLst/>
          </a:prstGeom>
          <a:noFill/>
          <a:ln/>
        </p:spPr>
        <p:txBody>
          <a:bodyPr wrap="square" lIns="0" tIns="0" rIns="0" bIns="0" rtlCol="0" anchor="t"/>
          <a:lstStyle/>
          <a:p>
            <a:pPr algn="ctr" indent="0" marL="0">
              <a:buNone/>
            </a:pPr>
            <a:r>
              <a:rPr lang="en-US" sz="1000" dirty="0">
                <a:solidFill>
                  <a:srgbClr val="B91C1C"/>
                </a:solidFill>
                <a:latin typeface="Calibri" pitchFamily="34" charset="0"/>
                <a:ea typeface="Calibri" pitchFamily="34" charset="-122"/>
                <a:cs typeface="Calibri" pitchFamily="34" charset="-120"/>
              </a:rPr>
              <a:t>la app muere antes de guardar</a:t>
            </a:r>
            <a:endParaRPr lang="en-US" sz="1000" dirty="0"/>
          </a:p>
        </p:txBody>
      </p:sp>
      <p:sp>
        <p:nvSpPr>
          <p:cNvPr id="40" name="Text 35"/>
          <p:cNvSpPr txBox="1"/>
          <p:nvPr/>
        </p:nvSpPr>
        <p:spPr>
          <a:xfrm>
            <a:off x="4434840" y="4114800"/>
            <a:ext cx="3246120" cy="594360"/>
          </a:xfrm>
          <a:prstGeom prst="rect">
            <a:avLst/>
          </a:prstGeom>
          <a:noFill/>
          <a:ln/>
        </p:spPr>
        <p:txBody>
          <a:bodyPr wrap="square" lIns="0" tIns="0" rIns="0" bIns="0" rtlCol="0" anchor="t"/>
          <a:lstStyle/>
          <a:p>
            <a:pPr indent="0" marL="0">
              <a:buNone/>
            </a:pPr>
            <a:r>
              <a:rPr lang="en-US" sz="1100" dirty="0">
                <a:solidFill>
                  <a:srgbClr val="4B6178"/>
                </a:solidFill>
                <a:latin typeface="Calibri" pitchFamily="34" charset="0"/>
                <a:ea typeface="Calibri" pitchFamily="34" charset="-122"/>
                <a:cs typeface="Calibri" pitchFamily="34" charset="-120"/>
              </a:rPr>
              <a:t>El kernel confirma "llegaron los bytes al puerto" antes de que tu código haga nada.</a:t>
            </a:r>
            <a:endParaRPr lang="en-US" sz="1100" dirty="0"/>
          </a:p>
        </p:txBody>
      </p:sp>
      <p:sp>
        <p:nvSpPr>
          <p:cNvPr id="41" name="Shape 36"/>
          <p:cNvSpPr/>
          <p:nvPr/>
        </p:nvSpPr>
        <p:spPr>
          <a:xfrm>
            <a:off x="4434840" y="4754880"/>
            <a:ext cx="3246120" cy="777240"/>
          </a:xfrm>
          <a:prstGeom prst="roundRect">
            <a:avLst>
              <a:gd name="adj" fmla="val 9412"/>
            </a:avLst>
          </a:prstGeom>
          <a:solidFill>
            <a:srgbClr val="FEF2F2"/>
          </a:solidFill>
          <a:ln w="12700">
            <a:solidFill>
              <a:srgbClr val="FEF2F2"/>
            </a:solidFill>
            <a:prstDash val="solid"/>
          </a:ln>
        </p:spPr>
      </p:sp>
      <p:sp>
        <p:nvSpPr>
          <p:cNvPr id="42" name="Text 37"/>
          <p:cNvSpPr txBox="1"/>
          <p:nvPr/>
        </p:nvSpPr>
        <p:spPr>
          <a:xfrm>
            <a:off x="4526280" y="4800600"/>
            <a:ext cx="3063240" cy="68580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TCP entrega bytes, no efectos: el ack de transporte no dice que la aplicación procesó.</a:t>
            </a:r>
            <a:endParaRPr lang="en-US" sz="1100" dirty="0"/>
          </a:p>
        </p:txBody>
      </p:sp>
      <p:sp>
        <p:nvSpPr>
          <p:cNvPr id="43" name="Shape 38"/>
          <p:cNvSpPr/>
          <p:nvPr/>
        </p:nvSpPr>
        <p:spPr>
          <a:xfrm>
            <a:off x="8046720" y="1325880"/>
            <a:ext cx="3611880" cy="4343400"/>
          </a:xfrm>
          <a:prstGeom prst="roundRect">
            <a:avLst>
              <a:gd name="adj" fmla="val 2025"/>
            </a:avLst>
          </a:prstGeom>
          <a:solidFill>
            <a:srgbClr val="FFFFFF"/>
          </a:solidFill>
          <a:ln w="12700">
            <a:solidFill>
              <a:srgbClr val="D9E2EE"/>
            </a:solidFill>
            <a:prstDash val="solid"/>
          </a:ln>
        </p:spPr>
      </p:sp>
      <p:sp>
        <p:nvSpPr>
          <p:cNvPr id="44" name="Text 39"/>
          <p:cNvSpPr txBox="1"/>
          <p:nvPr/>
        </p:nvSpPr>
        <p:spPr>
          <a:xfrm>
            <a:off x="8211312" y="1435608"/>
            <a:ext cx="328269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3 · El alcance: la frontera de Kafka</a:t>
            </a:r>
            <a:endParaRPr lang="en-US" sz="1300" dirty="0"/>
          </a:p>
        </p:txBody>
      </p:sp>
      <p:sp>
        <p:nvSpPr>
          <p:cNvPr id="45" name="Shape 40"/>
          <p:cNvSpPr/>
          <p:nvPr/>
        </p:nvSpPr>
        <p:spPr>
          <a:xfrm>
            <a:off x="8183880" y="1783080"/>
            <a:ext cx="3337560" cy="1417320"/>
          </a:xfrm>
          <a:prstGeom prst="roundRect">
            <a:avLst>
              <a:gd name="adj" fmla="val 5161"/>
            </a:avLst>
          </a:prstGeom>
          <a:solidFill>
            <a:srgbClr val="F5F8FC">
              <a:alpha val="0"/>
            </a:srgbClr>
          </a:solidFill>
          <a:ln w="15875">
            <a:solidFill>
              <a:srgbClr val="15803D"/>
            </a:solidFill>
            <a:prstDash val="dash"/>
          </a:ln>
        </p:spPr>
      </p:sp>
      <p:sp>
        <p:nvSpPr>
          <p:cNvPr id="46" name="Text 41"/>
          <p:cNvSpPr txBox="1"/>
          <p:nvPr/>
        </p:nvSpPr>
        <p:spPr>
          <a:xfrm>
            <a:off x="8275320" y="1801368"/>
            <a:ext cx="3108960" cy="228600"/>
          </a:xfrm>
          <a:prstGeom prst="rect">
            <a:avLst/>
          </a:prstGeom>
          <a:noFill/>
          <a:ln/>
        </p:spPr>
        <p:txBody>
          <a:bodyPr wrap="square" lIns="0" tIns="0" rIns="0" bIns="0" rtlCol="0" anchor="t"/>
          <a:lstStyle/>
          <a:p>
            <a:pPr indent="0" marL="0">
              <a:buNone/>
            </a:pPr>
            <a:r>
              <a:rPr lang="en-US" sz="900" i="1" dirty="0">
                <a:solidFill>
                  <a:srgbClr val="15803D"/>
                </a:solidFill>
                <a:latin typeface="Calibri" pitchFamily="34" charset="0"/>
                <a:ea typeface="Calibri" pitchFamily="34" charset="-122"/>
                <a:cs typeface="Calibri" pitchFamily="34" charset="-120"/>
              </a:rPr>
              <a:t>transacción de Kafka: exactly-once</a:t>
            </a:r>
            <a:endParaRPr lang="en-US" sz="900" dirty="0"/>
          </a:p>
        </p:txBody>
      </p:sp>
      <p:sp>
        <p:nvSpPr>
          <p:cNvPr id="47" name="Shape 42"/>
          <p:cNvSpPr/>
          <p:nvPr/>
        </p:nvSpPr>
        <p:spPr>
          <a:xfrm>
            <a:off x="8321040" y="2194560"/>
            <a:ext cx="914400" cy="457200"/>
          </a:xfrm>
          <a:prstGeom prst="roundRect">
            <a:avLst>
              <a:gd name="adj" fmla="val 16000"/>
            </a:avLst>
          </a:prstGeom>
          <a:solidFill>
            <a:srgbClr val="B45309"/>
          </a:solidFill>
          <a:ln w="12700">
            <a:solidFill>
              <a:srgbClr val="B45309"/>
            </a:solidFill>
            <a:prstDash val="solid"/>
          </a:ln>
        </p:spPr>
      </p:sp>
      <p:sp>
        <p:nvSpPr>
          <p:cNvPr id="48" name="Text 43"/>
          <p:cNvSpPr txBox="1"/>
          <p:nvPr/>
        </p:nvSpPr>
        <p:spPr>
          <a:xfrm>
            <a:off x="8412480" y="2194560"/>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pagos</a:t>
            </a:r>
            <a:endParaRPr lang="en-US" sz="900" dirty="0"/>
          </a:p>
        </p:txBody>
      </p:sp>
      <p:sp>
        <p:nvSpPr>
          <p:cNvPr id="49" name="Shape 44"/>
          <p:cNvSpPr/>
          <p:nvPr/>
        </p:nvSpPr>
        <p:spPr>
          <a:xfrm>
            <a:off x="9418320" y="2194560"/>
            <a:ext cx="960120" cy="457200"/>
          </a:xfrm>
          <a:prstGeom prst="roundRect">
            <a:avLst>
              <a:gd name="adj" fmla="val 16000"/>
            </a:avLst>
          </a:prstGeom>
          <a:solidFill>
            <a:srgbClr val="FFFFFF"/>
          </a:solidFill>
          <a:ln w="15875">
            <a:solidFill>
              <a:srgbClr val="12253D"/>
            </a:solidFill>
            <a:prstDash val="solid"/>
          </a:ln>
        </p:spPr>
      </p:sp>
      <p:sp>
        <p:nvSpPr>
          <p:cNvPr id="50" name="Text 45"/>
          <p:cNvSpPr txBox="1"/>
          <p:nvPr/>
        </p:nvSpPr>
        <p:spPr>
          <a:xfrm>
            <a:off x="9509760" y="2194560"/>
            <a:ext cx="777240" cy="457200"/>
          </a:xfrm>
          <a:prstGeom prst="rect">
            <a:avLst/>
          </a:prstGeom>
          <a:noFill/>
          <a:ln/>
        </p:spPr>
        <p:txBody>
          <a:bodyPr wrap="square" lIns="0" tIns="0" rIns="0" bIns="0" rtlCol="0" anchor="ctr"/>
          <a:lstStyle/>
          <a:p>
            <a:pPr algn="ctr" indent="0" marL="0">
              <a:buNone/>
            </a:pPr>
            <a:r>
              <a:rPr lang="en-US" sz="900" b="1" dirty="0">
                <a:solidFill>
                  <a:srgbClr val="12253D"/>
                </a:solidFill>
                <a:latin typeface="Calibri" pitchFamily="34" charset="0"/>
                <a:ea typeface="Calibri" pitchFamily="34" charset="-122"/>
                <a:cs typeface="Calibri" pitchFamily="34" charset="-120"/>
              </a:rPr>
              <a:t>consumidor</a:t>
            </a:r>
            <a:endParaRPr lang="en-US" sz="900" dirty="0"/>
          </a:p>
        </p:txBody>
      </p:sp>
      <p:sp>
        <p:nvSpPr>
          <p:cNvPr id="51" name="Shape 46"/>
          <p:cNvSpPr/>
          <p:nvPr/>
        </p:nvSpPr>
        <p:spPr>
          <a:xfrm>
            <a:off x="10561320" y="2194560"/>
            <a:ext cx="868680" cy="457200"/>
          </a:xfrm>
          <a:prstGeom prst="roundRect">
            <a:avLst>
              <a:gd name="adj" fmla="val 16000"/>
            </a:avLst>
          </a:prstGeom>
          <a:solidFill>
            <a:srgbClr val="B45309"/>
          </a:solidFill>
          <a:ln w="12700">
            <a:solidFill>
              <a:srgbClr val="B45309"/>
            </a:solidFill>
            <a:prstDash val="solid"/>
          </a:ln>
        </p:spPr>
      </p:sp>
      <p:sp>
        <p:nvSpPr>
          <p:cNvPr id="52" name="Text 47"/>
          <p:cNvSpPr txBox="1"/>
          <p:nvPr/>
        </p:nvSpPr>
        <p:spPr>
          <a:xfrm>
            <a:off x="10652760" y="2194560"/>
            <a:ext cx="6858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salida</a:t>
            </a:r>
            <a:endParaRPr lang="en-US" sz="900" dirty="0"/>
          </a:p>
        </p:txBody>
      </p:sp>
      <p:sp>
        <p:nvSpPr>
          <p:cNvPr id="53" name="Shape 48"/>
          <p:cNvSpPr/>
          <p:nvPr/>
        </p:nvSpPr>
        <p:spPr>
          <a:xfrm>
            <a:off x="9235440" y="2423160"/>
            <a:ext cx="182880" cy="0"/>
          </a:xfrm>
          <a:prstGeom prst="line">
            <a:avLst/>
          </a:prstGeom>
          <a:noFill/>
          <a:ln w="22225">
            <a:solidFill>
              <a:srgbClr val="4B6178"/>
            </a:solidFill>
            <a:prstDash val="solid"/>
            <a:tailEnd type="triangle"/>
          </a:ln>
        </p:spPr>
      </p:sp>
      <p:sp>
        <p:nvSpPr>
          <p:cNvPr id="54" name="Shape 49"/>
          <p:cNvSpPr/>
          <p:nvPr/>
        </p:nvSpPr>
        <p:spPr>
          <a:xfrm>
            <a:off x="10378440" y="2423160"/>
            <a:ext cx="182880" cy="0"/>
          </a:xfrm>
          <a:prstGeom prst="line">
            <a:avLst/>
          </a:prstGeom>
          <a:noFill/>
          <a:ln w="22225">
            <a:solidFill>
              <a:srgbClr val="4B6178"/>
            </a:solidFill>
            <a:prstDash val="solid"/>
            <a:tailEnd type="triangle"/>
          </a:ln>
        </p:spPr>
      </p:sp>
      <p:sp>
        <p:nvSpPr>
          <p:cNvPr id="55" name="Text 50"/>
          <p:cNvSpPr txBox="1"/>
          <p:nvPr/>
        </p:nvSpPr>
        <p:spPr>
          <a:xfrm>
            <a:off x="8275320" y="2743200"/>
            <a:ext cx="3154680" cy="411480"/>
          </a:xfrm>
          <a:prstGeom prst="rect">
            <a:avLst/>
          </a:prstGeom>
          <a:noFill/>
          <a:ln/>
        </p:spPr>
        <p:txBody>
          <a:bodyPr wrap="square" lIns="0" tIns="0" rIns="0" bIns="0" rtlCol="0" anchor="t"/>
          <a:lstStyle/>
          <a:p>
            <a:pPr indent="0" marL="0">
              <a:buNone/>
            </a:pPr>
            <a:r>
              <a:rPr lang="en-US" sz="900" dirty="0">
                <a:solidFill>
                  <a:srgbClr val="4B6178"/>
                </a:solidFill>
                <a:latin typeface="Calibri" pitchFamily="34" charset="0"/>
                <a:ea typeface="Calibri" pitchFamily="34" charset="-122"/>
                <a:cs typeface="Calibri" pitchFamily="34" charset="-120"/>
              </a:rPr>
              <a:t>productor idempotente + transactional.id (por defecto desde 3.0, KIP-679)</a:t>
            </a:r>
            <a:endParaRPr lang="en-US" sz="900" dirty="0"/>
          </a:p>
        </p:txBody>
      </p:sp>
      <p:sp>
        <p:nvSpPr>
          <p:cNvPr id="56" name="Shape 51"/>
          <p:cNvSpPr/>
          <p:nvPr/>
        </p:nvSpPr>
        <p:spPr>
          <a:xfrm>
            <a:off x="9893808" y="2651760"/>
            <a:ext cx="0" cy="960120"/>
          </a:xfrm>
          <a:prstGeom prst="line">
            <a:avLst/>
          </a:prstGeom>
          <a:noFill/>
          <a:ln w="22225">
            <a:solidFill>
              <a:srgbClr val="B91C1C"/>
            </a:solidFill>
            <a:prstDash val="solid"/>
            <a:tailEnd type="triangle"/>
          </a:ln>
        </p:spPr>
      </p:sp>
      <p:sp>
        <p:nvSpPr>
          <p:cNvPr id="57" name="Text 52"/>
          <p:cNvSpPr txBox="1"/>
          <p:nvPr/>
        </p:nvSpPr>
        <p:spPr>
          <a:xfrm>
            <a:off x="9985248" y="3355848"/>
            <a:ext cx="548640" cy="274320"/>
          </a:xfrm>
          <a:prstGeom prst="rect">
            <a:avLst/>
          </a:prstGeom>
          <a:noFill/>
          <a:ln/>
        </p:spPr>
        <p:txBody>
          <a:bodyPr wrap="square" lIns="0" tIns="0" rIns="0" bIns="0" rtlCol="0" anchor="ctr"/>
          <a:lstStyle/>
          <a:p>
            <a:pPr algn="ctr" indent="0" marL="0">
              <a:buNone/>
            </a:pPr>
            <a:r>
              <a:rPr lang="en-US" sz="900" dirty="0">
                <a:solidFill>
                  <a:srgbClr val="B91C1C"/>
                </a:solidFill>
                <a:latin typeface="Calibri" pitchFamily="34" charset="0"/>
                <a:ea typeface="Calibri" pitchFamily="34" charset="-122"/>
                <a:cs typeface="Calibri" pitchFamily="34" charset="-120"/>
              </a:rPr>
              <a:t>RPC</a:t>
            </a:r>
            <a:endParaRPr lang="en-US" sz="900" dirty="0"/>
          </a:p>
        </p:txBody>
      </p:sp>
      <p:sp>
        <p:nvSpPr>
          <p:cNvPr id="58" name="Shape 53"/>
          <p:cNvSpPr/>
          <p:nvPr/>
        </p:nvSpPr>
        <p:spPr>
          <a:xfrm>
            <a:off x="8595360" y="3611880"/>
            <a:ext cx="2606040" cy="502920"/>
          </a:xfrm>
          <a:prstGeom prst="roundRect">
            <a:avLst>
              <a:gd name="adj" fmla="val 14545"/>
            </a:avLst>
          </a:prstGeom>
          <a:solidFill>
            <a:srgbClr val="12253D"/>
          </a:solidFill>
          <a:ln w="25400">
            <a:solidFill>
              <a:srgbClr val="B91C1C"/>
            </a:solidFill>
            <a:prstDash val="solid"/>
          </a:ln>
        </p:spPr>
      </p:sp>
      <p:sp>
        <p:nvSpPr>
          <p:cNvPr id="59" name="Text 54"/>
          <p:cNvSpPr txBox="1"/>
          <p:nvPr/>
        </p:nvSpPr>
        <p:spPr>
          <a:xfrm>
            <a:off x="8595360" y="361188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PostgreSQL · API del banco</a:t>
            </a:r>
            <a:endParaRPr lang="en-US" sz="1100" dirty="0"/>
          </a:p>
        </p:txBody>
      </p:sp>
      <p:sp>
        <p:nvSpPr>
          <p:cNvPr id="60" name="Text 55"/>
          <p:cNvSpPr txBox="1"/>
          <p:nvPr/>
        </p:nvSpPr>
        <p:spPr>
          <a:xfrm>
            <a:off x="8229600" y="4160520"/>
            <a:ext cx="3246120" cy="548640"/>
          </a:xfrm>
          <a:prstGeom prst="rect">
            <a:avLst/>
          </a:prstGeom>
          <a:noFill/>
          <a:ln/>
        </p:spPr>
        <p:txBody>
          <a:bodyPr wrap="square" lIns="0" tIns="0" rIns="0" bIns="0" rtlCol="0" anchor="t"/>
          <a:lstStyle/>
          <a:p>
            <a:pPr indent="0" marL="0">
              <a:buNone/>
            </a:pPr>
            <a:r>
              <a:rPr lang="en-US" sz="1000" dirty="0">
                <a:solidFill>
                  <a:srgbClr val="4B6178"/>
                </a:solidFill>
                <a:latin typeface="Calibri" pitchFamily="34" charset="0"/>
                <a:ea typeface="Calibri" pitchFamily="34" charset="-122"/>
                <a:cs typeface="Calibri" pitchFamily="34" charset="-120"/>
              </a:rPr>
              <a:t>fuera de la transacción: si el consumidor guarda y cae antes de avanzar el offset, el mensaje vuelve y el efecto se duplica</a:t>
            </a:r>
            <a:endParaRPr lang="en-US" sz="1000" dirty="0"/>
          </a:p>
        </p:txBody>
      </p:sp>
      <p:sp>
        <p:nvSpPr>
          <p:cNvPr id="61" name="Shape 56"/>
          <p:cNvSpPr/>
          <p:nvPr/>
        </p:nvSpPr>
        <p:spPr>
          <a:xfrm>
            <a:off x="8229600" y="4754880"/>
            <a:ext cx="3246120" cy="777240"/>
          </a:xfrm>
          <a:prstGeom prst="roundRect">
            <a:avLst>
              <a:gd name="adj" fmla="val 9412"/>
            </a:avLst>
          </a:prstGeom>
          <a:solidFill>
            <a:srgbClr val="FEF2F2"/>
          </a:solidFill>
          <a:ln w="12700">
            <a:solidFill>
              <a:srgbClr val="FEF2F2"/>
            </a:solidFill>
            <a:prstDash val="solid"/>
          </a:ln>
        </p:spPr>
      </p:sp>
      <p:sp>
        <p:nvSpPr>
          <p:cNvPr id="62" name="Text 57"/>
          <p:cNvSpPr txBox="1"/>
          <p:nvPr/>
        </p:nvSpPr>
        <p:spPr>
          <a:xfrm>
            <a:off x="8321040" y="4800600"/>
            <a:ext cx="3063240" cy="68580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La garantía termina en la frontera de Kafka; afuera, tu receptor tiene que ser idempotente.</a:t>
            </a:r>
            <a:endParaRPr lang="en-US" sz="1100" dirty="0"/>
          </a:p>
        </p:txBody>
      </p:sp>
      <p:sp>
        <p:nvSpPr>
          <p:cNvPr id="63" name="Shape 58"/>
          <p:cNvSpPr/>
          <p:nvPr/>
        </p:nvSpPr>
        <p:spPr>
          <a:xfrm>
            <a:off x="457200" y="5806440"/>
            <a:ext cx="11247120" cy="502920"/>
          </a:xfrm>
          <a:prstGeom prst="roundRect">
            <a:avLst>
              <a:gd name="adj" fmla="val 14545"/>
            </a:avLst>
          </a:prstGeom>
          <a:solidFill>
            <a:srgbClr val="DBEAFE"/>
          </a:solidFill>
          <a:ln w="12700">
            <a:solidFill>
              <a:srgbClr val="DBEAFE"/>
            </a:solidFill>
            <a:prstDash val="solid"/>
          </a:ln>
        </p:spPr>
      </p:sp>
      <p:sp>
        <p:nvSpPr>
          <p:cNvPr id="64" name="Text 59"/>
          <p:cNvSpPr txBox="1"/>
          <p:nvPr/>
        </p:nvSpPr>
        <p:spPr>
          <a:xfrm>
            <a:off x="640080" y="5806440"/>
            <a:ext cx="10881360" cy="502920"/>
          </a:xfrm>
          <a:prstGeom prst="rect">
            <a:avLst/>
          </a:prstGeom>
          <a:noFill/>
          <a:ln/>
        </p:spPr>
        <p:txBody>
          <a:bodyPr wrap="square" lIns="0" tIns="0" rIns="0" bIns="0" rtlCol="0" anchor="ctr"/>
          <a:lstStyle/>
          <a:p>
            <a:pPr indent="0" marL="0">
              <a:buNone/>
            </a:pPr>
            <a:r>
              <a:rPr lang="en-US" sz="1400" b="1" dirty="0">
                <a:solidFill>
                  <a:srgbClr val="12253D"/>
                </a:solidFill>
                <a:latin typeface="Calibri" pitchFamily="34" charset="0"/>
                <a:ea typeface="Calibri" pitchFamily="34" charset="-122"/>
                <a:cs typeface="Calibri" pitchFamily="34" charset="-120"/>
              </a:rPr>
              <a:t>La entrega exactamente una vez no existe. El efecto exactamente una vez se construye: reintentos + receptor idempotente.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RPC esconde la red; REST la muestra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10/32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457200" y="1371600"/>
            <a:ext cx="5486400" cy="3794760"/>
          </a:xfrm>
          <a:prstGeom prst="roundRect">
            <a:avLst>
              <a:gd name="adj" fmla="val 1928"/>
            </a:avLst>
          </a:prstGeom>
          <a:solidFill>
            <a:srgbClr val="FFFFFF"/>
          </a:solidFill>
          <a:ln w="12700">
            <a:solidFill>
              <a:srgbClr val="D9E2EE"/>
            </a:solidFill>
            <a:prstDash val="solid"/>
          </a:ln>
        </p:spPr>
      </p:sp>
      <p:sp>
        <p:nvSpPr>
          <p:cNvPr id="6" name="Text 4"/>
          <p:cNvSpPr txBox="1"/>
          <p:nvPr/>
        </p:nvSpPr>
        <p:spPr>
          <a:xfrm>
            <a:off x="621792" y="1481328"/>
            <a:ext cx="515721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RPC · Birrell y Nelson, Xerox PARC, 1984</a:t>
            </a:r>
            <a:endParaRPr lang="en-US" sz="1300" dirty="0"/>
          </a:p>
        </p:txBody>
      </p:sp>
      <p:sp>
        <p:nvSpPr>
          <p:cNvPr id="7" name="Shape 5"/>
          <p:cNvSpPr/>
          <p:nvPr/>
        </p:nvSpPr>
        <p:spPr>
          <a:xfrm>
            <a:off x="640080" y="1828800"/>
            <a:ext cx="5120640" cy="566928"/>
          </a:xfrm>
          <a:prstGeom prst="roundRect">
            <a:avLst>
              <a:gd name="adj" fmla="val 9677"/>
            </a:avLst>
          </a:prstGeom>
          <a:solidFill>
            <a:srgbClr val="1E293B"/>
          </a:solidFill>
          <a:ln w="12700">
            <a:solidFill>
              <a:srgbClr val="1E293B"/>
            </a:solidFill>
            <a:prstDash val="solid"/>
          </a:ln>
        </p:spPr>
      </p:sp>
      <p:sp>
        <p:nvSpPr>
          <p:cNvPr id="8" name="Text 6"/>
          <p:cNvSpPr txBox="1"/>
          <p:nvPr/>
        </p:nvSpPr>
        <p:spPr>
          <a:xfrm>
            <a:off x="804672" y="1965960"/>
            <a:ext cx="4846320" cy="292608"/>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Recibo r = pagos.procesar(tarjeta, 250);</a:t>
            </a:r>
            <a:endParaRPr lang="en-US" sz="1300" dirty="0"/>
          </a:p>
        </p:txBody>
      </p:sp>
      <p:sp>
        <p:nvSpPr>
          <p:cNvPr id="9" name="Shape 7"/>
          <p:cNvSpPr/>
          <p:nvPr/>
        </p:nvSpPr>
        <p:spPr>
          <a:xfrm>
            <a:off x="731520" y="3154680"/>
            <a:ext cx="1371600" cy="548640"/>
          </a:xfrm>
          <a:prstGeom prst="roundRect">
            <a:avLst>
              <a:gd name="adj" fmla="val 13333"/>
            </a:avLst>
          </a:prstGeom>
          <a:solidFill>
            <a:srgbClr val="FFFFFF"/>
          </a:solidFill>
          <a:ln w="15875">
            <a:solidFill>
              <a:srgbClr val="12253D"/>
            </a:solidFill>
            <a:prstDash val="solid"/>
          </a:ln>
        </p:spPr>
      </p:sp>
      <p:sp>
        <p:nvSpPr>
          <p:cNvPr id="10" name="Text 8"/>
          <p:cNvSpPr txBox="1"/>
          <p:nvPr/>
        </p:nvSpPr>
        <p:spPr>
          <a:xfrm>
            <a:off x="822960" y="3154680"/>
            <a:ext cx="118872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cliente</a:t>
            </a:r>
            <a:endParaRPr lang="en-US" sz="1200" dirty="0"/>
          </a:p>
        </p:txBody>
      </p:sp>
      <p:sp>
        <p:nvSpPr>
          <p:cNvPr id="11" name="Shape 9"/>
          <p:cNvSpPr/>
          <p:nvPr/>
        </p:nvSpPr>
        <p:spPr>
          <a:xfrm>
            <a:off x="2240280" y="3154680"/>
            <a:ext cx="1005840" cy="548640"/>
          </a:xfrm>
          <a:prstGeom prst="roundRect">
            <a:avLst>
              <a:gd name="adj" fmla="val 13333"/>
            </a:avLst>
          </a:prstGeom>
          <a:solidFill>
            <a:srgbClr val="E8EEF6"/>
          </a:solidFill>
          <a:ln w="12700">
            <a:solidFill>
              <a:srgbClr val="4B6178"/>
            </a:solidFill>
            <a:prstDash val="solid"/>
          </a:ln>
        </p:spPr>
      </p:sp>
      <p:sp>
        <p:nvSpPr>
          <p:cNvPr id="12" name="Text 10"/>
          <p:cNvSpPr txBox="1"/>
          <p:nvPr/>
        </p:nvSpPr>
        <p:spPr>
          <a:xfrm>
            <a:off x="2331720" y="3154680"/>
            <a:ext cx="82296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stub</a:t>
            </a:r>
            <a:endParaRPr lang="en-US" sz="1200" dirty="0"/>
          </a:p>
        </p:txBody>
      </p:sp>
      <p:sp>
        <p:nvSpPr>
          <p:cNvPr id="13" name="Shape 11"/>
          <p:cNvSpPr/>
          <p:nvPr/>
        </p:nvSpPr>
        <p:spPr>
          <a:xfrm>
            <a:off x="3383280" y="3017520"/>
            <a:ext cx="548640" cy="1005840"/>
          </a:xfrm>
          <a:prstGeom prst="roundRect">
            <a:avLst/>
          </a:prstGeom>
          <a:solidFill>
            <a:srgbClr val="F5F8FC">
              <a:alpha val="0"/>
            </a:srgbClr>
          </a:solidFill>
          <a:ln w="12700">
            <a:solidFill>
              <a:srgbClr val="4B6178"/>
            </a:solidFill>
            <a:prstDash val="dash"/>
          </a:ln>
        </p:spPr>
      </p:sp>
      <p:sp>
        <p:nvSpPr>
          <p:cNvPr id="14" name="Text 12"/>
          <p:cNvSpPr txBox="1"/>
          <p:nvPr/>
        </p:nvSpPr>
        <p:spPr>
          <a:xfrm>
            <a:off x="3383280" y="2724912"/>
            <a:ext cx="54864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15" name="Shape 13"/>
          <p:cNvSpPr/>
          <p:nvPr/>
        </p:nvSpPr>
        <p:spPr>
          <a:xfrm>
            <a:off x="4069080" y="3154680"/>
            <a:ext cx="1691640" cy="548640"/>
          </a:xfrm>
          <a:prstGeom prst="roundRect">
            <a:avLst>
              <a:gd name="adj" fmla="val 13333"/>
            </a:avLst>
          </a:prstGeom>
          <a:solidFill>
            <a:srgbClr val="FFFFFF"/>
          </a:solidFill>
          <a:ln w="15875">
            <a:solidFill>
              <a:srgbClr val="12253D"/>
            </a:solidFill>
            <a:prstDash val="solid"/>
          </a:ln>
        </p:spPr>
      </p:sp>
      <p:sp>
        <p:nvSpPr>
          <p:cNvPr id="16" name="Text 14"/>
          <p:cNvSpPr txBox="1"/>
          <p:nvPr/>
        </p:nvSpPr>
        <p:spPr>
          <a:xfrm>
            <a:off x="4160520" y="3154680"/>
            <a:ext cx="150876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stub · servidor</a:t>
            </a:r>
            <a:endParaRPr lang="en-US" sz="1200" dirty="0"/>
          </a:p>
        </p:txBody>
      </p:sp>
      <p:sp>
        <p:nvSpPr>
          <p:cNvPr id="17" name="Shape 15"/>
          <p:cNvSpPr/>
          <p:nvPr/>
        </p:nvSpPr>
        <p:spPr>
          <a:xfrm>
            <a:off x="2103120" y="3429000"/>
            <a:ext cx="137160" cy="0"/>
          </a:xfrm>
          <a:prstGeom prst="line">
            <a:avLst/>
          </a:prstGeom>
          <a:noFill/>
          <a:ln w="22225">
            <a:solidFill>
              <a:srgbClr val="4B6178"/>
            </a:solidFill>
            <a:prstDash val="solid"/>
            <a:tailEnd type="triangle"/>
          </a:ln>
        </p:spPr>
      </p:sp>
      <p:sp>
        <p:nvSpPr>
          <p:cNvPr id="18" name="Shape 16"/>
          <p:cNvSpPr/>
          <p:nvPr/>
        </p:nvSpPr>
        <p:spPr>
          <a:xfrm>
            <a:off x="3246120" y="3429000"/>
            <a:ext cx="822960" cy="0"/>
          </a:xfrm>
          <a:prstGeom prst="line">
            <a:avLst/>
          </a:prstGeom>
          <a:noFill/>
          <a:ln w="22225">
            <a:solidFill>
              <a:srgbClr val="4B6178"/>
            </a:solidFill>
            <a:prstDash val="solid"/>
            <a:tailEnd type="triangle"/>
          </a:ln>
        </p:spPr>
      </p:sp>
      <p:sp>
        <p:nvSpPr>
          <p:cNvPr id="19" name="Text 17"/>
          <p:cNvSpPr txBox="1"/>
          <p:nvPr/>
        </p:nvSpPr>
        <p:spPr>
          <a:xfrm>
            <a:off x="3246120" y="3090672"/>
            <a:ext cx="822960" cy="274320"/>
          </a:xfrm>
          <a:prstGeom prst="rect">
            <a:avLst/>
          </a:prstGeom>
          <a:noFill/>
          <a:ln/>
        </p:spPr>
        <p:txBody>
          <a:bodyPr wrap="square" lIns="0" tIns="0" rIns="0" bIns="0" rtlCol="0" anchor="ctr"/>
          <a:lstStyle/>
          <a:p>
            <a:pPr algn="ctr" indent="0" marL="0">
              <a:buNone/>
            </a:pPr>
            <a:r>
              <a:rPr lang="en-US" sz="1000" dirty="0">
                <a:solidFill>
                  <a:srgbClr val="4B6178"/>
                </a:solidFill>
                <a:latin typeface="Calibri" pitchFamily="34" charset="0"/>
                <a:ea typeface="Calibri" pitchFamily="34" charset="-122"/>
                <a:cs typeface="Calibri" pitchFamily="34" charset="-120"/>
              </a:rPr>
              <a:t>bytes</a:t>
            </a:r>
            <a:endParaRPr lang="en-US" sz="1000" dirty="0"/>
          </a:p>
        </p:txBody>
      </p:sp>
      <p:sp>
        <p:nvSpPr>
          <p:cNvPr id="20" name="Text 18"/>
          <p:cNvSpPr txBox="1"/>
          <p:nvPr/>
        </p:nvSpPr>
        <p:spPr>
          <a:xfrm>
            <a:off x="640080" y="4160520"/>
            <a:ext cx="5120640" cy="91440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El stub finge ser el servicio: empaqueta argumentos (Lupine generaba el código; Grapevine resolvía a quién llamar). Costo: la red desaparece del código y con ella el timeout.</a:t>
            </a:r>
            <a:endParaRPr lang="en-US" sz="1300" dirty="0"/>
          </a:p>
        </p:txBody>
      </p:sp>
      <p:sp>
        <p:nvSpPr>
          <p:cNvPr id="21" name="Shape 19"/>
          <p:cNvSpPr/>
          <p:nvPr/>
        </p:nvSpPr>
        <p:spPr>
          <a:xfrm>
            <a:off x="6245352" y="1371600"/>
            <a:ext cx="5486400" cy="3794760"/>
          </a:xfrm>
          <a:prstGeom prst="roundRect">
            <a:avLst>
              <a:gd name="adj" fmla="val 1928"/>
            </a:avLst>
          </a:prstGeom>
          <a:solidFill>
            <a:srgbClr val="FFFFFF"/>
          </a:solidFill>
          <a:ln w="12700">
            <a:solidFill>
              <a:srgbClr val="D9E2EE"/>
            </a:solidFill>
            <a:prstDash val="solid"/>
          </a:ln>
        </p:spPr>
      </p:sp>
      <p:sp>
        <p:nvSpPr>
          <p:cNvPr id="22" name="Text 20"/>
          <p:cNvSpPr txBox="1"/>
          <p:nvPr/>
        </p:nvSpPr>
        <p:spPr>
          <a:xfrm>
            <a:off x="6409944" y="1481328"/>
            <a:ext cx="515721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REST · Fielding, tesis doctoral, 2000</a:t>
            </a:r>
            <a:endParaRPr lang="en-US" sz="1300" dirty="0"/>
          </a:p>
        </p:txBody>
      </p:sp>
      <p:sp>
        <p:nvSpPr>
          <p:cNvPr id="23" name="Shape 21"/>
          <p:cNvSpPr/>
          <p:nvPr/>
        </p:nvSpPr>
        <p:spPr>
          <a:xfrm>
            <a:off x="6428232" y="1828800"/>
            <a:ext cx="5120640" cy="822960"/>
          </a:xfrm>
          <a:prstGeom prst="roundRect">
            <a:avLst>
              <a:gd name="adj" fmla="val 6667"/>
            </a:avLst>
          </a:prstGeom>
          <a:solidFill>
            <a:srgbClr val="1E293B"/>
          </a:solidFill>
          <a:ln w="12700">
            <a:solidFill>
              <a:srgbClr val="1E293B"/>
            </a:solidFill>
            <a:prstDash val="solid"/>
          </a:ln>
        </p:spPr>
      </p:sp>
      <p:sp>
        <p:nvSpPr>
          <p:cNvPr id="24" name="Text 22"/>
          <p:cNvSpPr txBox="1"/>
          <p:nvPr/>
        </p:nvSpPr>
        <p:spPr>
          <a:xfrm>
            <a:off x="6592824" y="1965960"/>
            <a:ext cx="484632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POST /transferencias {"de":42,"a":7,"monto":250}</a:t>
            </a:r>
            <a:endParaRPr lang="en-US" sz="1200" dirty="0"/>
          </a:p>
        </p:txBody>
      </p:sp>
      <p:sp>
        <p:nvSpPr>
          <p:cNvPr id="25" name="Text 23"/>
          <p:cNvSpPr txBox="1"/>
          <p:nvPr/>
        </p:nvSpPr>
        <p:spPr>
          <a:xfrm>
            <a:off x="6592824" y="2240280"/>
            <a:ext cx="484632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201 Created  Location: /transferencias/8112</a:t>
            </a:r>
            <a:endParaRPr lang="en-US" sz="1200" dirty="0"/>
          </a:p>
        </p:txBody>
      </p:sp>
      <p:sp>
        <p:nvSpPr>
          <p:cNvPr id="26" name="Shape 24"/>
          <p:cNvSpPr/>
          <p:nvPr/>
        </p:nvSpPr>
        <p:spPr>
          <a:xfrm>
            <a:off x="6519672" y="3154680"/>
            <a:ext cx="1371600" cy="548640"/>
          </a:xfrm>
          <a:prstGeom prst="roundRect">
            <a:avLst>
              <a:gd name="adj" fmla="val 13333"/>
            </a:avLst>
          </a:prstGeom>
          <a:solidFill>
            <a:srgbClr val="FFFFFF"/>
          </a:solidFill>
          <a:ln w="15875">
            <a:solidFill>
              <a:srgbClr val="12253D"/>
            </a:solidFill>
            <a:prstDash val="solid"/>
          </a:ln>
        </p:spPr>
      </p:sp>
      <p:sp>
        <p:nvSpPr>
          <p:cNvPr id="27" name="Text 25"/>
          <p:cNvSpPr txBox="1"/>
          <p:nvPr/>
        </p:nvSpPr>
        <p:spPr>
          <a:xfrm>
            <a:off x="6611112" y="3154680"/>
            <a:ext cx="1188720" cy="548640"/>
          </a:xfrm>
          <a:prstGeom prst="rect">
            <a:avLst/>
          </a:prstGeom>
          <a:noFill/>
          <a:ln/>
        </p:spPr>
        <p:txBody>
          <a:bodyPr wrap="square" lIns="0" tIns="0" rIns="0" bIns="0" rtlCol="0" anchor="ctr"/>
          <a:lstStyle/>
          <a:p>
            <a:pPr algn="ctr" indent="0" marL="0">
              <a:buNone/>
            </a:pPr>
            <a:r>
              <a:rPr lang="en-US" sz="1200" b="1" dirty="0">
                <a:solidFill>
                  <a:srgbClr val="12253D"/>
                </a:solidFill>
                <a:latin typeface="Calibri" pitchFamily="34" charset="0"/>
                <a:ea typeface="Calibri" pitchFamily="34" charset="-122"/>
                <a:cs typeface="Calibri" pitchFamily="34" charset="-120"/>
              </a:rPr>
              <a:t>cliente</a:t>
            </a:r>
            <a:endParaRPr lang="en-US" sz="1200" dirty="0"/>
          </a:p>
        </p:txBody>
      </p:sp>
      <p:sp>
        <p:nvSpPr>
          <p:cNvPr id="28" name="Shape 26"/>
          <p:cNvSpPr/>
          <p:nvPr/>
        </p:nvSpPr>
        <p:spPr>
          <a:xfrm>
            <a:off x="8092440" y="3017520"/>
            <a:ext cx="548640" cy="1005840"/>
          </a:xfrm>
          <a:prstGeom prst="roundRect">
            <a:avLst/>
          </a:prstGeom>
          <a:solidFill>
            <a:srgbClr val="F5F8FC">
              <a:alpha val="0"/>
            </a:srgbClr>
          </a:solidFill>
          <a:ln w="12700">
            <a:solidFill>
              <a:srgbClr val="4B6178"/>
            </a:solidFill>
            <a:prstDash val="dash"/>
          </a:ln>
        </p:spPr>
      </p:sp>
      <p:sp>
        <p:nvSpPr>
          <p:cNvPr id="29" name="Text 27"/>
          <p:cNvSpPr txBox="1"/>
          <p:nvPr/>
        </p:nvSpPr>
        <p:spPr>
          <a:xfrm>
            <a:off x="8092440" y="2724912"/>
            <a:ext cx="54864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30" name="Shape 28"/>
          <p:cNvSpPr/>
          <p:nvPr/>
        </p:nvSpPr>
        <p:spPr>
          <a:xfrm>
            <a:off x="8823960" y="3154680"/>
            <a:ext cx="1188720" cy="548640"/>
          </a:xfrm>
          <a:prstGeom prst="roundRect">
            <a:avLst>
              <a:gd name="adj" fmla="val 13333"/>
            </a:avLst>
          </a:prstGeom>
          <a:solidFill>
            <a:srgbClr val="E8EEF6"/>
          </a:solidFill>
          <a:ln w="12700">
            <a:solidFill>
              <a:srgbClr val="4B6178"/>
            </a:solidFill>
            <a:prstDash val="solid"/>
          </a:ln>
        </p:spPr>
      </p:sp>
      <p:sp>
        <p:nvSpPr>
          <p:cNvPr id="31" name="Text 29"/>
          <p:cNvSpPr txBox="1"/>
          <p:nvPr/>
        </p:nvSpPr>
        <p:spPr>
          <a:xfrm>
            <a:off x="8915400" y="3154680"/>
            <a:ext cx="1005840" cy="548640"/>
          </a:xfrm>
          <a:prstGeom prst="rect">
            <a:avLst/>
          </a:prstGeom>
          <a:noFill/>
          <a:ln/>
        </p:spPr>
        <p:txBody>
          <a:bodyPr wrap="square" lIns="0" tIns="0" rIns="0" bIns="0" rtlCol="0" anchor="ctr"/>
          <a:lstStyle/>
          <a:p>
            <a:pPr algn="ctr" indent="0" marL="0">
              <a:buNone/>
            </a:pPr>
            <a:r>
              <a:rPr lang="en-US" sz="1100" b="1" dirty="0">
                <a:solidFill>
                  <a:srgbClr val="12253D"/>
                </a:solidFill>
                <a:latin typeface="Calibri" pitchFamily="34" charset="0"/>
                <a:ea typeface="Calibri" pitchFamily="34" charset="-122"/>
                <a:cs typeface="Calibri" pitchFamily="34" charset="-120"/>
              </a:rPr>
              <a:t>proxy / caché</a:t>
            </a:r>
            <a:endParaRPr lang="en-US" sz="1100" dirty="0"/>
          </a:p>
        </p:txBody>
      </p:sp>
      <p:sp>
        <p:nvSpPr>
          <p:cNvPr id="32" name="Shape 30"/>
          <p:cNvSpPr/>
          <p:nvPr/>
        </p:nvSpPr>
        <p:spPr>
          <a:xfrm>
            <a:off x="10195560" y="3154680"/>
            <a:ext cx="1371600" cy="548640"/>
          </a:xfrm>
          <a:prstGeom prst="roundRect">
            <a:avLst>
              <a:gd name="adj" fmla="val 13333"/>
            </a:avLst>
          </a:prstGeom>
          <a:solidFill>
            <a:srgbClr val="FFFFFF"/>
          </a:solidFill>
          <a:ln w="15875">
            <a:solidFill>
              <a:srgbClr val="12253D"/>
            </a:solidFill>
            <a:prstDash val="solid"/>
          </a:ln>
        </p:spPr>
      </p:sp>
      <p:sp>
        <p:nvSpPr>
          <p:cNvPr id="33" name="Text 31"/>
          <p:cNvSpPr txBox="1"/>
          <p:nvPr/>
        </p:nvSpPr>
        <p:spPr>
          <a:xfrm>
            <a:off x="10287000" y="3154680"/>
            <a:ext cx="1188720" cy="548640"/>
          </a:xfrm>
          <a:prstGeom prst="rect">
            <a:avLst/>
          </a:prstGeom>
          <a:noFill/>
          <a:ln/>
        </p:spPr>
        <p:txBody>
          <a:bodyPr wrap="square" lIns="0" tIns="0" rIns="0" bIns="0" rtlCol="0" anchor="ctr"/>
          <a:lstStyle/>
          <a:p>
            <a:pPr algn="ctr" indent="0" marL="0">
              <a:buNone/>
            </a:pPr>
            <a:r>
              <a:rPr lang="en-US" sz="1100" b="1" dirty="0">
                <a:solidFill>
                  <a:srgbClr val="12253D"/>
                </a:solidFill>
                <a:latin typeface="Calibri" pitchFamily="34" charset="0"/>
                <a:ea typeface="Calibri" pitchFamily="34" charset="-122"/>
                <a:cs typeface="Calibri" pitchFamily="34" charset="-120"/>
              </a:rPr>
              <a:t>transferencias</a:t>
            </a:r>
            <a:endParaRPr lang="en-US" sz="1100" dirty="0"/>
          </a:p>
        </p:txBody>
      </p:sp>
      <p:sp>
        <p:nvSpPr>
          <p:cNvPr id="34" name="Shape 32"/>
          <p:cNvSpPr/>
          <p:nvPr/>
        </p:nvSpPr>
        <p:spPr>
          <a:xfrm>
            <a:off x="7891272" y="3429000"/>
            <a:ext cx="201168" cy="0"/>
          </a:xfrm>
          <a:prstGeom prst="line">
            <a:avLst/>
          </a:prstGeom>
          <a:noFill/>
          <a:ln w="22225">
            <a:solidFill>
              <a:srgbClr val="4B6178"/>
            </a:solidFill>
            <a:prstDash val="solid"/>
            <a:tailEnd type="triangle"/>
          </a:ln>
        </p:spPr>
      </p:sp>
      <p:sp>
        <p:nvSpPr>
          <p:cNvPr id="35" name="Shape 33"/>
          <p:cNvSpPr/>
          <p:nvPr/>
        </p:nvSpPr>
        <p:spPr>
          <a:xfrm>
            <a:off x="8641080" y="3429000"/>
            <a:ext cx="182880" cy="0"/>
          </a:xfrm>
          <a:prstGeom prst="line">
            <a:avLst/>
          </a:prstGeom>
          <a:noFill/>
          <a:ln w="22225">
            <a:solidFill>
              <a:srgbClr val="4B6178"/>
            </a:solidFill>
            <a:prstDash val="solid"/>
            <a:tailEnd type="triangle"/>
          </a:ln>
        </p:spPr>
      </p:sp>
      <p:sp>
        <p:nvSpPr>
          <p:cNvPr id="36" name="Shape 34"/>
          <p:cNvSpPr/>
          <p:nvPr/>
        </p:nvSpPr>
        <p:spPr>
          <a:xfrm>
            <a:off x="10012680" y="3429000"/>
            <a:ext cx="182880" cy="0"/>
          </a:xfrm>
          <a:prstGeom prst="line">
            <a:avLst/>
          </a:prstGeom>
          <a:noFill/>
          <a:ln w="22225">
            <a:solidFill>
              <a:srgbClr val="4B6178"/>
            </a:solidFill>
            <a:prstDash val="solid"/>
            <a:tailEnd type="triangle"/>
          </a:ln>
        </p:spPr>
      </p:sp>
      <p:sp>
        <p:nvSpPr>
          <p:cNvPr id="37" name="Text 35"/>
          <p:cNvSpPr txBox="1"/>
          <p:nvPr/>
        </p:nvSpPr>
        <p:spPr>
          <a:xfrm>
            <a:off x="6428232" y="4160520"/>
            <a:ext cx="5120640" cy="914400"/>
          </a:xfrm>
          <a:prstGeom prst="rect">
            <a:avLst/>
          </a:prstGeom>
          <a:noFill/>
          <a:ln/>
        </p:spPr>
        <p:txBody>
          <a:bodyPr wrap="square" lIns="0" tIns="0" rIns="0" bIns="0" rtlCol="0" anchor="t"/>
          <a:lstStyle/>
          <a:p>
            <a:pPr indent="0" marL="0">
              <a:buNone/>
            </a:pPr>
            <a:r>
              <a:rPr lang="en-US" sz="1300" dirty="0">
                <a:solidFill>
                  <a:srgbClr val="4B6178"/>
                </a:solidFill>
                <a:latin typeface="Calibri" pitchFamily="34" charset="0"/>
                <a:ea typeface="Calibri" pitchFamily="34" charset="-122"/>
                <a:cs typeface="Calibri" pitchFamily="34" charset="-120"/>
              </a:rPr>
              <a:t>Recursos con nombre, un vocabulario fijo de verbos y códigos que toda la infraestructura entiende sin conocer el negocio: la dirección va en el sobre.</a:t>
            </a:r>
            <a:endParaRPr lang="en-US" sz="1300" dirty="0"/>
          </a:p>
        </p:txBody>
      </p:sp>
      <p:sp>
        <p:nvSpPr>
          <p:cNvPr id="38" name="Text 36"/>
          <p:cNvSpPr txBox="1"/>
          <p:nvPr/>
        </p:nvSpPr>
        <p:spPr>
          <a:xfrm>
            <a:off x="457200" y="5440680"/>
            <a:ext cx="11247120" cy="45720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Mismo problema (fallo parcial), dos filosofías: ocultar la red o hacerla explícita. La segunda gana el tráfico público; la primera vuelve en la S4 con gRPC.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400" b="1" dirty="0">
                <a:solidFill>
                  <a:srgbClr val="12253D"/>
                </a:solidFill>
                <a:latin typeface="Calibri" pitchFamily="34" charset="0"/>
                <a:ea typeface="Calibri" pitchFamily="34" charset="-122"/>
                <a:cs typeface="Calibri" pitchFamily="34" charset="-120"/>
              </a:rPr>
              <a:t>"Uso POST para todo y devuelvo JSON, ¿eso es REST?" Los cuatro niveles de Richardson</a:t>
            </a:r>
            <a:endParaRPr lang="en-US" sz="24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11/32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457200" y="1371600"/>
            <a:ext cx="7589520" cy="1024128"/>
          </a:xfrm>
          <a:prstGeom prst="roundRect">
            <a:avLst>
              <a:gd name="adj" fmla="val 7143"/>
            </a:avLst>
          </a:prstGeom>
          <a:solidFill>
            <a:srgbClr val="FEF2F2"/>
          </a:solidFill>
          <a:ln w="19050">
            <a:solidFill>
              <a:srgbClr val="B91C1C"/>
            </a:solidFill>
            <a:prstDash val="solid"/>
          </a:ln>
        </p:spPr>
      </p:sp>
      <p:sp>
        <p:nvSpPr>
          <p:cNvPr id="6" name="Text 4"/>
          <p:cNvSpPr txBox="1"/>
          <p:nvPr/>
        </p:nvSpPr>
        <p:spPr>
          <a:xfrm>
            <a:off x="548640" y="1371600"/>
            <a:ext cx="7406640" cy="1024128"/>
          </a:xfrm>
          <a:prstGeom prst="rect">
            <a:avLst/>
          </a:prstGeom>
          <a:noFill/>
          <a:ln/>
        </p:spPr>
        <p:txBody>
          <a:bodyPr wrap="square" lIns="0" tIns="0" rIns="0" bIns="0" rtlCol="0" anchor="ctr"/>
          <a:lstStyle/>
          <a:p>
            <a:pPr algn="ctr" indent="0" marL="0">
              <a:buNone/>
            </a:pPr>
            <a:endParaRPr lang="en-US" sz="1300" dirty="0"/>
          </a:p>
        </p:txBody>
      </p:sp>
      <p:sp>
        <p:nvSpPr>
          <p:cNvPr id="7" name="Text 5"/>
          <p:cNvSpPr txBox="1"/>
          <p:nvPr/>
        </p:nvSpPr>
        <p:spPr>
          <a:xfrm>
            <a:off x="640080" y="1463040"/>
            <a:ext cx="7223760" cy="292608"/>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Nivel 0 · el pantano de POX</a:t>
            </a:r>
            <a:endParaRPr lang="en-US" sz="1400" dirty="0"/>
          </a:p>
        </p:txBody>
      </p:sp>
      <p:sp>
        <p:nvSpPr>
          <p:cNvPr id="8" name="Text 6"/>
          <p:cNvSpPr txBox="1"/>
          <p:nvPr/>
        </p:nvSpPr>
        <p:spPr>
          <a:xfrm>
            <a:off x="640080" y="1755648"/>
            <a:ext cx="7223760" cy="310896"/>
          </a:xfrm>
          <a:prstGeom prst="rect">
            <a:avLst/>
          </a:prstGeom>
          <a:noFill/>
          <a:ln/>
        </p:spPr>
        <p:txBody>
          <a:bodyPr wrap="square" lIns="0" tIns="0" rIns="0" bIns="0" rtlCol="0" anchor="t"/>
          <a:lstStyle/>
          <a:p>
            <a:pPr indent="0" marL="0">
              <a:buNone/>
            </a:pPr>
            <a:r>
              <a:rPr lang="en-US" sz="1100" dirty="0">
                <a:solidFill>
                  <a:srgbClr val="4B6178"/>
                </a:solidFill>
                <a:latin typeface="Calibri" pitchFamily="34" charset="0"/>
                <a:ea typeface="Calibri" pitchFamily="34" charset="-122"/>
                <a:cs typeface="Calibri" pitchFamily="34" charset="-120"/>
              </a:rPr>
              <a:t>HTTP como túnel: todo por POST a un único endpoint. Es RPC disfrazado.</a:t>
            </a:r>
            <a:endParaRPr lang="en-US" sz="1100" dirty="0"/>
          </a:p>
        </p:txBody>
      </p:sp>
      <p:sp>
        <p:nvSpPr>
          <p:cNvPr id="9" name="Text 7"/>
          <p:cNvSpPr txBox="1"/>
          <p:nvPr/>
        </p:nvSpPr>
        <p:spPr>
          <a:xfrm>
            <a:off x="640080" y="2066544"/>
            <a:ext cx="7223760" cy="274320"/>
          </a:xfrm>
          <a:prstGeom prst="rect">
            <a:avLst/>
          </a:prstGeom>
          <a:noFill/>
          <a:ln/>
        </p:spPr>
        <p:txBody>
          <a:bodyPr wrap="square" lIns="0" tIns="0" rIns="0" bIns="0" rtlCol="0" anchor="t"/>
          <a:lstStyle/>
          <a:p>
            <a:pPr indent="0" marL="0">
              <a:buNone/>
            </a:pPr>
            <a:r>
              <a:rPr lang="en-US" sz="1050" dirty="0">
                <a:solidFill>
                  <a:srgbClr val="12253D"/>
                </a:solidFill>
                <a:latin typeface="Courier New" pitchFamily="34" charset="0"/>
                <a:ea typeface="Courier New" pitchFamily="34" charset="-122"/>
                <a:cs typeface="Courier New" pitchFamily="34" charset="-120"/>
              </a:rPr>
              <a:t>POST /api  {"accion":"cancelarPedido","id":8112}</a:t>
            </a:r>
            <a:endParaRPr lang="en-US" sz="1050" dirty="0"/>
          </a:p>
        </p:txBody>
      </p:sp>
      <p:sp>
        <p:nvSpPr>
          <p:cNvPr id="10" name="Shape 8"/>
          <p:cNvSpPr/>
          <p:nvPr/>
        </p:nvSpPr>
        <p:spPr>
          <a:xfrm>
            <a:off x="868680" y="2487168"/>
            <a:ext cx="7178040" cy="1024128"/>
          </a:xfrm>
          <a:prstGeom prst="roundRect">
            <a:avLst>
              <a:gd name="adj" fmla="val 7143"/>
            </a:avLst>
          </a:prstGeom>
          <a:solidFill>
            <a:srgbClr val="E8EEF6"/>
          </a:solidFill>
          <a:ln w="12700">
            <a:solidFill>
              <a:srgbClr val="4B6178"/>
            </a:solidFill>
            <a:prstDash val="solid"/>
          </a:ln>
        </p:spPr>
      </p:sp>
      <p:sp>
        <p:nvSpPr>
          <p:cNvPr id="11" name="Text 9"/>
          <p:cNvSpPr txBox="1"/>
          <p:nvPr/>
        </p:nvSpPr>
        <p:spPr>
          <a:xfrm>
            <a:off x="960120" y="2487168"/>
            <a:ext cx="6995160" cy="1024128"/>
          </a:xfrm>
          <a:prstGeom prst="rect">
            <a:avLst/>
          </a:prstGeom>
          <a:noFill/>
          <a:ln/>
        </p:spPr>
        <p:txBody>
          <a:bodyPr wrap="square" lIns="0" tIns="0" rIns="0" bIns="0" rtlCol="0" anchor="ctr"/>
          <a:lstStyle/>
          <a:p>
            <a:pPr algn="ctr" indent="0" marL="0">
              <a:buNone/>
            </a:pPr>
            <a:endParaRPr lang="en-US" sz="1300" dirty="0"/>
          </a:p>
        </p:txBody>
      </p:sp>
      <p:sp>
        <p:nvSpPr>
          <p:cNvPr id="12" name="Text 10"/>
          <p:cNvSpPr txBox="1"/>
          <p:nvPr/>
        </p:nvSpPr>
        <p:spPr>
          <a:xfrm>
            <a:off x="1051560" y="2578608"/>
            <a:ext cx="6812280" cy="292608"/>
          </a:xfrm>
          <a:prstGeom prst="rect">
            <a:avLst/>
          </a:prstGeom>
          <a:noFill/>
          <a:ln/>
        </p:spPr>
        <p:txBody>
          <a:bodyPr wrap="square" lIns="0" tIns="0" rIns="0" bIns="0" rtlCol="0" anchor="t"/>
          <a:lstStyle/>
          <a:p>
            <a:pPr indent="0" marL="0">
              <a:buNone/>
            </a:pPr>
            <a:r>
              <a:rPr lang="en-US" sz="1400" b="1" dirty="0">
                <a:solidFill>
                  <a:srgbClr val="12253D"/>
                </a:solidFill>
                <a:latin typeface="Calibri" pitchFamily="34" charset="0"/>
                <a:ea typeface="Calibri" pitchFamily="34" charset="-122"/>
                <a:cs typeface="Calibri" pitchFamily="34" charset="-120"/>
              </a:rPr>
              <a:t>Nivel 1 · recursos</a:t>
            </a:r>
            <a:endParaRPr lang="en-US" sz="1400" dirty="0"/>
          </a:p>
        </p:txBody>
      </p:sp>
      <p:sp>
        <p:nvSpPr>
          <p:cNvPr id="13" name="Text 11"/>
          <p:cNvSpPr txBox="1"/>
          <p:nvPr/>
        </p:nvSpPr>
        <p:spPr>
          <a:xfrm>
            <a:off x="1051560" y="2871216"/>
            <a:ext cx="6812280" cy="310896"/>
          </a:xfrm>
          <a:prstGeom prst="rect">
            <a:avLst/>
          </a:prstGeom>
          <a:noFill/>
          <a:ln/>
        </p:spPr>
        <p:txBody>
          <a:bodyPr wrap="square" lIns="0" tIns="0" rIns="0" bIns="0" rtlCol="0" anchor="t"/>
          <a:lstStyle/>
          <a:p>
            <a:pPr indent="0" marL="0">
              <a:buNone/>
            </a:pPr>
            <a:r>
              <a:rPr lang="en-US" sz="1100" dirty="0">
                <a:solidFill>
                  <a:srgbClr val="4B6178"/>
                </a:solidFill>
                <a:latin typeface="Calibri" pitchFamily="34" charset="0"/>
                <a:ea typeface="Calibri" pitchFamily="34" charset="-122"/>
                <a:cs typeface="Calibri" pitchFamily="34" charset="-120"/>
              </a:rPr>
              <a:t>Una URI por entidad; los verbos todavía no importan.</a:t>
            </a:r>
            <a:endParaRPr lang="en-US" sz="1100" dirty="0"/>
          </a:p>
        </p:txBody>
      </p:sp>
      <p:sp>
        <p:nvSpPr>
          <p:cNvPr id="14" name="Text 12"/>
          <p:cNvSpPr txBox="1"/>
          <p:nvPr/>
        </p:nvSpPr>
        <p:spPr>
          <a:xfrm>
            <a:off x="1051560" y="3182112"/>
            <a:ext cx="6812280" cy="274320"/>
          </a:xfrm>
          <a:prstGeom prst="rect">
            <a:avLst/>
          </a:prstGeom>
          <a:noFill/>
          <a:ln/>
        </p:spPr>
        <p:txBody>
          <a:bodyPr wrap="square" lIns="0" tIns="0" rIns="0" bIns="0" rtlCol="0" anchor="t"/>
          <a:lstStyle/>
          <a:p>
            <a:pPr indent="0" marL="0">
              <a:buNone/>
            </a:pPr>
            <a:r>
              <a:rPr lang="en-US" sz="1050" dirty="0">
                <a:solidFill>
                  <a:srgbClr val="12253D"/>
                </a:solidFill>
                <a:latin typeface="Courier New" pitchFamily="34" charset="0"/>
                <a:ea typeface="Courier New" pitchFamily="34" charset="-122"/>
                <a:cs typeface="Courier New" pitchFamily="34" charset="-120"/>
              </a:rPr>
              <a:t>POST /pedidos/8112/cancelar</a:t>
            </a:r>
            <a:endParaRPr lang="en-US" sz="1050" dirty="0"/>
          </a:p>
        </p:txBody>
      </p:sp>
      <p:sp>
        <p:nvSpPr>
          <p:cNvPr id="15" name="Shape 13"/>
          <p:cNvSpPr/>
          <p:nvPr/>
        </p:nvSpPr>
        <p:spPr>
          <a:xfrm>
            <a:off x="1280160" y="3602736"/>
            <a:ext cx="6766560" cy="1024128"/>
          </a:xfrm>
          <a:prstGeom prst="roundRect">
            <a:avLst>
              <a:gd name="adj" fmla="val 7143"/>
            </a:avLst>
          </a:prstGeom>
          <a:solidFill>
            <a:srgbClr val="F0FDF4"/>
          </a:solidFill>
          <a:ln w="19050">
            <a:solidFill>
              <a:srgbClr val="15803D"/>
            </a:solidFill>
            <a:prstDash val="solid"/>
          </a:ln>
        </p:spPr>
      </p:sp>
      <p:sp>
        <p:nvSpPr>
          <p:cNvPr id="16" name="Text 14"/>
          <p:cNvSpPr txBox="1"/>
          <p:nvPr/>
        </p:nvSpPr>
        <p:spPr>
          <a:xfrm>
            <a:off x="1371600" y="3602736"/>
            <a:ext cx="6583680" cy="1024128"/>
          </a:xfrm>
          <a:prstGeom prst="rect">
            <a:avLst/>
          </a:prstGeom>
          <a:noFill/>
          <a:ln/>
        </p:spPr>
        <p:txBody>
          <a:bodyPr wrap="square" lIns="0" tIns="0" rIns="0" bIns="0" rtlCol="0" anchor="ctr"/>
          <a:lstStyle/>
          <a:p>
            <a:pPr algn="ctr" indent="0" marL="0">
              <a:buNone/>
            </a:pPr>
            <a:endParaRPr lang="en-US" sz="1300" dirty="0"/>
          </a:p>
        </p:txBody>
      </p:sp>
      <p:sp>
        <p:nvSpPr>
          <p:cNvPr id="17" name="Text 15"/>
          <p:cNvSpPr txBox="1"/>
          <p:nvPr/>
        </p:nvSpPr>
        <p:spPr>
          <a:xfrm>
            <a:off x="1463040" y="3694176"/>
            <a:ext cx="6400800" cy="292608"/>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Nivel 2 · verbos y códigos con rigor</a:t>
            </a:r>
            <a:endParaRPr lang="en-US" sz="1400" dirty="0"/>
          </a:p>
        </p:txBody>
      </p:sp>
      <p:sp>
        <p:nvSpPr>
          <p:cNvPr id="18" name="Text 16"/>
          <p:cNvSpPr txBox="1"/>
          <p:nvPr/>
        </p:nvSpPr>
        <p:spPr>
          <a:xfrm>
            <a:off x="1463040" y="3986784"/>
            <a:ext cx="6400800" cy="310896"/>
          </a:xfrm>
          <a:prstGeom prst="rect">
            <a:avLst/>
          </a:prstGeom>
          <a:noFill/>
          <a:ln/>
        </p:spPr>
        <p:txBody>
          <a:bodyPr wrap="square" lIns="0" tIns="0" rIns="0" bIns="0" rtlCol="0" anchor="t"/>
          <a:lstStyle/>
          <a:p>
            <a:pPr indent="0" marL="0">
              <a:buNone/>
            </a:pPr>
            <a:r>
              <a:rPr lang="en-US" sz="1100" dirty="0">
                <a:solidFill>
                  <a:srgbClr val="4B6178"/>
                </a:solidFill>
                <a:latin typeface="Calibri" pitchFamily="34" charset="0"/>
                <a:ea typeface="Calibri" pitchFamily="34" charset="-122"/>
                <a:cs typeface="Calibri" pitchFamily="34" charset="-120"/>
              </a:rPr>
              <a:t>GET, POST, PUT, DELETE y 200, 201, 404, 409 con su semántica. El estándar real de la industria.</a:t>
            </a:r>
            <a:endParaRPr lang="en-US" sz="1100" dirty="0"/>
          </a:p>
        </p:txBody>
      </p:sp>
      <p:sp>
        <p:nvSpPr>
          <p:cNvPr id="19" name="Text 17"/>
          <p:cNvSpPr txBox="1"/>
          <p:nvPr/>
        </p:nvSpPr>
        <p:spPr>
          <a:xfrm>
            <a:off x="1463040" y="4297680"/>
            <a:ext cx="6400800" cy="274320"/>
          </a:xfrm>
          <a:prstGeom prst="rect">
            <a:avLst/>
          </a:prstGeom>
          <a:noFill/>
          <a:ln/>
        </p:spPr>
        <p:txBody>
          <a:bodyPr wrap="square" lIns="0" tIns="0" rIns="0" bIns="0" rtlCol="0" anchor="t"/>
          <a:lstStyle/>
          <a:p>
            <a:pPr indent="0" marL="0">
              <a:buNone/>
            </a:pPr>
            <a:r>
              <a:rPr lang="en-US" sz="1050" dirty="0">
                <a:solidFill>
                  <a:srgbClr val="12253D"/>
                </a:solidFill>
                <a:latin typeface="Courier New" pitchFamily="34" charset="0"/>
                <a:ea typeface="Courier New" pitchFamily="34" charset="-122"/>
                <a:cs typeface="Courier New" pitchFamily="34" charset="-120"/>
              </a:rPr>
              <a:t>DELETE /pedidos/8112  →  204 No Content</a:t>
            </a:r>
            <a:endParaRPr lang="en-US" sz="1050" dirty="0"/>
          </a:p>
        </p:txBody>
      </p:sp>
      <p:sp>
        <p:nvSpPr>
          <p:cNvPr id="20" name="Shape 18"/>
          <p:cNvSpPr/>
          <p:nvPr/>
        </p:nvSpPr>
        <p:spPr>
          <a:xfrm>
            <a:off x="1691640" y="4718304"/>
            <a:ext cx="6355080" cy="1024128"/>
          </a:xfrm>
          <a:prstGeom prst="roundRect">
            <a:avLst>
              <a:gd name="adj" fmla="val 7143"/>
            </a:avLst>
          </a:prstGeom>
          <a:solidFill>
            <a:srgbClr val="E8EEF6"/>
          </a:solidFill>
          <a:ln w="12700">
            <a:solidFill>
              <a:srgbClr val="4B6178"/>
            </a:solidFill>
            <a:prstDash val="solid"/>
          </a:ln>
        </p:spPr>
      </p:sp>
      <p:sp>
        <p:nvSpPr>
          <p:cNvPr id="21" name="Text 19"/>
          <p:cNvSpPr txBox="1"/>
          <p:nvPr/>
        </p:nvSpPr>
        <p:spPr>
          <a:xfrm>
            <a:off x="1783080" y="4718304"/>
            <a:ext cx="6172200" cy="1024128"/>
          </a:xfrm>
          <a:prstGeom prst="rect">
            <a:avLst/>
          </a:prstGeom>
          <a:noFill/>
          <a:ln/>
        </p:spPr>
        <p:txBody>
          <a:bodyPr wrap="square" lIns="0" tIns="0" rIns="0" bIns="0" rtlCol="0" anchor="ctr"/>
          <a:lstStyle/>
          <a:p>
            <a:pPr algn="ctr" indent="0" marL="0">
              <a:buNone/>
            </a:pPr>
            <a:endParaRPr lang="en-US" sz="1300" dirty="0"/>
          </a:p>
        </p:txBody>
      </p:sp>
      <p:sp>
        <p:nvSpPr>
          <p:cNvPr id="22" name="Text 20"/>
          <p:cNvSpPr txBox="1"/>
          <p:nvPr/>
        </p:nvSpPr>
        <p:spPr>
          <a:xfrm>
            <a:off x="1874520" y="4809744"/>
            <a:ext cx="5989320" cy="292608"/>
          </a:xfrm>
          <a:prstGeom prst="rect">
            <a:avLst/>
          </a:prstGeom>
          <a:noFill/>
          <a:ln/>
        </p:spPr>
        <p:txBody>
          <a:bodyPr wrap="square" lIns="0" tIns="0" rIns="0" bIns="0" rtlCol="0" anchor="t"/>
          <a:lstStyle/>
          <a:p>
            <a:pPr indent="0" marL="0">
              <a:buNone/>
            </a:pPr>
            <a:r>
              <a:rPr lang="en-US" sz="1400" b="1" dirty="0">
                <a:solidFill>
                  <a:srgbClr val="12253D"/>
                </a:solidFill>
                <a:latin typeface="Calibri" pitchFamily="34" charset="0"/>
                <a:ea typeface="Calibri" pitchFamily="34" charset="-122"/>
                <a:cs typeface="Calibri" pitchFamily="34" charset="-120"/>
              </a:rPr>
              <a:t>Nivel 3 · HATEOAS</a:t>
            </a:r>
            <a:endParaRPr lang="en-US" sz="1400" dirty="0"/>
          </a:p>
        </p:txBody>
      </p:sp>
      <p:sp>
        <p:nvSpPr>
          <p:cNvPr id="23" name="Text 21"/>
          <p:cNvSpPr txBox="1"/>
          <p:nvPr/>
        </p:nvSpPr>
        <p:spPr>
          <a:xfrm>
            <a:off x="1874520" y="5102352"/>
            <a:ext cx="5989320" cy="310896"/>
          </a:xfrm>
          <a:prstGeom prst="rect">
            <a:avLst/>
          </a:prstGeom>
          <a:noFill/>
          <a:ln/>
        </p:spPr>
        <p:txBody>
          <a:bodyPr wrap="square" lIns="0" tIns="0" rIns="0" bIns="0" rtlCol="0" anchor="t"/>
          <a:lstStyle/>
          <a:p>
            <a:pPr indent="0" marL="0">
              <a:buNone/>
            </a:pPr>
            <a:r>
              <a:rPr lang="en-US" sz="1100" dirty="0">
                <a:solidFill>
                  <a:srgbClr val="4B6178"/>
                </a:solidFill>
                <a:latin typeface="Calibri" pitchFamily="34" charset="0"/>
                <a:ea typeface="Calibri" pitchFamily="34" charset="-122"/>
                <a:cs typeface="Calibri" pitchFamily="34" charset="-120"/>
              </a:rPr>
              <a:t>La respuesta trae los enlaces de lo que puedes hacer después. El menos adoptado en la práctica.</a:t>
            </a:r>
            <a:endParaRPr lang="en-US" sz="1100" dirty="0"/>
          </a:p>
        </p:txBody>
      </p:sp>
      <p:sp>
        <p:nvSpPr>
          <p:cNvPr id="24" name="Text 22"/>
          <p:cNvSpPr txBox="1"/>
          <p:nvPr/>
        </p:nvSpPr>
        <p:spPr>
          <a:xfrm>
            <a:off x="1874520" y="5413248"/>
            <a:ext cx="5989320" cy="274320"/>
          </a:xfrm>
          <a:prstGeom prst="rect">
            <a:avLst/>
          </a:prstGeom>
          <a:noFill/>
          <a:ln/>
        </p:spPr>
        <p:txBody>
          <a:bodyPr wrap="square" lIns="0" tIns="0" rIns="0" bIns="0" rtlCol="0" anchor="t"/>
          <a:lstStyle/>
          <a:p>
            <a:pPr indent="0" marL="0">
              <a:buNone/>
            </a:pPr>
            <a:r>
              <a:rPr lang="en-US" sz="1050" dirty="0">
                <a:solidFill>
                  <a:srgbClr val="12253D"/>
                </a:solidFill>
                <a:latin typeface="Courier New" pitchFamily="34" charset="0"/>
                <a:ea typeface="Courier New" pitchFamily="34" charset="-122"/>
                <a:cs typeface="Courier New" pitchFamily="34" charset="-120"/>
              </a:rPr>
              <a:t>{"estado":"pagado","_links":{"cancelar":"/pedidos/8112/cancelacion"}}</a:t>
            </a:r>
            <a:endParaRPr lang="en-US" sz="1050" dirty="0"/>
          </a:p>
        </p:txBody>
      </p:sp>
      <p:sp>
        <p:nvSpPr>
          <p:cNvPr id="25" name="Shape 23"/>
          <p:cNvSpPr/>
          <p:nvPr/>
        </p:nvSpPr>
        <p:spPr>
          <a:xfrm>
            <a:off x="5806440" y="3703320"/>
            <a:ext cx="2011680" cy="310896"/>
          </a:xfrm>
          <a:prstGeom prst="roundRect">
            <a:avLst>
              <a:gd name="adj" fmla="val 50000"/>
            </a:avLst>
          </a:prstGeom>
          <a:solidFill>
            <a:srgbClr val="F0FDF4"/>
          </a:solidFill>
          <a:ln w="12700">
            <a:solidFill>
              <a:srgbClr val="F0FDF4"/>
            </a:solidFill>
            <a:prstDash val="solid"/>
          </a:ln>
        </p:spPr>
      </p:sp>
      <p:sp>
        <p:nvSpPr>
          <p:cNvPr id="26" name="Text 24"/>
          <p:cNvSpPr txBox="1"/>
          <p:nvPr/>
        </p:nvSpPr>
        <p:spPr>
          <a:xfrm>
            <a:off x="5806440" y="3703320"/>
            <a:ext cx="2011680" cy="310896"/>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aquí vive la industria</a:t>
            </a:r>
            <a:endParaRPr lang="en-US" sz="1000" dirty="0"/>
          </a:p>
        </p:txBody>
      </p:sp>
      <p:sp>
        <p:nvSpPr>
          <p:cNvPr id="27" name="Shape 25"/>
          <p:cNvSpPr/>
          <p:nvPr/>
        </p:nvSpPr>
        <p:spPr>
          <a:xfrm>
            <a:off x="5806440" y="1463040"/>
            <a:ext cx="2011680" cy="310896"/>
          </a:xfrm>
          <a:prstGeom prst="roundRect">
            <a:avLst>
              <a:gd name="adj" fmla="val 50000"/>
            </a:avLst>
          </a:prstGeom>
          <a:solidFill>
            <a:srgbClr val="FEF2F2"/>
          </a:solidFill>
          <a:ln w="12700">
            <a:solidFill>
              <a:srgbClr val="FEF2F2"/>
            </a:solidFill>
            <a:prstDash val="solid"/>
          </a:ln>
        </p:spPr>
      </p:sp>
      <p:sp>
        <p:nvSpPr>
          <p:cNvPr id="28" name="Text 26"/>
          <p:cNvSpPr txBox="1"/>
          <p:nvPr/>
        </p:nvSpPr>
        <p:spPr>
          <a:xfrm>
            <a:off x="5806440" y="1463040"/>
            <a:ext cx="2011680" cy="310896"/>
          </a:xfrm>
          <a:prstGeom prst="rect">
            <a:avLst/>
          </a:prstGeom>
          <a:noFill/>
          <a:ln/>
        </p:spPr>
        <p:txBody>
          <a:bodyPr wrap="square" lIns="0" tIns="0" rIns="0" bIns="0" rtlCol="0" anchor="ctr"/>
          <a:lstStyle/>
          <a:p>
            <a:pPr algn="ctr" indent="0" marL="0">
              <a:buNone/>
            </a:pPr>
            <a:r>
              <a:rPr lang="en-US" sz="1000" b="1" dirty="0">
                <a:solidFill>
                  <a:srgbClr val="B91C1C"/>
                </a:solidFill>
                <a:latin typeface="Calibri" pitchFamily="34" charset="0"/>
                <a:ea typeface="Calibri" pitchFamily="34" charset="-122"/>
                <a:cs typeface="Calibri" pitchFamily="34" charset="-120"/>
              </a:rPr>
              <a:t>esto no es REST</a:t>
            </a:r>
            <a:endParaRPr lang="en-US" sz="1000" dirty="0"/>
          </a:p>
        </p:txBody>
      </p:sp>
      <p:sp>
        <p:nvSpPr>
          <p:cNvPr id="29" name="Text 27"/>
          <p:cNvSpPr txBox="1"/>
          <p:nvPr/>
        </p:nvSpPr>
        <p:spPr>
          <a:xfrm>
            <a:off x="457200" y="5870448"/>
            <a:ext cx="7589520" cy="411480"/>
          </a:xfrm>
          <a:prstGeom prst="rect">
            <a:avLst/>
          </a:prstGeom>
          <a:noFill/>
          <a:ln/>
        </p:spPr>
        <p:txBody>
          <a:bodyPr wrap="square" lIns="0" tIns="0" rIns="0" bIns="0" rtlCol="0" anchor="t"/>
          <a:lstStyle/>
          <a:p>
            <a:pPr indent="0" marL="0">
              <a:buNone/>
            </a:pPr>
            <a:r>
              <a:rPr lang="en-US" sz="1100" i="1" dirty="0">
                <a:solidFill>
                  <a:srgbClr val="4B6178"/>
                </a:solidFill>
                <a:latin typeface="Calibri" pitchFamily="34" charset="0"/>
                <a:ea typeface="Calibri" pitchFamily="34" charset="-122"/>
                <a:cs typeface="Calibri" pitchFamily="34" charset="-120"/>
              </a:rPr>
              <a:t>Leonard Richardson (2008), popularizado por Fowler (2010): Fielding solo reconoce como REST el nivel 3.</a:t>
            </a:r>
            <a:endParaRPr lang="en-US" sz="1100" dirty="0"/>
          </a:p>
        </p:txBody>
      </p:sp>
      <p:sp>
        <p:nvSpPr>
          <p:cNvPr id="30" name="Shape 28"/>
          <p:cNvSpPr/>
          <p:nvPr/>
        </p:nvSpPr>
        <p:spPr>
          <a:xfrm>
            <a:off x="8321040" y="1371600"/>
            <a:ext cx="3383280" cy="3246120"/>
          </a:xfrm>
          <a:prstGeom prst="roundRect">
            <a:avLst>
              <a:gd name="adj" fmla="val 2254"/>
            </a:avLst>
          </a:prstGeom>
          <a:solidFill>
            <a:srgbClr val="FFFFFF"/>
          </a:solidFill>
          <a:ln w="12700">
            <a:solidFill>
              <a:srgbClr val="D9E2EE"/>
            </a:solidFill>
            <a:prstDash val="solid"/>
          </a:ln>
        </p:spPr>
      </p:sp>
      <p:pic>
        <p:nvPicPr>
          <p:cNvPr id="31" name="Image 0" descr="preencoded.png">    </p:cNvPr>
          <p:cNvPicPr>
            <a:picLocks noChangeAspect="1"/>
          </p:cNvPicPr>
          <p:nvPr/>
        </p:nvPicPr>
        <p:blipFill>
          <a:blip r:embed="rId1"/>
          <a:stretch>
            <a:fillRect/>
          </a:stretch>
        </p:blipFill>
        <p:spPr>
          <a:xfrm>
            <a:off x="8485632" y="1508760"/>
            <a:ext cx="274320" cy="274320"/>
          </a:xfrm>
          <a:prstGeom prst="rect">
            <a:avLst/>
          </a:prstGeom>
        </p:spPr>
      </p:pic>
      <p:sp>
        <p:nvSpPr>
          <p:cNvPr id="32" name="Text 29"/>
          <p:cNvSpPr txBox="1"/>
          <p:nvPr/>
        </p:nvSpPr>
        <p:spPr>
          <a:xfrm>
            <a:off x="8869680" y="1481328"/>
            <a:ext cx="267004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Adelanto de la S4: RPC regresó como gRPC</a:t>
            </a:r>
            <a:endParaRPr lang="en-US" sz="1300" dirty="0"/>
          </a:p>
        </p:txBody>
      </p:sp>
      <p:sp>
        <p:nvSpPr>
          <p:cNvPr id="33" name="Text 30"/>
          <p:cNvSpPr txBox="1"/>
          <p:nvPr/>
        </p:nvSpPr>
        <p:spPr>
          <a:xfrm>
            <a:off x="8485632" y="1847088"/>
            <a:ext cx="3054096" cy="2660904"/>
          </a:xfrm>
          <a:prstGeom prst="rect">
            <a:avLst/>
          </a:prstGeom>
          <a:noFill/>
          <a:ln/>
        </p:spPr>
        <p:txBody>
          <a:bodyPr wrap="square" lIns="0" tIns="0" rIns="0" bIns="0" rtlCol="0" anchor="t"/>
          <a:lstStyle/>
          <a:p>
            <a:pPr indent="0" marL="0">
              <a:spcAft>
                <a:spcPts val="400"/>
              </a:spcAft>
              <a:buNone/>
            </a:pPr>
            <a:r>
              <a:rPr lang="en-US" sz="1250" dirty="0">
                <a:solidFill>
                  <a:srgbClr val="12253D"/>
                </a:solidFill>
                <a:latin typeface="Calibri" pitchFamily="34" charset="0"/>
                <a:ea typeface="Calibri" pitchFamily="34" charset="-122"/>
                <a:cs typeface="Calibri" pitchFamily="34" charset="-120"/>
              </a:rPr>
              <a:t>REST domina el tráfico público. Para el tráfico interno entre microservicios, RPC volvió con fuerza como gRPC (Google, 2015).</a:t>
            </a:r>
            <a:endParaRPr lang="en-US" sz="1250" dirty="0"/>
          </a:p>
          <a:p>
            <a:pPr indent="0" marL="0">
              <a:spcAft>
                <a:spcPts val="400"/>
              </a:spcAft>
              <a:buNone/>
            </a:pPr>
            <a:endParaRPr lang="en-US" sz="1250" dirty="0"/>
          </a:p>
          <a:p>
            <a:pPr indent="0" marL="0">
              <a:spcAft>
                <a:spcPts val="400"/>
              </a:spcAft>
              <a:buNone/>
            </a:pPr>
            <a:r>
              <a:rPr lang="en-US" sz="1250" dirty="0">
                <a:solidFill>
                  <a:srgbClr val="12253D"/>
                </a:solidFill>
                <a:latin typeface="Calibri" pitchFamily="34" charset="0"/>
                <a:ea typeface="Calibri" pitchFamily="34" charset="-122"/>
                <a:cs typeface="Calibri" pitchFamily="34" charset="-120"/>
              </a:rPr>
              <a:t>Aprendió la lección de 1984: cada llamada lleva un deadline obligatorio; si se vence, DEADLINE_EXCEEDED, nada de esperar para siempre.</a:t>
            </a:r>
            <a:endParaRPr lang="en-US" sz="1250" dirty="0"/>
          </a:p>
        </p:txBody>
      </p:sp>
      <p:sp>
        <p:nvSpPr>
          <p:cNvPr id="34" name="Shape 31"/>
          <p:cNvSpPr/>
          <p:nvPr/>
        </p:nvSpPr>
        <p:spPr>
          <a:xfrm>
            <a:off x="8503920" y="5120640"/>
            <a:ext cx="1051560" cy="457200"/>
          </a:xfrm>
          <a:prstGeom prst="roundRect">
            <a:avLst>
              <a:gd name="adj" fmla="val 16000"/>
            </a:avLst>
          </a:prstGeom>
          <a:solidFill>
            <a:srgbClr val="FFFFFF"/>
          </a:solidFill>
          <a:ln w="15875">
            <a:solidFill>
              <a:srgbClr val="12253D"/>
            </a:solidFill>
            <a:prstDash val="solid"/>
          </a:ln>
        </p:spPr>
      </p:sp>
      <p:sp>
        <p:nvSpPr>
          <p:cNvPr id="35" name="Text 32"/>
          <p:cNvSpPr txBox="1"/>
          <p:nvPr/>
        </p:nvSpPr>
        <p:spPr>
          <a:xfrm>
            <a:off x="8595360" y="5120640"/>
            <a:ext cx="868680" cy="457200"/>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servicio A</a:t>
            </a:r>
            <a:endParaRPr lang="en-US" sz="1000" dirty="0"/>
          </a:p>
        </p:txBody>
      </p:sp>
      <p:sp>
        <p:nvSpPr>
          <p:cNvPr id="36" name="Shape 33"/>
          <p:cNvSpPr/>
          <p:nvPr/>
        </p:nvSpPr>
        <p:spPr>
          <a:xfrm>
            <a:off x="9738360" y="5029200"/>
            <a:ext cx="502920" cy="640080"/>
          </a:xfrm>
          <a:prstGeom prst="roundRect">
            <a:avLst/>
          </a:prstGeom>
          <a:solidFill>
            <a:srgbClr val="F5F8FC">
              <a:alpha val="0"/>
            </a:srgbClr>
          </a:solidFill>
          <a:ln w="12700">
            <a:solidFill>
              <a:srgbClr val="4B6178"/>
            </a:solidFill>
            <a:prstDash val="dash"/>
          </a:ln>
        </p:spPr>
      </p:sp>
      <p:sp>
        <p:nvSpPr>
          <p:cNvPr id="37" name="Text 34"/>
          <p:cNvSpPr txBox="1"/>
          <p:nvPr/>
        </p:nvSpPr>
        <p:spPr>
          <a:xfrm>
            <a:off x="9738360" y="4736592"/>
            <a:ext cx="50292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38" name="Shape 35"/>
          <p:cNvSpPr/>
          <p:nvPr/>
        </p:nvSpPr>
        <p:spPr>
          <a:xfrm>
            <a:off x="10424160" y="5120640"/>
            <a:ext cx="1097280" cy="457200"/>
          </a:xfrm>
          <a:prstGeom prst="roundRect">
            <a:avLst>
              <a:gd name="adj" fmla="val 16000"/>
            </a:avLst>
          </a:prstGeom>
          <a:solidFill>
            <a:srgbClr val="FFFFFF"/>
          </a:solidFill>
          <a:ln w="15875">
            <a:solidFill>
              <a:srgbClr val="12253D"/>
            </a:solidFill>
            <a:prstDash val="solid"/>
          </a:ln>
        </p:spPr>
      </p:sp>
      <p:sp>
        <p:nvSpPr>
          <p:cNvPr id="39" name="Text 36"/>
          <p:cNvSpPr txBox="1"/>
          <p:nvPr/>
        </p:nvSpPr>
        <p:spPr>
          <a:xfrm>
            <a:off x="10515600" y="5120640"/>
            <a:ext cx="914400" cy="457200"/>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servicio B</a:t>
            </a:r>
            <a:endParaRPr lang="en-US" sz="1000" dirty="0"/>
          </a:p>
        </p:txBody>
      </p:sp>
      <p:sp>
        <p:nvSpPr>
          <p:cNvPr id="40" name="Shape 37"/>
          <p:cNvSpPr/>
          <p:nvPr/>
        </p:nvSpPr>
        <p:spPr>
          <a:xfrm>
            <a:off x="9555480" y="5349240"/>
            <a:ext cx="868680" cy="0"/>
          </a:xfrm>
          <a:prstGeom prst="line">
            <a:avLst/>
          </a:prstGeom>
          <a:noFill/>
          <a:ln w="22225">
            <a:solidFill>
              <a:srgbClr val="B45309"/>
            </a:solidFill>
            <a:prstDash val="solid"/>
            <a:tailEnd type="triangle"/>
          </a:ln>
        </p:spPr>
      </p:sp>
      <p:sp>
        <p:nvSpPr>
          <p:cNvPr id="41" name="Text 38"/>
          <p:cNvSpPr txBox="1"/>
          <p:nvPr/>
        </p:nvSpPr>
        <p:spPr>
          <a:xfrm>
            <a:off x="9441180" y="4956048"/>
            <a:ext cx="1097280" cy="274320"/>
          </a:xfrm>
          <a:prstGeom prst="rect">
            <a:avLst/>
          </a:prstGeom>
          <a:solidFill>
            <a:srgbClr val="F5F8FC"/>
          </a:solidFill>
          <a:ln/>
        </p:spPr>
        <p:txBody>
          <a:bodyPr wrap="square" lIns="0" tIns="0" rIns="0" bIns="0" rtlCol="0" anchor="ctr"/>
          <a:lstStyle/>
          <a:p>
            <a:pPr algn="ctr" indent="0" marL="0">
              <a:buNone/>
            </a:pPr>
            <a:r>
              <a:rPr lang="en-US" sz="900" dirty="0">
                <a:solidFill>
                  <a:srgbClr val="B45309"/>
                </a:solidFill>
                <a:latin typeface="Calibri" pitchFamily="34" charset="0"/>
                <a:ea typeface="Calibri" pitchFamily="34" charset="-122"/>
                <a:cs typeface="Calibri" pitchFamily="34" charset="-120"/>
              </a:rPr>
              <a:t>deadline 300 ms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Idempotencia: hacerlo dos veces deja lo mismo que hacerlo una vez</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12/32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457200" y="1325880"/>
            <a:ext cx="3749040" cy="1965960"/>
          </a:xfrm>
          <a:prstGeom prst="roundRect">
            <a:avLst>
              <a:gd name="adj" fmla="val 3721"/>
            </a:avLst>
          </a:prstGeom>
          <a:solidFill>
            <a:srgbClr val="FFFFFF"/>
          </a:solidFill>
          <a:ln w="12700">
            <a:solidFill>
              <a:srgbClr val="D9E2EE"/>
            </a:solidFill>
            <a:prstDash val="solid"/>
          </a:ln>
        </p:spPr>
      </p:sp>
      <p:sp>
        <p:nvSpPr>
          <p:cNvPr id="6" name="Text 4"/>
          <p:cNvSpPr txBox="1"/>
          <p:nvPr/>
        </p:nvSpPr>
        <p:spPr>
          <a:xfrm>
            <a:off x="548640" y="1417320"/>
            <a:ext cx="3566160" cy="640080"/>
          </a:xfrm>
          <a:prstGeom prst="rect">
            <a:avLst/>
          </a:prstGeom>
          <a:noFill/>
          <a:ln/>
        </p:spPr>
        <p:txBody>
          <a:bodyPr wrap="square" lIns="0" tIns="0" rIns="0" bIns="0" rtlCol="0" anchor="ctr"/>
          <a:lstStyle/>
          <a:p>
            <a:pPr algn="ctr" indent="0" marL="0">
              <a:buNone/>
            </a:pPr>
            <a:r>
              <a:rPr lang="en-US" sz="2700" b="1" dirty="0">
                <a:solidFill>
                  <a:srgbClr val="12253D"/>
                </a:solidFill>
                <a:latin typeface="Courier New" pitchFamily="34" charset="0"/>
                <a:ea typeface="Courier New" pitchFamily="34" charset="-122"/>
                <a:cs typeface="Courier New" pitchFamily="34" charset="-120"/>
              </a:rPr>
              <a:t>f(f(x)) = f(x)</a:t>
            </a:r>
            <a:endParaRPr lang="en-US" sz="2700" dirty="0"/>
          </a:p>
        </p:txBody>
      </p:sp>
      <p:sp>
        <p:nvSpPr>
          <p:cNvPr id="7" name="Text 5"/>
          <p:cNvSpPr txBox="1"/>
          <p:nvPr/>
        </p:nvSpPr>
        <p:spPr>
          <a:xfrm>
            <a:off x="640080" y="2148840"/>
            <a:ext cx="3383280" cy="1051560"/>
          </a:xfrm>
          <a:prstGeom prst="rect">
            <a:avLst/>
          </a:prstGeom>
          <a:noFill/>
          <a:ln/>
        </p:spPr>
        <p:txBody>
          <a:bodyPr wrap="square" lIns="0" tIns="0" rIns="0" bIns="0" rtlCol="0" anchor="t"/>
          <a:lstStyle/>
          <a:p>
            <a:pPr indent="0" marL="0">
              <a:buNone/>
            </a:pPr>
            <a:r>
              <a:rPr lang="en-US" sz="1300" dirty="0">
                <a:solidFill>
                  <a:srgbClr val="12253D"/>
                </a:solidFill>
                <a:latin typeface="Calibri" pitchFamily="34" charset="0"/>
                <a:ea typeface="Calibri" pitchFamily="34" charset="-122"/>
                <a:cs typeface="Calibri" pitchFamily="34" charset="-120"/>
              </a:rPr>
              <a:t>Una operación es idempotente si repetirla no cambia el estado más allá de la primera vez. Importa porque reintentar es repetir.</a:t>
            </a:r>
            <a:endParaRPr lang="en-US" sz="1300" dirty="0"/>
          </a:p>
        </p:txBody>
      </p:sp>
      <p:sp>
        <p:nvSpPr>
          <p:cNvPr id="8" name="Shape 6"/>
          <p:cNvSpPr/>
          <p:nvPr/>
        </p:nvSpPr>
        <p:spPr>
          <a:xfrm>
            <a:off x="457200" y="3429000"/>
            <a:ext cx="3749040" cy="1234440"/>
          </a:xfrm>
          <a:prstGeom prst="roundRect">
            <a:avLst>
              <a:gd name="adj" fmla="val 5926"/>
            </a:avLst>
          </a:prstGeom>
          <a:solidFill>
            <a:srgbClr val="FFFFFF"/>
          </a:solidFill>
          <a:ln w="12700">
            <a:solidFill>
              <a:srgbClr val="D9E2EE"/>
            </a:solidFill>
            <a:prstDash val="solid"/>
          </a:ln>
        </p:spPr>
      </p:sp>
      <p:pic>
        <p:nvPicPr>
          <p:cNvPr id="9" name="Image 0" descr="preencoded.png">    </p:cNvPr>
          <p:cNvPicPr>
            <a:picLocks noChangeAspect="1"/>
          </p:cNvPicPr>
          <p:nvPr/>
        </p:nvPicPr>
        <p:blipFill>
          <a:blip r:embed="rId1"/>
          <a:stretch>
            <a:fillRect/>
          </a:stretch>
        </p:blipFill>
        <p:spPr>
          <a:xfrm>
            <a:off x="621792" y="3566160"/>
            <a:ext cx="274320" cy="274320"/>
          </a:xfrm>
          <a:prstGeom prst="rect">
            <a:avLst/>
          </a:prstGeom>
        </p:spPr>
      </p:pic>
      <p:sp>
        <p:nvSpPr>
          <p:cNvPr id="10" name="Text 7"/>
          <p:cNvSpPr txBox="1"/>
          <p:nvPr/>
        </p:nvSpPr>
        <p:spPr>
          <a:xfrm>
            <a:off x="1005840" y="3538728"/>
            <a:ext cx="303580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Prueba rápida</a:t>
            </a:r>
            <a:endParaRPr lang="en-US" sz="1300" dirty="0"/>
          </a:p>
        </p:txBody>
      </p:sp>
      <p:sp>
        <p:nvSpPr>
          <p:cNvPr id="11" name="Text 8"/>
          <p:cNvSpPr txBox="1"/>
          <p:nvPr/>
        </p:nvSpPr>
        <p:spPr>
          <a:xfrm>
            <a:off x="621792" y="3904488"/>
            <a:ext cx="3419856" cy="649224"/>
          </a:xfrm>
          <a:prstGeom prst="rect">
            <a:avLst/>
          </a:prstGeom>
          <a:noFill/>
          <a:ln/>
        </p:spPr>
        <p:txBody>
          <a:bodyPr wrap="square" lIns="0" tIns="0" rIns="0" bIns="0" rtlCol="0" anchor="t"/>
          <a:lstStyle/>
          <a:p>
            <a:pPr indent="0" marL="0">
              <a:spcAft>
                <a:spcPts val="400"/>
              </a:spcAft>
              <a:buNone/>
            </a:pPr>
            <a:r>
              <a:rPr lang="en-US" sz="1250" dirty="0">
                <a:solidFill>
                  <a:srgbClr val="12253D"/>
                </a:solidFill>
                <a:latin typeface="Calibri" pitchFamily="34" charset="0"/>
                <a:ea typeface="Calibri" pitchFamily="34" charset="-122"/>
                <a:cs typeface="Calibri" pitchFamily="34" charset="-120"/>
              </a:rPr>
              <a:t>Ejecútala dos veces en tu cabeza. ¿El estado final es el mismo? Entonces se puede reintentar a ciegas.</a:t>
            </a:r>
            <a:endParaRPr lang="en-US" sz="1250" dirty="0"/>
          </a:p>
        </p:txBody>
      </p:sp>
      <p:sp>
        <p:nvSpPr>
          <p:cNvPr id="12" name="Shape 9"/>
          <p:cNvSpPr/>
          <p:nvPr/>
        </p:nvSpPr>
        <p:spPr>
          <a:xfrm>
            <a:off x="457200" y="4800600"/>
            <a:ext cx="3749040" cy="1371600"/>
          </a:xfrm>
          <a:prstGeom prst="roundRect">
            <a:avLst>
              <a:gd name="adj" fmla="val 5333"/>
            </a:avLst>
          </a:prstGeom>
          <a:solidFill>
            <a:srgbClr val="FFFFFF"/>
          </a:solidFill>
          <a:ln w="12700">
            <a:solidFill>
              <a:srgbClr val="D9E2EE"/>
            </a:solidFill>
            <a:prstDash val="solid"/>
          </a:ln>
        </p:spPr>
      </p:sp>
      <p:pic>
        <p:nvPicPr>
          <p:cNvPr id="13" name="Image 1" descr="preencoded.png">    </p:cNvPr>
          <p:cNvPicPr>
            <a:picLocks noChangeAspect="1"/>
          </p:cNvPicPr>
          <p:nvPr/>
        </p:nvPicPr>
        <p:blipFill>
          <a:blip r:embed="rId2"/>
          <a:stretch>
            <a:fillRect/>
          </a:stretch>
        </p:blipFill>
        <p:spPr>
          <a:xfrm>
            <a:off x="621792" y="4937760"/>
            <a:ext cx="274320" cy="274320"/>
          </a:xfrm>
          <a:prstGeom prst="rect">
            <a:avLst/>
          </a:prstGeom>
        </p:spPr>
      </p:pic>
      <p:sp>
        <p:nvSpPr>
          <p:cNvPr id="14" name="Text 10"/>
          <p:cNvSpPr txBox="1"/>
          <p:nvPr/>
        </p:nvSpPr>
        <p:spPr>
          <a:xfrm>
            <a:off x="1005840" y="4910328"/>
            <a:ext cx="303580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Dos confusiones</a:t>
            </a:r>
            <a:endParaRPr lang="en-US" sz="1300" dirty="0"/>
          </a:p>
        </p:txBody>
      </p:sp>
      <p:sp>
        <p:nvSpPr>
          <p:cNvPr id="15" name="Text 11"/>
          <p:cNvSpPr txBox="1"/>
          <p:nvPr/>
        </p:nvSpPr>
        <p:spPr>
          <a:xfrm>
            <a:off x="621792" y="5276088"/>
            <a:ext cx="3419856" cy="786384"/>
          </a:xfrm>
          <a:prstGeom prst="rect">
            <a:avLst/>
          </a:prstGeom>
          <a:noFill/>
          <a:ln/>
        </p:spPr>
        <p:txBody>
          <a:bodyPr wrap="square" lIns="0" tIns="0" rIns="0" bIns="0" rtlCol="0" anchor="t"/>
          <a:lstStyle/>
          <a:p>
            <a:pPr indent="0" marL="0">
              <a:spcAft>
                <a:spcPts val="400"/>
              </a:spcAft>
              <a:buNone/>
            </a:pPr>
            <a:r>
              <a:rPr lang="en-US" sz="1150" dirty="0">
                <a:solidFill>
                  <a:srgbClr val="12253D"/>
                </a:solidFill>
                <a:latin typeface="Calibri" pitchFamily="34" charset="0"/>
                <a:ea typeface="Calibri" pitchFamily="34" charset="-122"/>
                <a:cs typeface="Calibri" pitchFamily="34" charset="-120"/>
              </a:rPr>
              <a:t>No es "misma respuesta": DELETE da 204 y luego 404, mismo efecto.</a:t>
            </a:r>
            <a:endParaRPr lang="en-US" sz="1150" dirty="0"/>
          </a:p>
          <a:p>
            <a:pPr indent="0" marL="0">
              <a:spcAft>
                <a:spcPts val="400"/>
              </a:spcAft>
              <a:buNone/>
            </a:pPr>
            <a:r>
              <a:rPr lang="en-US" sz="1150" dirty="0">
                <a:solidFill>
                  <a:srgbClr val="12253D"/>
                </a:solidFill>
                <a:latin typeface="Calibri" pitchFamily="34" charset="0"/>
                <a:ea typeface="Calibri" pitchFamily="34" charset="-122"/>
                <a:cs typeface="Calibri" pitchFamily="34" charset="-120"/>
              </a:rPr>
              <a:t>No es "inofensivo": DELETE borra y es idempotente.</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34840" y="1325880"/>
          <a:ext cx="7269480" cy="914400"/>
        </p:xfrm>
        <a:graphic>
          <a:graphicData uri="http://schemas.openxmlformats.org/drawingml/2006/table">
            <a:tbl>
              <a:tblPr/>
              <a:tblGrid>
                <a:gridCol w="3611880"/>
                <a:gridCol w="3657600"/>
              </a:tblGrid>
              <a:tr h="566928">
                <a:tc>
                  <a:txBody>
                    <a:bodyPr/>
                    <a:lstStyle/>
                    <a:p>
                      <a:pPr indent="0" marL="0">
                        <a:buNone/>
                      </a:pPr>
                      <a:r>
                        <a:rPr lang="en-US" sz="1200" b="1" dirty="0">
                          <a:solidFill>
                            <a:srgbClr val="15803D"/>
                          </a:solidFill>
                          <a:latin typeface="Calibri" pitchFamily="34" charset="0"/>
                          <a:ea typeface="Calibri" pitchFamily="34" charset="-122"/>
                          <a:cs typeface="Calibri" pitchFamily="34" charset="-120"/>
                        </a:rPr>
                        <a:t>Idempotente: repetir no cambia más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0FDF4"/>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No idempotente: repetir acumula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EF2F2"/>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Botón del elevador: cinco veces, un elevador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Apagador tipo toggle: dos veces, vuelve a apagado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saldo = 500   (asignación absoluta)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saldo += 100   (incremento)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PUT /cuentas/42 {"saldo": 500}</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POST /cuentas/42/abonos {"monto": 100}</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DELETE /sesiones/k1   (204 y luego 404)</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Enviar el correo de bienvenida (dos correos)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Marcar el recibo 8112 como pagado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Crear un pedido (dos pedidos)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Registrar el pago con clave k-71 (si ya existe, no pasa nada)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Registrar el pago sin clave (cada llamada cobra)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17" name="Text 12"/>
          <p:cNvSpPr txBox="1"/>
          <p:nvPr/>
        </p:nvSpPr>
        <p:spPr>
          <a:xfrm>
            <a:off x="4434840" y="5532120"/>
            <a:ext cx="7269480" cy="64008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La última fila es el truco de toda la sesión: cualquier operación se vuelve idempotente si le pones un identificador y recuerdas cuáles ya viste.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Seguro no es lo mismo que idempotente (RFC 9110)</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13/32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3657600"/>
                <a:gridCol w="2286000"/>
                <a:gridCol w="2926080"/>
                <a:gridCol w="2377440"/>
              </a:tblGrid>
              <a:tr h="457200">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Método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Seguro: solo lectura</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Idempotente: repetir no cambia más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300" b="1" dirty="0">
                          <a:solidFill>
                            <a:srgbClr val="12253D"/>
                          </a:solidFill>
                          <a:latin typeface="Calibri" pitchFamily="34" charset="0"/>
                          <a:ea typeface="Calibri" pitchFamily="34" charset="-122"/>
                          <a:cs typeface="Calibri" pitchFamily="34" charset="-120"/>
                        </a:rPr>
                        <a:t>Reintento automático permitido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457200">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GET · HEAD · OPTIONS</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PUT  (reemplazo completo)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POST  (crear, cobrar)</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solo con Idempotency-Key</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2253D"/>
                          </a:solidFill>
                          <a:latin typeface="Calibri" pitchFamily="34" charset="0"/>
                          <a:ea typeface="Calibri" pitchFamily="34" charset="-122"/>
                          <a:cs typeface="Calibri" pitchFamily="34" charset="-120"/>
                        </a:rPr>
                        <a:t>QUERY  (consulta con cuerpo, RFC 10008, jun-2026)</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5803D"/>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343400"/>
            <a:ext cx="5486400" cy="1737360"/>
          </a:xfrm>
          <a:prstGeom prst="roundRect">
            <a:avLst>
              <a:gd name="adj" fmla="val 4211"/>
            </a:avLst>
          </a:prstGeom>
          <a:solidFill>
            <a:srgbClr val="FFFFFF"/>
          </a:solidFill>
          <a:ln w="12700">
            <a:solidFill>
              <a:srgbClr val="D9E2EE"/>
            </a:solidFill>
            <a:prstDash val="solid"/>
          </a:ln>
        </p:spPr>
      </p:sp>
      <p:pic>
        <p:nvPicPr>
          <p:cNvPr id="7" name="Image 0" descr="preencoded.png">    </p:cNvPr>
          <p:cNvPicPr>
            <a:picLocks noChangeAspect="1"/>
          </p:cNvPicPr>
          <p:nvPr/>
        </p:nvPicPr>
        <p:blipFill>
          <a:blip r:embed="rId1"/>
          <a:stretch>
            <a:fillRect/>
          </a:stretch>
        </p:blipFill>
        <p:spPr>
          <a:xfrm>
            <a:off x="621792" y="4480560"/>
            <a:ext cx="274320" cy="274320"/>
          </a:xfrm>
          <a:prstGeom prst="rect">
            <a:avLst/>
          </a:prstGeom>
        </p:spPr>
      </p:pic>
      <p:sp>
        <p:nvSpPr>
          <p:cNvPr id="8" name="Text 4"/>
          <p:cNvSpPr txBox="1"/>
          <p:nvPr/>
        </p:nvSpPr>
        <p:spPr>
          <a:xfrm>
            <a:off x="1005840" y="4453128"/>
            <a:ext cx="47731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La respuesta puede cambiar y seguir siendo idempotente</a:t>
            </a:r>
            <a:endParaRPr lang="en-US" sz="1300" dirty="0"/>
          </a:p>
        </p:txBody>
      </p:sp>
      <p:sp>
        <p:nvSpPr>
          <p:cNvPr id="9" name="Text 5"/>
          <p:cNvSpPr txBox="1"/>
          <p:nvPr/>
        </p:nvSpPr>
        <p:spPr>
          <a:xfrm>
            <a:off x="621792" y="4818888"/>
            <a:ext cx="5157216" cy="115214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DELETE /pedidos/8112 devuelve 204 la primera vez y 404 la segunda. El efecto en el servidor es el mismo: el pedido no existe. Idempotencia habla del efecto, no del código de estado.</a:t>
            </a:r>
            <a:endParaRPr lang="en-US" sz="1300" dirty="0"/>
          </a:p>
        </p:txBody>
      </p:sp>
      <p:sp>
        <p:nvSpPr>
          <p:cNvPr id="10" name="Shape 6"/>
          <p:cNvSpPr/>
          <p:nvPr/>
        </p:nvSpPr>
        <p:spPr>
          <a:xfrm>
            <a:off x="6217920" y="4343400"/>
            <a:ext cx="5486400" cy="1737360"/>
          </a:xfrm>
          <a:prstGeom prst="roundRect">
            <a:avLst>
              <a:gd name="adj" fmla="val 4211"/>
            </a:avLst>
          </a:prstGeom>
          <a:solidFill>
            <a:srgbClr val="FFFFFF"/>
          </a:solidFill>
          <a:ln w="12700">
            <a:solidFill>
              <a:srgbClr val="D9E2EE"/>
            </a:solidFill>
            <a:prstDash val="solid"/>
          </a:ln>
        </p:spPr>
      </p:sp>
      <p:pic>
        <p:nvPicPr>
          <p:cNvPr id="11" name="Image 1" descr="preencoded.png">    </p:cNvPr>
          <p:cNvPicPr>
            <a:picLocks noChangeAspect="1"/>
          </p:cNvPicPr>
          <p:nvPr/>
        </p:nvPicPr>
        <p:blipFill>
          <a:blip r:embed="rId2"/>
          <a:stretch>
            <a:fillRect/>
          </a:stretch>
        </p:blipFill>
        <p:spPr>
          <a:xfrm>
            <a:off x="6382512" y="4480560"/>
            <a:ext cx="274320" cy="274320"/>
          </a:xfrm>
          <a:prstGeom prst="rect">
            <a:avLst/>
          </a:prstGeom>
        </p:spPr>
      </p:pic>
      <p:sp>
        <p:nvSpPr>
          <p:cNvPr id="12" name="Text 7"/>
          <p:cNvSpPr txBox="1"/>
          <p:nvPr/>
        </p:nvSpPr>
        <p:spPr>
          <a:xfrm>
            <a:off x="6766560" y="4453128"/>
            <a:ext cx="47731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Lo que dice el RFC sobre reintentar</a:t>
            </a:r>
            <a:endParaRPr lang="en-US" sz="1300" dirty="0"/>
          </a:p>
        </p:txBody>
      </p:sp>
      <p:sp>
        <p:nvSpPr>
          <p:cNvPr id="13" name="Text 8"/>
          <p:cNvSpPr txBox="1"/>
          <p:nvPr/>
        </p:nvSpPr>
        <p:spPr>
          <a:xfrm>
            <a:off x="6382512" y="4818888"/>
            <a:ext cx="5157216" cy="115214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"A client SHOULD NOT automatically retry a request with a non-idempotent method unless it has some means of knowing that the request semantics are idempotent". Ese medio es la clave de idempotencia.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Vota: ¿cuáles se pueden reintentar a ciegas tras un timeout?</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14/32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vota en el chat</a:t>
            </a:r>
            <a:endParaRPr lang="en-US" sz="1100" dirty="0"/>
          </a:p>
        </p:txBody>
      </p:sp>
      <p:sp>
        <p:nvSpPr>
          <p:cNvPr id="8" name="Shape 5"/>
          <p:cNvSpPr/>
          <p:nvPr/>
        </p:nvSpPr>
        <p:spPr>
          <a:xfrm>
            <a:off x="457200" y="1463040"/>
            <a:ext cx="5440680" cy="1874520"/>
          </a:xfrm>
          <a:prstGeom prst="roundRect">
            <a:avLst>
              <a:gd name="adj" fmla="val 3902"/>
            </a:avLst>
          </a:prstGeom>
          <a:solidFill>
            <a:srgbClr val="FFFFFF"/>
          </a:solidFill>
          <a:ln w="12700">
            <a:solidFill>
              <a:srgbClr val="D9E2EE"/>
            </a:solidFill>
            <a:prstDash val="solid"/>
          </a:ln>
        </p:spPr>
      </p:sp>
      <p:sp>
        <p:nvSpPr>
          <p:cNvPr id="9" name="Text 6"/>
          <p:cNvSpPr txBox="1"/>
          <p:nvPr/>
        </p:nvSpPr>
        <p:spPr>
          <a:xfrm>
            <a:off x="685800" y="1828800"/>
            <a:ext cx="1188720" cy="1188720"/>
          </a:xfrm>
          <a:prstGeom prst="rect">
            <a:avLst/>
          </a:prstGeom>
          <a:noFill/>
          <a:ln/>
        </p:spPr>
        <p:txBody>
          <a:bodyPr wrap="square" lIns="0" tIns="0" rIns="0" bIns="0" rtlCol="0" anchor="ctr"/>
          <a:lstStyle/>
          <a:p>
            <a:pPr algn="ctr" indent="0" marL="0">
              <a:buNone/>
            </a:pPr>
            <a:r>
              <a:rPr lang="en-US" sz="6000" b="1" dirty="0">
                <a:solidFill>
                  <a:srgbClr val="2563EB"/>
                </a:solidFill>
                <a:latin typeface="Calibri" pitchFamily="34" charset="0"/>
                <a:ea typeface="Calibri" pitchFamily="34" charset="-122"/>
                <a:cs typeface="Calibri" pitchFamily="34" charset="-120"/>
              </a:rPr>
              <a:t>A</a:t>
            </a:r>
            <a:endParaRPr lang="en-US" sz="6000" dirty="0"/>
          </a:p>
        </p:txBody>
      </p:sp>
      <p:sp>
        <p:nvSpPr>
          <p:cNvPr id="10" name="Text 7"/>
          <p:cNvSpPr txBox="1"/>
          <p:nvPr/>
        </p:nvSpPr>
        <p:spPr>
          <a:xfrm>
            <a:off x="2011680" y="1920240"/>
            <a:ext cx="3749040" cy="457200"/>
          </a:xfrm>
          <a:prstGeom prst="rect">
            <a:avLst/>
          </a:prstGeom>
          <a:noFill/>
          <a:ln/>
        </p:spPr>
        <p:txBody>
          <a:bodyPr wrap="square" lIns="0" tIns="0" rIns="0" bIns="0" rtlCol="0" anchor="ctr"/>
          <a:lstStyle/>
          <a:p>
            <a:pPr indent="0" marL="0">
              <a:buNone/>
            </a:pPr>
            <a:r>
              <a:rPr lang="en-US" sz="1800" b="1" dirty="0">
                <a:solidFill>
                  <a:srgbClr val="12253D"/>
                </a:solidFill>
                <a:latin typeface="Courier New" pitchFamily="34" charset="0"/>
                <a:ea typeface="Courier New" pitchFamily="34" charset="-122"/>
                <a:cs typeface="Courier New" pitchFamily="34" charset="-120"/>
              </a:rPr>
              <a:t>PUT /cuentas/42</a:t>
            </a:r>
            <a:endParaRPr lang="en-US" sz="1800" dirty="0"/>
          </a:p>
        </p:txBody>
      </p:sp>
      <p:sp>
        <p:nvSpPr>
          <p:cNvPr id="11" name="Text 8"/>
          <p:cNvSpPr txBox="1"/>
          <p:nvPr/>
        </p:nvSpPr>
        <p:spPr>
          <a:xfrm>
            <a:off x="2011680" y="2423160"/>
            <a:ext cx="3749040" cy="457200"/>
          </a:xfrm>
          <a:prstGeom prst="rect">
            <a:avLst/>
          </a:prstGeom>
          <a:noFill/>
          <a:ln/>
        </p:spPr>
        <p:txBody>
          <a:bodyPr wrap="square" lIns="0" tIns="0" rIns="0" bIns="0" rtlCol="0" anchor="ctr"/>
          <a:lstStyle/>
          <a:p>
            <a:pPr indent="0" marL="0">
              <a:buNone/>
            </a:pPr>
            <a:r>
              <a:rPr lang="en-US" sz="1500" dirty="0">
                <a:solidFill>
                  <a:srgbClr val="4B6178"/>
                </a:solidFill>
                <a:latin typeface="Courier New" pitchFamily="34" charset="0"/>
                <a:ea typeface="Courier New" pitchFamily="34" charset="-122"/>
                <a:cs typeface="Courier New" pitchFamily="34" charset="-120"/>
              </a:rPr>
              <a:t>{ "saldo": 500 }</a:t>
            </a:r>
            <a:endParaRPr lang="en-US" sz="1500" dirty="0"/>
          </a:p>
        </p:txBody>
      </p:sp>
      <p:sp>
        <p:nvSpPr>
          <p:cNvPr id="12" name="Shape 9"/>
          <p:cNvSpPr/>
          <p:nvPr/>
        </p:nvSpPr>
        <p:spPr>
          <a:xfrm>
            <a:off x="6172200" y="1463040"/>
            <a:ext cx="5440680" cy="1874520"/>
          </a:xfrm>
          <a:prstGeom prst="roundRect">
            <a:avLst>
              <a:gd name="adj" fmla="val 3902"/>
            </a:avLst>
          </a:prstGeom>
          <a:solidFill>
            <a:srgbClr val="FFFFFF"/>
          </a:solidFill>
          <a:ln w="12700">
            <a:solidFill>
              <a:srgbClr val="D9E2EE"/>
            </a:solidFill>
            <a:prstDash val="solid"/>
          </a:ln>
        </p:spPr>
      </p:sp>
      <p:sp>
        <p:nvSpPr>
          <p:cNvPr id="13" name="Text 10"/>
          <p:cNvSpPr txBox="1"/>
          <p:nvPr/>
        </p:nvSpPr>
        <p:spPr>
          <a:xfrm>
            <a:off x="6400800" y="1828800"/>
            <a:ext cx="1188720" cy="1188720"/>
          </a:xfrm>
          <a:prstGeom prst="rect">
            <a:avLst/>
          </a:prstGeom>
          <a:noFill/>
          <a:ln/>
        </p:spPr>
        <p:txBody>
          <a:bodyPr wrap="square" lIns="0" tIns="0" rIns="0" bIns="0" rtlCol="0" anchor="ctr"/>
          <a:lstStyle/>
          <a:p>
            <a:pPr algn="ctr" indent="0" marL="0">
              <a:buNone/>
            </a:pPr>
            <a:r>
              <a:rPr lang="en-US" sz="6000" b="1" dirty="0">
                <a:solidFill>
                  <a:srgbClr val="2563EB"/>
                </a:solidFill>
                <a:latin typeface="Calibri" pitchFamily="34" charset="0"/>
                <a:ea typeface="Calibri" pitchFamily="34" charset="-122"/>
                <a:cs typeface="Calibri" pitchFamily="34" charset="-120"/>
              </a:rPr>
              <a:t>B</a:t>
            </a:r>
            <a:endParaRPr lang="en-US" sz="6000" dirty="0"/>
          </a:p>
        </p:txBody>
      </p:sp>
      <p:sp>
        <p:nvSpPr>
          <p:cNvPr id="14" name="Text 11"/>
          <p:cNvSpPr txBox="1"/>
          <p:nvPr/>
        </p:nvSpPr>
        <p:spPr>
          <a:xfrm>
            <a:off x="7726680" y="1920240"/>
            <a:ext cx="3749040" cy="457200"/>
          </a:xfrm>
          <a:prstGeom prst="rect">
            <a:avLst/>
          </a:prstGeom>
          <a:noFill/>
          <a:ln/>
        </p:spPr>
        <p:txBody>
          <a:bodyPr wrap="square" lIns="0" tIns="0" rIns="0" bIns="0" rtlCol="0" anchor="ctr"/>
          <a:lstStyle/>
          <a:p>
            <a:pPr indent="0" marL="0">
              <a:buNone/>
            </a:pPr>
            <a:r>
              <a:rPr lang="en-US" sz="1800" b="1" dirty="0">
                <a:solidFill>
                  <a:srgbClr val="12253D"/>
                </a:solidFill>
                <a:latin typeface="Courier New" pitchFamily="34" charset="0"/>
                <a:ea typeface="Courier New" pitchFamily="34" charset="-122"/>
                <a:cs typeface="Courier New" pitchFamily="34" charset="-120"/>
              </a:rPr>
              <a:t>POST /cuentas/42/abonos</a:t>
            </a:r>
            <a:endParaRPr lang="en-US" sz="1800" dirty="0"/>
          </a:p>
        </p:txBody>
      </p:sp>
      <p:sp>
        <p:nvSpPr>
          <p:cNvPr id="15" name="Text 12"/>
          <p:cNvSpPr txBox="1"/>
          <p:nvPr/>
        </p:nvSpPr>
        <p:spPr>
          <a:xfrm>
            <a:off x="7726680" y="2423160"/>
            <a:ext cx="3749040" cy="457200"/>
          </a:xfrm>
          <a:prstGeom prst="rect">
            <a:avLst/>
          </a:prstGeom>
          <a:noFill/>
          <a:ln/>
        </p:spPr>
        <p:txBody>
          <a:bodyPr wrap="square" lIns="0" tIns="0" rIns="0" bIns="0" rtlCol="0" anchor="ctr"/>
          <a:lstStyle/>
          <a:p>
            <a:pPr indent="0" marL="0">
              <a:buNone/>
            </a:pPr>
            <a:r>
              <a:rPr lang="en-US" sz="1500" dirty="0">
                <a:solidFill>
                  <a:srgbClr val="4B6178"/>
                </a:solidFill>
                <a:latin typeface="Courier New" pitchFamily="34" charset="0"/>
                <a:ea typeface="Courier New" pitchFamily="34" charset="-122"/>
                <a:cs typeface="Courier New" pitchFamily="34" charset="-120"/>
              </a:rPr>
              <a:t>{ "monto": 100 }</a:t>
            </a:r>
            <a:endParaRPr lang="en-US" sz="1500" dirty="0"/>
          </a:p>
        </p:txBody>
      </p:sp>
      <p:sp>
        <p:nvSpPr>
          <p:cNvPr id="16" name="Shape 13"/>
          <p:cNvSpPr/>
          <p:nvPr/>
        </p:nvSpPr>
        <p:spPr>
          <a:xfrm>
            <a:off x="457200" y="3611880"/>
            <a:ext cx="5440680" cy="1874520"/>
          </a:xfrm>
          <a:prstGeom prst="roundRect">
            <a:avLst>
              <a:gd name="adj" fmla="val 3902"/>
            </a:avLst>
          </a:prstGeom>
          <a:solidFill>
            <a:srgbClr val="FFFFFF"/>
          </a:solidFill>
          <a:ln w="12700">
            <a:solidFill>
              <a:srgbClr val="D9E2EE"/>
            </a:solidFill>
            <a:prstDash val="solid"/>
          </a:ln>
        </p:spPr>
      </p:sp>
      <p:sp>
        <p:nvSpPr>
          <p:cNvPr id="17" name="Text 14"/>
          <p:cNvSpPr txBox="1"/>
          <p:nvPr/>
        </p:nvSpPr>
        <p:spPr>
          <a:xfrm>
            <a:off x="685800" y="3977640"/>
            <a:ext cx="1188720" cy="1188720"/>
          </a:xfrm>
          <a:prstGeom prst="rect">
            <a:avLst/>
          </a:prstGeom>
          <a:noFill/>
          <a:ln/>
        </p:spPr>
        <p:txBody>
          <a:bodyPr wrap="square" lIns="0" tIns="0" rIns="0" bIns="0" rtlCol="0" anchor="ctr"/>
          <a:lstStyle/>
          <a:p>
            <a:pPr algn="ctr" indent="0" marL="0">
              <a:buNone/>
            </a:pPr>
            <a:r>
              <a:rPr lang="en-US" sz="6000" b="1" dirty="0">
                <a:solidFill>
                  <a:srgbClr val="2563EB"/>
                </a:solidFill>
                <a:latin typeface="Calibri" pitchFamily="34" charset="0"/>
                <a:ea typeface="Calibri" pitchFamily="34" charset="-122"/>
                <a:cs typeface="Calibri" pitchFamily="34" charset="-120"/>
              </a:rPr>
              <a:t>C</a:t>
            </a:r>
            <a:endParaRPr lang="en-US" sz="6000" dirty="0"/>
          </a:p>
        </p:txBody>
      </p:sp>
      <p:sp>
        <p:nvSpPr>
          <p:cNvPr id="18" name="Text 15"/>
          <p:cNvSpPr txBox="1"/>
          <p:nvPr/>
        </p:nvSpPr>
        <p:spPr>
          <a:xfrm>
            <a:off x="2011680" y="4325112"/>
            <a:ext cx="3749040" cy="457200"/>
          </a:xfrm>
          <a:prstGeom prst="rect">
            <a:avLst/>
          </a:prstGeom>
          <a:noFill/>
          <a:ln/>
        </p:spPr>
        <p:txBody>
          <a:bodyPr wrap="square" lIns="0" tIns="0" rIns="0" bIns="0" rtlCol="0" anchor="ctr"/>
          <a:lstStyle/>
          <a:p>
            <a:pPr indent="0" marL="0">
              <a:buNone/>
            </a:pPr>
            <a:r>
              <a:rPr lang="en-US" sz="1800" b="1" dirty="0">
                <a:solidFill>
                  <a:srgbClr val="12253D"/>
                </a:solidFill>
                <a:latin typeface="Courier New" pitchFamily="34" charset="0"/>
                <a:ea typeface="Courier New" pitchFamily="34" charset="-122"/>
                <a:cs typeface="Courier New" pitchFamily="34" charset="-120"/>
              </a:rPr>
              <a:t>DELETE /sesiones/k1</a:t>
            </a:r>
            <a:endParaRPr lang="en-US" sz="1800" dirty="0"/>
          </a:p>
        </p:txBody>
      </p:sp>
      <p:sp>
        <p:nvSpPr>
          <p:cNvPr id="19" name="Shape 16"/>
          <p:cNvSpPr/>
          <p:nvPr/>
        </p:nvSpPr>
        <p:spPr>
          <a:xfrm>
            <a:off x="6172200" y="3611880"/>
            <a:ext cx="5440680" cy="1874520"/>
          </a:xfrm>
          <a:prstGeom prst="roundRect">
            <a:avLst>
              <a:gd name="adj" fmla="val 3902"/>
            </a:avLst>
          </a:prstGeom>
          <a:solidFill>
            <a:srgbClr val="FFFFFF"/>
          </a:solidFill>
          <a:ln w="12700">
            <a:solidFill>
              <a:srgbClr val="D9E2EE"/>
            </a:solidFill>
            <a:prstDash val="solid"/>
          </a:ln>
        </p:spPr>
      </p:sp>
      <p:sp>
        <p:nvSpPr>
          <p:cNvPr id="20" name="Text 17"/>
          <p:cNvSpPr txBox="1"/>
          <p:nvPr/>
        </p:nvSpPr>
        <p:spPr>
          <a:xfrm>
            <a:off x="6400800" y="3977640"/>
            <a:ext cx="1188720" cy="1188720"/>
          </a:xfrm>
          <a:prstGeom prst="rect">
            <a:avLst/>
          </a:prstGeom>
          <a:noFill/>
          <a:ln/>
        </p:spPr>
        <p:txBody>
          <a:bodyPr wrap="square" lIns="0" tIns="0" rIns="0" bIns="0" rtlCol="0" anchor="ctr"/>
          <a:lstStyle/>
          <a:p>
            <a:pPr algn="ctr" indent="0" marL="0">
              <a:buNone/>
            </a:pPr>
            <a:r>
              <a:rPr lang="en-US" sz="6000" b="1" dirty="0">
                <a:solidFill>
                  <a:srgbClr val="2563EB"/>
                </a:solidFill>
                <a:latin typeface="Calibri" pitchFamily="34" charset="0"/>
                <a:ea typeface="Calibri" pitchFamily="34" charset="-122"/>
                <a:cs typeface="Calibri" pitchFamily="34" charset="-120"/>
              </a:rPr>
              <a:t>D</a:t>
            </a:r>
            <a:endParaRPr lang="en-US" sz="6000" dirty="0"/>
          </a:p>
        </p:txBody>
      </p:sp>
      <p:sp>
        <p:nvSpPr>
          <p:cNvPr id="21" name="Text 18"/>
          <p:cNvSpPr txBox="1"/>
          <p:nvPr/>
        </p:nvSpPr>
        <p:spPr>
          <a:xfrm>
            <a:off x="7726680" y="4325112"/>
            <a:ext cx="3749040" cy="457200"/>
          </a:xfrm>
          <a:prstGeom prst="rect">
            <a:avLst/>
          </a:prstGeom>
          <a:noFill/>
          <a:ln/>
        </p:spPr>
        <p:txBody>
          <a:bodyPr wrap="square" lIns="0" tIns="0" rIns="0" bIns="0" rtlCol="0" anchor="ctr"/>
          <a:lstStyle/>
          <a:p>
            <a:pPr indent="0" marL="0">
              <a:buNone/>
            </a:pPr>
            <a:r>
              <a:rPr lang="en-US" sz="1800" b="1" dirty="0">
                <a:solidFill>
                  <a:srgbClr val="12253D"/>
                </a:solidFill>
                <a:latin typeface="Courier New" pitchFamily="34" charset="0"/>
                <a:ea typeface="Courier New" pitchFamily="34" charset="-122"/>
                <a:cs typeface="Courier New" pitchFamily="34" charset="-120"/>
              </a:rPr>
              <a:t>GET /cuentas/42</a:t>
            </a:r>
            <a:endParaRPr lang="en-US" sz="1800" dirty="0"/>
          </a:p>
        </p:txBody>
      </p:sp>
      <p:sp>
        <p:nvSpPr>
          <p:cNvPr id="22" name="Text 19"/>
          <p:cNvSpPr txBox="1"/>
          <p:nvPr/>
        </p:nvSpPr>
        <p:spPr>
          <a:xfrm>
            <a:off x="457200" y="585216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Escriban las letras. Pista: pregúntense qué queda en la base de datos si la operación se ejecuta dos veces.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Idempotency-Key: una intención, una sola ejecución</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15/32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832104" y="1335024"/>
            <a:ext cx="621792" cy="62179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960120" y="1463040"/>
            <a:ext cx="365760" cy="365760"/>
          </a:xfrm>
          <a:prstGeom prst="rect">
            <a:avLst/>
          </a:prstGeom>
        </p:spPr>
      </p:pic>
      <p:sp>
        <p:nvSpPr>
          <p:cNvPr id="7" name="Text 4"/>
          <p:cNvSpPr txBox="1"/>
          <p:nvPr/>
        </p:nvSpPr>
        <p:spPr>
          <a:xfrm>
            <a:off x="457200" y="2057400"/>
            <a:ext cx="1371600" cy="27432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a:t>
            </a:r>
            <a:endParaRPr lang="en-US" sz="1100" dirty="0"/>
          </a:p>
        </p:txBody>
      </p:sp>
      <p:sp>
        <p:nvSpPr>
          <p:cNvPr id="8" name="Shape 5"/>
          <p:cNvSpPr/>
          <p:nvPr/>
        </p:nvSpPr>
        <p:spPr>
          <a:xfrm>
            <a:off x="3291840" y="1783080"/>
            <a:ext cx="914400" cy="3749040"/>
          </a:xfrm>
          <a:prstGeom prst="roundRect">
            <a:avLst/>
          </a:prstGeom>
          <a:solidFill>
            <a:srgbClr val="F5F8FC">
              <a:alpha val="0"/>
            </a:srgbClr>
          </a:solidFill>
          <a:ln w="12700">
            <a:solidFill>
              <a:srgbClr val="4B6178"/>
            </a:solidFill>
            <a:prstDash val="dash"/>
          </a:ln>
        </p:spPr>
      </p:sp>
      <p:sp>
        <p:nvSpPr>
          <p:cNvPr id="9" name="Text 6"/>
          <p:cNvSpPr txBox="1"/>
          <p:nvPr/>
        </p:nvSpPr>
        <p:spPr>
          <a:xfrm>
            <a:off x="3291840" y="1490472"/>
            <a:ext cx="914400" cy="274320"/>
          </a:xfrm>
          <a:prstGeom prst="rect">
            <a:avLst/>
          </a:prstGeom>
          <a:noFill/>
          <a:ln/>
        </p:spPr>
        <p:txBody>
          <a:bodyPr wrap="square" lIns="0" tIns="0" rIns="0" bIns="0" rtlCol="0" anchor="ctr"/>
          <a:lstStyle/>
          <a:p>
            <a:pPr algn="ctr" indent="0" marL="0">
              <a:buNone/>
            </a:pPr>
            <a:r>
              <a:rPr lang="en-US" sz="1100" i="1" dirty="0">
                <a:solidFill>
                  <a:srgbClr val="4B6178"/>
                </a:solidFill>
                <a:latin typeface="Calibri" pitchFamily="34" charset="0"/>
                <a:ea typeface="Calibri" pitchFamily="34" charset="-122"/>
                <a:cs typeface="Calibri" pitchFamily="34" charset="-120"/>
              </a:rPr>
              <a:t>red</a:t>
            </a:r>
            <a:endParaRPr lang="en-US" sz="1100" dirty="0"/>
          </a:p>
        </p:txBody>
      </p:sp>
      <p:sp>
        <p:nvSpPr>
          <p:cNvPr id="10" name="Shape 7"/>
          <p:cNvSpPr/>
          <p:nvPr/>
        </p:nvSpPr>
        <p:spPr>
          <a:xfrm>
            <a:off x="5760720" y="1417320"/>
            <a:ext cx="1828800" cy="548640"/>
          </a:xfrm>
          <a:prstGeom prst="roundRect">
            <a:avLst>
              <a:gd name="adj" fmla="val 13333"/>
            </a:avLst>
          </a:prstGeom>
          <a:solidFill>
            <a:srgbClr val="FFFFFF"/>
          </a:solidFill>
          <a:ln w="15875">
            <a:solidFill>
              <a:srgbClr val="12253D"/>
            </a:solidFill>
            <a:prstDash val="solid"/>
          </a:ln>
        </p:spPr>
      </p:sp>
      <p:sp>
        <p:nvSpPr>
          <p:cNvPr id="11" name="Text 8"/>
          <p:cNvSpPr txBox="1"/>
          <p:nvPr/>
        </p:nvSpPr>
        <p:spPr>
          <a:xfrm>
            <a:off x="5852160" y="1417320"/>
            <a:ext cx="1645920" cy="548640"/>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pagos</a:t>
            </a:r>
            <a:endParaRPr lang="en-US" sz="1300" dirty="0"/>
          </a:p>
        </p:txBody>
      </p:sp>
      <p:sp>
        <p:nvSpPr>
          <p:cNvPr id="12" name="Shape 9"/>
          <p:cNvSpPr/>
          <p:nvPr/>
        </p:nvSpPr>
        <p:spPr>
          <a:xfrm>
            <a:off x="8778240" y="1417320"/>
            <a:ext cx="2194560" cy="548640"/>
          </a:xfrm>
          <a:prstGeom prst="roundRect">
            <a:avLst>
              <a:gd name="adj" fmla="val 13333"/>
            </a:avLst>
          </a:prstGeom>
          <a:solidFill>
            <a:srgbClr val="12253D"/>
          </a:solidFill>
          <a:ln w="12700">
            <a:solidFill>
              <a:srgbClr val="12253D"/>
            </a:solidFill>
            <a:prstDash val="solid"/>
          </a:ln>
        </p:spPr>
      </p:sp>
      <p:pic>
        <p:nvPicPr>
          <p:cNvPr id="13" name="Image 1" descr="preencoded.png">    </p:cNvPr>
          <p:cNvPicPr>
            <a:picLocks noChangeAspect="1"/>
          </p:cNvPicPr>
          <p:nvPr/>
        </p:nvPicPr>
        <p:blipFill>
          <a:blip r:embed="rId2"/>
          <a:stretch>
            <a:fillRect/>
          </a:stretch>
        </p:blipFill>
        <p:spPr>
          <a:xfrm>
            <a:off x="8906256" y="1554480"/>
            <a:ext cx="274320" cy="274320"/>
          </a:xfrm>
          <a:prstGeom prst="rect">
            <a:avLst/>
          </a:prstGeom>
        </p:spPr>
      </p:pic>
      <p:sp>
        <p:nvSpPr>
          <p:cNvPr id="14" name="Text 10"/>
          <p:cNvSpPr txBox="1"/>
          <p:nvPr/>
        </p:nvSpPr>
        <p:spPr>
          <a:xfrm>
            <a:off x="9253728" y="1417320"/>
            <a:ext cx="1627632" cy="54864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claves vistas</a:t>
            </a:r>
            <a:endParaRPr lang="en-US" sz="1200" dirty="0"/>
          </a:p>
        </p:txBody>
      </p:sp>
      <p:sp>
        <p:nvSpPr>
          <p:cNvPr id="15" name="Shape 11"/>
          <p:cNvSpPr/>
          <p:nvPr/>
        </p:nvSpPr>
        <p:spPr>
          <a:xfrm>
            <a:off x="457200" y="2240280"/>
            <a:ext cx="2743200" cy="457200"/>
          </a:xfrm>
          <a:prstGeom prst="roundRect">
            <a:avLst>
              <a:gd name="adj" fmla="val 34000"/>
            </a:avLst>
          </a:prstGeom>
          <a:solidFill>
            <a:srgbClr val="FFFFFF"/>
          </a:solidFill>
          <a:ln w="12700">
            <a:solidFill>
              <a:srgbClr val="FFFFFF"/>
            </a:solidFill>
            <a:prstDash val="solid"/>
          </a:ln>
        </p:spPr>
      </p:sp>
      <p:sp>
        <p:nvSpPr>
          <p:cNvPr id="16" name="Text 12"/>
          <p:cNvSpPr txBox="1"/>
          <p:nvPr/>
        </p:nvSpPr>
        <p:spPr>
          <a:xfrm>
            <a:off x="457200" y="2240280"/>
            <a:ext cx="2743200" cy="457200"/>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1 · genera k-71: una clave por intención, no por intento</a:t>
            </a:r>
            <a:endParaRPr lang="en-US" sz="1000" dirty="0"/>
          </a:p>
        </p:txBody>
      </p:sp>
      <p:sp>
        <p:nvSpPr>
          <p:cNvPr id="17" name="Shape 13"/>
          <p:cNvSpPr/>
          <p:nvPr/>
        </p:nvSpPr>
        <p:spPr>
          <a:xfrm>
            <a:off x="1143000" y="3063240"/>
            <a:ext cx="4617720" cy="0"/>
          </a:xfrm>
          <a:prstGeom prst="line">
            <a:avLst/>
          </a:prstGeom>
          <a:noFill/>
          <a:ln w="22225">
            <a:solidFill>
              <a:srgbClr val="12253D"/>
            </a:solidFill>
            <a:prstDash val="solid"/>
            <a:tailEnd type="triangle"/>
          </a:ln>
        </p:spPr>
      </p:sp>
      <p:sp>
        <p:nvSpPr>
          <p:cNvPr id="18" name="Text 14"/>
          <p:cNvSpPr txBox="1"/>
          <p:nvPr/>
        </p:nvSpPr>
        <p:spPr>
          <a:xfrm>
            <a:off x="1805940" y="2761488"/>
            <a:ext cx="3291840" cy="274320"/>
          </a:xfrm>
          <a:prstGeom prst="rect">
            <a:avLst/>
          </a:prstGeom>
          <a:solidFill>
            <a:srgbClr val="F5F8FC"/>
          </a:solidFill>
          <a:ln/>
        </p:spPr>
        <p:txBody>
          <a:bodyPr wrap="square" lIns="0" tIns="0" rIns="0" bIns="0" rtlCol="0" anchor="ctr"/>
          <a:lstStyle/>
          <a:p>
            <a:pPr algn="ctr" indent="0" marL="0">
              <a:buNone/>
            </a:pPr>
            <a:r>
              <a:rPr lang="en-US" sz="1100" dirty="0">
                <a:solidFill>
                  <a:srgbClr val="12253D"/>
                </a:solidFill>
                <a:latin typeface="Courier New" pitchFamily="34" charset="0"/>
                <a:ea typeface="Courier New" pitchFamily="34" charset="-122"/>
                <a:cs typeface="Courier New" pitchFamily="34" charset="-120"/>
              </a:rPr>
              <a:t>POST /pagos   Idempotency-Key: k-71</a:t>
            </a:r>
            <a:endParaRPr lang="en-US" sz="1100" dirty="0"/>
          </a:p>
        </p:txBody>
      </p:sp>
      <p:sp>
        <p:nvSpPr>
          <p:cNvPr id="19" name="Shape 15"/>
          <p:cNvSpPr/>
          <p:nvPr/>
        </p:nvSpPr>
        <p:spPr>
          <a:xfrm>
            <a:off x="7589520" y="3063240"/>
            <a:ext cx="1188720" cy="0"/>
          </a:xfrm>
          <a:prstGeom prst="line">
            <a:avLst/>
          </a:prstGeom>
          <a:noFill/>
          <a:ln w="22225">
            <a:solidFill>
              <a:srgbClr val="4B6178"/>
            </a:solidFill>
            <a:prstDash val="solid"/>
            <a:tailEnd type="triangle"/>
          </a:ln>
        </p:spPr>
      </p:sp>
      <p:sp>
        <p:nvSpPr>
          <p:cNvPr id="20" name="Text 16"/>
          <p:cNvSpPr txBox="1"/>
          <p:nvPr/>
        </p:nvSpPr>
        <p:spPr>
          <a:xfrm>
            <a:off x="7589520" y="2761488"/>
            <a:ext cx="1188720" cy="274320"/>
          </a:xfrm>
          <a:prstGeom prst="rect">
            <a:avLst/>
          </a:prstGeom>
          <a:noFill/>
          <a:ln/>
        </p:spPr>
        <p:txBody>
          <a:bodyPr wrap="square" lIns="0" tIns="0" rIns="0" bIns="0" rtlCol="0" anchor="ctr"/>
          <a:lstStyle/>
          <a:p>
            <a:pPr algn="ctr" indent="0" marL="0">
              <a:buNone/>
            </a:pPr>
            <a:r>
              <a:rPr lang="en-US" sz="1000" dirty="0">
                <a:solidFill>
                  <a:srgbClr val="4B6178"/>
                </a:solidFill>
                <a:latin typeface="Calibri" pitchFamily="34" charset="0"/>
                <a:ea typeface="Calibri" pitchFamily="34" charset="-122"/>
                <a:cs typeface="Calibri" pitchFamily="34" charset="-120"/>
              </a:rPr>
              <a:t>guarda k-71 → 201</a:t>
            </a:r>
            <a:endParaRPr lang="en-US" sz="1000" dirty="0"/>
          </a:p>
        </p:txBody>
      </p:sp>
      <p:sp>
        <p:nvSpPr>
          <p:cNvPr id="21" name="Shape 17"/>
          <p:cNvSpPr/>
          <p:nvPr/>
        </p:nvSpPr>
        <p:spPr>
          <a:xfrm flipH="1">
            <a:off x="1143000" y="3749040"/>
            <a:ext cx="4617720" cy="0"/>
          </a:xfrm>
          <a:prstGeom prst="line">
            <a:avLst/>
          </a:prstGeom>
          <a:noFill/>
          <a:ln w="22225">
            <a:solidFill>
              <a:srgbClr val="15803D"/>
            </a:solidFill>
            <a:prstDash val="solid"/>
            <a:tailEnd type="triangle"/>
          </a:ln>
        </p:spPr>
      </p:sp>
      <p:sp>
        <p:nvSpPr>
          <p:cNvPr id="22" name="Text 18"/>
          <p:cNvSpPr txBox="1"/>
          <p:nvPr/>
        </p:nvSpPr>
        <p:spPr>
          <a:xfrm>
            <a:off x="1280160" y="3447288"/>
            <a:ext cx="1371600" cy="274320"/>
          </a:xfrm>
          <a:prstGeom prst="rect">
            <a:avLst/>
          </a:prstGeom>
          <a:solidFill>
            <a:srgbClr val="F5F8FC"/>
          </a:solidFill>
          <a:ln/>
        </p:spPr>
        <p:txBody>
          <a:bodyPr wrap="square" lIns="0" tIns="0" rIns="0" bIns="0" rtlCol="0" anchor="ctr"/>
          <a:lstStyle/>
          <a:p>
            <a:pPr algn="ctr" indent="0" marL="0">
              <a:buNone/>
            </a:pPr>
            <a:r>
              <a:rPr lang="en-US" sz="1100" dirty="0">
                <a:solidFill>
                  <a:srgbClr val="15803D"/>
                </a:solidFill>
                <a:latin typeface="Calibri" pitchFamily="34" charset="0"/>
                <a:ea typeface="Calibri" pitchFamily="34" charset="-122"/>
                <a:cs typeface="Calibri" pitchFamily="34" charset="-120"/>
              </a:rPr>
              <a:t>201 Created</a:t>
            </a:r>
            <a:endParaRPr lang="en-US" sz="1100" dirty="0"/>
          </a:p>
        </p:txBody>
      </p:sp>
      <p:pic>
        <p:nvPicPr>
          <p:cNvPr id="23" name="Image 2" descr="preencoded.png">    </p:cNvPr>
          <p:cNvPicPr>
            <a:picLocks noChangeAspect="1"/>
          </p:cNvPicPr>
          <p:nvPr/>
        </p:nvPicPr>
        <p:blipFill>
          <a:blip r:embed="rId3"/>
          <a:stretch>
            <a:fillRect/>
          </a:stretch>
        </p:blipFill>
        <p:spPr>
          <a:xfrm>
            <a:off x="3602736" y="3602736"/>
            <a:ext cx="292608" cy="292608"/>
          </a:xfrm>
          <a:prstGeom prst="rect">
            <a:avLst/>
          </a:prstGeom>
        </p:spPr>
      </p:pic>
      <p:sp>
        <p:nvSpPr>
          <p:cNvPr id="24" name="Text 19"/>
          <p:cNvSpPr txBox="1"/>
          <p:nvPr/>
        </p:nvSpPr>
        <p:spPr>
          <a:xfrm>
            <a:off x="4297680" y="3447288"/>
            <a:ext cx="2377440" cy="274320"/>
          </a:xfrm>
          <a:prstGeom prst="rect">
            <a:avLst/>
          </a:prstGeom>
          <a:noFill/>
          <a:ln/>
        </p:spPr>
        <p:txBody>
          <a:bodyPr wrap="square" lIns="0" tIns="0" rIns="0" bIns="0" rtlCol="0" anchor="t"/>
          <a:lstStyle/>
          <a:p>
            <a:pPr indent="0" marL="0">
              <a:buNone/>
            </a:pPr>
            <a:r>
              <a:rPr lang="en-US" sz="1000" dirty="0">
                <a:solidFill>
                  <a:srgbClr val="B91C1C"/>
                </a:solidFill>
                <a:latin typeface="Calibri" pitchFamily="34" charset="0"/>
                <a:ea typeface="Calibri" pitchFamily="34" charset="-122"/>
                <a:cs typeface="Calibri" pitchFamily="34" charset="-120"/>
              </a:rPr>
              <a:t>respuesta perdida en la red: timeout</a:t>
            </a:r>
            <a:endParaRPr lang="en-US" sz="1000" dirty="0"/>
          </a:p>
        </p:txBody>
      </p:sp>
      <p:sp>
        <p:nvSpPr>
          <p:cNvPr id="25" name="Shape 20"/>
          <p:cNvSpPr/>
          <p:nvPr/>
        </p:nvSpPr>
        <p:spPr>
          <a:xfrm>
            <a:off x="1143000" y="4434840"/>
            <a:ext cx="4617720" cy="0"/>
          </a:xfrm>
          <a:prstGeom prst="line">
            <a:avLst/>
          </a:prstGeom>
          <a:noFill/>
          <a:ln w="22225">
            <a:solidFill>
              <a:srgbClr val="12253D"/>
            </a:solidFill>
            <a:prstDash val="solid"/>
            <a:tailEnd type="triangle"/>
          </a:ln>
        </p:spPr>
      </p:sp>
      <p:sp>
        <p:nvSpPr>
          <p:cNvPr id="26" name="Text 21"/>
          <p:cNvSpPr txBox="1"/>
          <p:nvPr/>
        </p:nvSpPr>
        <p:spPr>
          <a:xfrm>
            <a:off x="1805940" y="4133088"/>
            <a:ext cx="3291840" cy="274320"/>
          </a:xfrm>
          <a:prstGeom prst="rect">
            <a:avLst/>
          </a:prstGeom>
          <a:solidFill>
            <a:srgbClr val="F5F8FC"/>
          </a:solidFill>
          <a:ln/>
        </p:spPr>
        <p:txBody>
          <a:bodyPr wrap="square" lIns="0" tIns="0" rIns="0" bIns="0" rtlCol="0" anchor="ctr"/>
          <a:lstStyle/>
          <a:p>
            <a:pPr algn="ctr" indent="0" marL="0">
              <a:buNone/>
            </a:pPr>
            <a:r>
              <a:rPr lang="en-US" sz="1100" dirty="0">
                <a:solidFill>
                  <a:srgbClr val="12253D"/>
                </a:solidFill>
                <a:latin typeface="Courier New" pitchFamily="34" charset="0"/>
                <a:ea typeface="Courier New" pitchFamily="34" charset="-122"/>
                <a:cs typeface="Courier New" pitchFamily="34" charset="-120"/>
              </a:rPr>
              <a:t>reintento   Idempotency-Key: k-71</a:t>
            </a:r>
            <a:endParaRPr lang="en-US" sz="1100" dirty="0"/>
          </a:p>
        </p:txBody>
      </p:sp>
      <p:sp>
        <p:nvSpPr>
          <p:cNvPr id="27" name="Shape 22"/>
          <p:cNvSpPr/>
          <p:nvPr/>
        </p:nvSpPr>
        <p:spPr>
          <a:xfrm>
            <a:off x="7589520" y="4434840"/>
            <a:ext cx="1188720" cy="0"/>
          </a:xfrm>
          <a:prstGeom prst="line">
            <a:avLst/>
          </a:prstGeom>
          <a:noFill/>
          <a:ln w="22225">
            <a:solidFill>
              <a:srgbClr val="4B6178"/>
            </a:solidFill>
            <a:prstDash val="solid"/>
            <a:tailEnd type="triangle"/>
          </a:ln>
        </p:spPr>
      </p:sp>
      <p:sp>
        <p:nvSpPr>
          <p:cNvPr id="28" name="Text 23"/>
          <p:cNvSpPr txBox="1"/>
          <p:nvPr/>
        </p:nvSpPr>
        <p:spPr>
          <a:xfrm>
            <a:off x="7589520" y="4133088"/>
            <a:ext cx="1188720" cy="274320"/>
          </a:xfrm>
          <a:prstGeom prst="rect">
            <a:avLst/>
          </a:prstGeom>
          <a:noFill/>
          <a:ln/>
        </p:spPr>
        <p:txBody>
          <a:bodyPr wrap="square" lIns="0" tIns="0" rIns="0" bIns="0" rtlCol="0" anchor="ctr"/>
          <a:lstStyle/>
          <a:p>
            <a:pPr algn="ctr" indent="0" marL="0">
              <a:buNone/>
            </a:pPr>
            <a:r>
              <a:rPr lang="en-US" sz="1000" dirty="0">
                <a:solidFill>
                  <a:srgbClr val="4B6178"/>
                </a:solidFill>
                <a:latin typeface="Calibri" pitchFamily="34" charset="0"/>
                <a:ea typeface="Calibri" pitchFamily="34" charset="-122"/>
                <a:cs typeface="Calibri" pitchFamily="34" charset="-120"/>
              </a:rPr>
              <a:t>k-71 ya vista</a:t>
            </a:r>
            <a:endParaRPr lang="en-US" sz="1000" dirty="0"/>
          </a:p>
        </p:txBody>
      </p:sp>
      <p:sp>
        <p:nvSpPr>
          <p:cNvPr id="29" name="Shape 24"/>
          <p:cNvSpPr/>
          <p:nvPr/>
        </p:nvSpPr>
        <p:spPr>
          <a:xfrm flipH="1">
            <a:off x="1143000" y="5120640"/>
            <a:ext cx="4617720" cy="0"/>
          </a:xfrm>
          <a:prstGeom prst="line">
            <a:avLst/>
          </a:prstGeom>
          <a:noFill/>
          <a:ln w="22225">
            <a:solidFill>
              <a:srgbClr val="15803D"/>
            </a:solidFill>
            <a:prstDash val="solid"/>
            <a:tailEnd type="triangle"/>
          </a:ln>
        </p:spPr>
      </p:sp>
      <p:sp>
        <p:nvSpPr>
          <p:cNvPr id="30" name="Text 25"/>
          <p:cNvSpPr txBox="1"/>
          <p:nvPr/>
        </p:nvSpPr>
        <p:spPr>
          <a:xfrm>
            <a:off x="1348740" y="4818888"/>
            <a:ext cx="4206240" cy="274320"/>
          </a:xfrm>
          <a:prstGeom prst="rect">
            <a:avLst/>
          </a:prstGeom>
          <a:solidFill>
            <a:srgbClr val="F5F8FC"/>
          </a:solidFill>
          <a:ln/>
        </p:spPr>
        <p:txBody>
          <a:bodyPr wrap="square" lIns="0" tIns="0" rIns="0" bIns="0" rtlCol="0" anchor="ctr"/>
          <a:lstStyle/>
          <a:p>
            <a:pPr algn="ctr" indent="0" marL="0">
              <a:buNone/>
            </a:pPr>
            <a:r>
              <a:rPr lang="en-US" sz="1100" dirty="0">
                <a:solidFill>
                  <a:srgbClr val="15803D"/>
                </a:solidFill>
                <a:latin typeface="Calibri" pitchFamily="34" charset="0"/>
                <a:ea typeface="Calibri" pitchFamily="34" charset="-122"/>
                <a:cs typeface="Calibri" pitchFamily="34" charset="-120"/>
              </a:rPr>
              <a:t>201 Created: la respuesta guardada, sin cobrar de nuevo</a:t>
            </a:r>
            <a:endParaRPr lang="en-US" sz="1100" dirty="0"/>
          </a:p>
        </p:txBody>
      </p:sp>
      <p:pic>
        <p:nvPicPr>
          <p:cNvPr id="31" name="Image 3" descr="preencoded.png">    </p:cNvPr>
          <p:cNvPicPr>
            <a:picLocks noChangeAspect="1"/>
          </p:cNvPicPr>
          <p:nvPr/>
        </p:nvPicPr>
        <p:blipFill>
          <a:blip r:embed="rId4"/>
          <a:stretch>
            <a:fillRect/>
          </a:stretch>
        </p:blipFill>
        <p:spPr>
          <a:xfrm>
            <a:off x="1234440" y="5212080"/>
            <a:ext cx="274320" cy="274320"/>
          </a:xfrm>
          <a:prstGeom prst="rect">
            <a:avLst/>
          </a:prstGeom>
        </p:spPr>
      </p:pic>
      <p:sp>
        <p:nvSpPr>
          <p:cNvPr id="32" name="Shape 26"/>
          <p:cNvSpPr/>
          <p:nvPr/>
        </p:nvSpPr>
        <p:spPr>
          <a:xfrm>
            <a:off x="8915400" y="2240280"/>
            <a:ext cx="2788920" cy="3246120"/>
          </a:xfrm>
          <a:prstGeom prst="roundRect">
            <a:avLst>
              <a:gd name="adj" fmla="val 2623"/>
            </a:avLst>
          </a:prstGeom>
          <a:solidFill>
            <a:srgbClr val="FFFFFF"/>
          </a:solidFill>
          <a:ln w="12700">
            <a:solidFill>
              <a:srgbClr val="D9E2EE"/>
            </a:solidFill>
            <a:prstDash val="solid"/>
          </a:ln>
        </p:spPr>
      </p:sp>
      <p:sp>
        <p:nvSpPr>
          <p:cNvPr id="33" name="Text 27"/>
          <p:cNvSpPr txBox="1"/>
          <p:nvPr/>
        </p:nvSpPr>
        <p:spPr>
          <a:xfrm>
            <a:off x="9006840" y="2377440"/>
            <a:ext cx="2606040" cy="731520"/>
          </a:xfrm>
          <a:prstGeom prst="rect">
            <a:avLst/>
          </a:prstGeom>
          <a:noFill/>
          <a:ln/>
        </p:spPr>
        <p:txBody>
          <a:bodyPr wrap="square" lIns="0" tIns="0" rIns="0" bIns="0" rtlCol="0" anchor="b"/>
          <a:lstStyle/>
          <a:p>
            <a:pPr algn="ctr" indent="0" marL="0">
              <a:buNone/>
            </a:pPr>
            <a:r>
              <a:rPr lang="en-US" sz="3600" b="1" dirty="0">
                <a:solidFill>
                  <a:srgbClr val="12253D"/>
                </a:solidFill>
                <a:latin typeface="Calibri" pitchFamily="34" charset="0"/>
                <a:ea typeface="Calibri" pitchFamily="34" charset="-122"/>
                <a:cs typeface="Calibri" pitchFamily="34" charset="-120"/>
              </a:rPr>
              <a:t>24 h</a:t>
            </a:r>
            <a:endParaRPr lang="en-US" sz="3600" dirty="0"/>
          </a:p>
        </p:txBody>
      </p:sp>
      <p:sp>
        <p:nvSpPr>
          <p:cNvPr id="34" name="Text 28"/>
          <p:cNvSpPr txBox="1"/>
          <p:nvPr/>
        </p:nvSpPr>
        <p:spPr>
          <a:xfrm>
            <a:off x="9006840" y="3108960"/>
            <a:ext cx="2606040" cy="457200"/>
          </a:xfrm>
          <a:prstGeom prst="rect">
            <a:avLst/>
          </a:prstGeom>
          <a:noFill/>
          <a:ln/>
        </p:spPr>
        <p:txBody>
          <a:bodyPr wrap="square" lIns="0" tIns="0" rIns="0" bIns="0" rtlCol="0" anchor="t"/>
          <a:lstStyle/>
          <a:p>
            <a:pPr algn="ctr" indent="0" marL="0">
              <a:buNone/>
            </a:pPr>
            <a:r>
              <a:rPr lang="en-US" sz="1200" dirty="0">
                <a:solidFill>
                  <a:srgbClr val="4B6178"/>
                </a:solidFill>
                <a:latin typeface="Calibri" pitchFamily="34" charset="0"/>
                <a:ea typeface="Calibri" pitchFamily="34" charset="-122"/>
                <a:cs typeface="Calibri" pitchFamily="34" charset="-120"/>
              </a:rPr>
              <a:t>Stripe conserva cada clave y su respuesta</a:t>
            </a:r>
            <a:endParaRPr lang="en-US" sz="1200" dirty="0"/>
          </a:p>
        </p:txBody>
      </p:sp>
      <p:sp>
        <p:nvSpPr>
          <p:cNvPr id="35" name="Text 29"/>
          <p:cNvSpPr txBox="1"/>
          <p:nvPr/>
        </p:nvSpPr>
        <p:spPr>
          <a:xfrm>
            <a:off x="9006840" y="3794760"/>
            <a:ext cx="2606040" cy="731520"/>
          </a:xfrm>
          <a:prstGeom prst="rect">
            <a:avLst/>
          </a:prstGeom>
          <a:noFill/>
          <a:ln/>
        </p:spPr>
        <p:txBody>
          <a:bodyPr wrap="square" lIns="0" tIns="0" rIns="0" bIns="0" rtlCol="0" anchor="b"/>
          <a:lstStyle/>
          <a:p>
            <a:pPr algn="ctr" indent="0" marL="0">
              <a:buNone/>
            </a:pPr>
            <a:r>
              <a:rPr lang="en-US" sz="3600" b="1" dirty="0">
                <a:solidFill>
                  <a:srgbClr val="B45309"/>
                </a:solidFill>
                <a:latin typeface="Calibri" pitchFamily="34" charset="0"/>
                <a:ea typeface="Calibri" pitchFamily="34" charset="-122"/>
                <a:cs typeface="Calibri" pitchFamily="34" charset="-120"/>
              </a:rPr>
              <a:t>409</a:t>
            </a:r>
            <a:endParaRPr lang="en-US" sz="3600" dirty="0"/>
          </a:p>
        </p:txBody>
      </p:sp>
      <p:sp>
        <p:nvSpPr>
          <p:cNvPr id="36" name="Text 30"/>
          <p:cNvSpPr txBox="1"/>
          <p:nvPr/>
        </p:nvSpPr>
        <p:spPr>
          <a:xfrm>
            <a:off x="9006840" y="4526280"/>
            <a:ext cx="2606040" cy="457200"/>
          </a:xfrm>
          <a:prstGeom prst="rect">
            <a:avLst/>
          </a:prstGeom>
          <a:noFill/>
          <a:ln/>
        </p:spPr>
        <p:txBody>
          <a:bodyPr wrap="square" lIns="0" tIns="0" rIns="0" bIns="0" rtlCol="0" anchor="t"/>
          <a:lstStyle/>
          <a:p>
            <a:pPr algn="ctr" indent="0" marL="0">
              <a:buNone/>
            </a:pPr>
            <a:r>
              <a:rPr lang="en-US" sz="1200" dirty="0">
                <a:solidFill>
                  <a:srgbClr val="4B6178"/>
                </a:solidFill>
                <a:latin typeface="Calibri" pitchFamily="34" charset="0"/>
                <a:ea typeface="Calibri" pitchFamily="34" charset="-122"/>
                <a:cs typeface="Calibri" pitchFamily="34" charset="-120"/>
              </a:rPr>
              <a:t>si llega la misma clave con la primera aún en vuelo</a:t>
            </a:r>
            <a:endParaRPr lang="en-US" sz="1200" dirty="0"/>
          </a:p>
        </p:txBody>
      </p:sp>
      <p:sp>
        <p:nvSpPr>
          <p:cNvPr id="37" name="Text 31"/>
          <p:cNvSpPr txBox="1"/>
          <p:nvPr/>
        </p:nvSpPr>
        <p:spPr>
          <a:xfrm>
            <a:off x="457200" y="5715000"/>
            <a:ext cx="8138160" cy="54864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Patrón popularizado por Stripe (2017). La clave viaja en una cabecera HTTP; el servidor guarda código y cuerpo de la primera respuesta, incluso si fue error.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Un Map en memoria no basta: la carrera TOCTOU y el UNIQUE</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16/32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B · REST e idempotencia</a:t>
            </a:r>
            <a:endParaRPr lang="en-US" sz="1000" dirty="0"/>
          </a:p>
        </p:txBody>
      </p:sp>
      <p:sp>
        <p:nvSpPr>
          <p:cNvPr id="5" name="Shape 3"/>
          <p:cNvSpPr/>
          <p:nvPr/>
        </p:nvSpPr>
        <p:spPr>
          <a:xfrm>
            <a:off x="457200" y="1371600"/>
            <a:ext cx="5486400" cy="2606040"/>
          </a:xfrm>
          <a:prstGeom prst="roundRect">
            <a:avLst>
              <a:gd name="adj" fmla="val 2807"/>
            </a:avLst>
          </a:prstGeom>
          <a:solidFill>
            <a:srgbClr val="FFFFFF"/>
          </a:solidFill>
          <a:ln w="12700">
            <a:solidFill>
              <a:srgbClr val="B91C1C"/>
            </a:solidFill>
            <a:prstDash val="solid"/>
          </a:ln>
        </p:spPr>
      </p:sp>
      <p:sp>
        <p:nvSpPr>
          <p:cNvPr id="6" name="Text 4"/>
          <p:cNvSpPr txBox="1"/>
          <p:nvPr/>
        </p:nvSpPr>
        <p:spPr>
          <a:xfrm>
            <a:off x="621792" y="1481328"/>
            <a:ext cx="515721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Comprobar y luego actuar (Map en memoria)</a:t>
            </a:r>
            <a:endParaRPr lang="en-US" sz="1300" dirty="0"/>
          </a:p>
        </p:txBody>
      </p:sp>
      <p:sp>
        <p:nvSpPr>
          <p:cNvPr id="7" name="Shape 5"/>
          <p:cNvSpPr/>
          <p:nvPr/>
        </p:nvSpPr>
        <p:spPr>
          <a:xfrm>
            <a:off x="640080" y="1828800"/>
            <a:ext cx="822960" cy="310896"/>
          </a:xfrm>
          <a:prstGeom prst="roundRect">
            <a:avLst>
              <a:gd name="adj" fmla="val 50000"/>
            </a:avLst>
          </a:prstGeom>
          <a:solidFill>
            <a:srgbClr val="FEF2F2"/>
          </a:solidFill>
          <a:ln w="12700">
            <a:solidFill>
              <a:srgbClr val="FEF2F2"/>
            </a:solidFill>
            <a:prstDash val="solid"/>
          </a:ln>
        </p:spPr>
      </p:sp>
      <p:sp>
        <p:nvSpPr>
          <p:cNvPr id="8" name="Text 6"/>
          <p:cNvSpPr txBox="1"/>
          <p:nvPr/>
        </p:nvSpPr>
        <p:spPr>
          <a:xfrm>
            <a:off x="640080" y="1828800"/>
            <a:ext cx="822960" cy="310896"/>
          </a:xfrm>
          <a:prstGeom prst="rect">
            <a:avLst/>
          </a:prstGeom>
          <a:noFill/>
          <a:ln/>
        </p:spPr>
        <p:txBody>
          <a:bodyPr wrap="square" lIns="0" tIns="0" rIns="0" bIns="0"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t = 0 ms</a:t>
            </a:r>
            <a:endParaRPr lang="en-US" sz="1100" dirty="0"/>
          </a:p>
        </p:txBody>
      </p:sp>
      <p:sp>
        <p:nvSpPr>
          <p:cNvPr id="9" name="Text 7"/>
          <p:cNvSpPr txBox="1"/>
          <p:nvPr/>
        </p:nvSpPr>
        <p:spPr>
          <a:xfrm>
            <a:off x="1554480" y="1828800"/>
            <a:ext cx="4206240" cy="310896"/>
          </a:xfrm>
          <a:prstGeom prst="rect">
            <a:avLst/>
          </a:prstGeom>
          <a:noFill/>
          <a:ln/>
        </p:spPr>
        <p:txBody>
          <a:bodyPr wrap="square" lIns="0" tIns="0" rIns="0" bIns="0" rtlCol="0" anchor="ctr"/>
          <a:lstStyle/>
          <a:p>
            <a:pPr indent="0" marL="0">
              <a:buNone/>
            </a:pPr>
            <a:r>
              <a:rPr lang="en-US" sz="1300" dirty="0">
                <a:solidFill>
                  <a:srgbClr val="12253D"/>
                </a:solidFill>
                <a:latin typeface="Calibri" pitchFamily="34" charset="0"/>
                <a:ea typeface="Calibri" pitchFamily="34" charset="-122"/>
                <a:cs typeface="Calibri" pitchFamily="34" charset="-120"/>
              </a:rPr>
              <a:t>petición 1: ¿visto(k-71)? no → cobra → marca</a:t>
            </a:r>
            <a:endParaRPr lang="en-US" sz="1300" dirty="0"/>
          </a:p>
        </p:txBody>
      </p:sp>
      <p:sp>
        <p:nvSpPr>
          <p:cNvPr id="10" name="Shape 8"/>
          <p:cNvSpPr/>
          <p:nvPr/>
        </p:nvSpPr>
        <p:spPr>
          <a:xfrm>
            <a:off x="640080" y="2286000"/>
            <a:ext cx="822960" cy="310896"/>
          </a:xfrm>
          <a:prstGeom prst="roundRect">
            <a:avLst>
              <a:gd name="adj" fmla="val 50000"/>
            </a:avLst>
          </a:prstGeom>
          <a:solidFill>
            <a:srgbClr val="FEF2F2"/>
          </a:solidFill>
          <a:ln w="12700">
            <a:solidFill>
              <a:srgbClr val="FEF2F2"/>
            </a:solidFill>
            <a:prstDash val="solid"/>
          </a:ln>
        </p:spPr>
      </p:sp>
      <p:sp>
        <p:nvSpPr>
          <p:cNvPr id="11" name="Text 9"/>
          <p:cNvSpPr txBox="1"/>
          <p:nvPr/>
        </p:nvSpPr>
        <p:spPr>
          <a:xfrm>
            <a:off x="640080" y="2286000"/>
            <a:ext cx="822960" cy="310896"/>
          </a:xfrm>
          <a:prstGeom prst="rect">
            <a:avLst/>
          </a:prstGeom>
          <a:noFill/>
          <a:ln/>
        </p:spPr>
        <p:txBody>
          <a:bodyPr wrap="square" lIns="0" tIns="0" rIns="0" bIns="0"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t = 5 ms</a:t>
            </a:r>
            <a:endParaRPr lang="en-US" sz="1100" dirty="0"/>
          </a:p>
        </p:txBody>
      </p:sp>
      <p:sp>
        <p:nvSpPr>
          <p:cNvPr id="12" name="Text 10"/>
          <p:cNvSpPr txBox="1"/>
          <p:nvPr/>
        </p:nvSpPr>
        <p:spPr>
          <a:xfrm>
            <a:off x="1554480" y="2286000"/>
            <a:ext cx="4206240" cy="310896"/>
          </a:xfrm>
          <a:prstGeom prst="rect">
            <a:avLst/>
          </a:prstGeom>
          <a:noFill/>
          <a:ln/>
        </p:spPr>
        <p:txBody>
          <a:bodyPr wrap="square" lIns="0" tIns="0" rIns="0" bIns="0" rtlCol="0" anchor="ctr"/>
          <a:lstStyle/>
          <a:p>
            <a:pPr indent="0" marL="0">
              <a:buNone/>
            </a:pPr>
            <a:r>
              <a:rPr lang="en-US" sz="1300" dirty="0">
                <a:solidFill>
                  <a:srgbClr val="12253D"/>
                </a:solidFill>
                <a:latin typeface="Calibri" pitchFamily="34" charset="0"/>
                <a:ea typeface="Calibri" pitchFamily="34" charset="-122"/>
                <a:cs typeface="Calibri" pitchFamily="34" charset="-120"/>
              </a:rPr>
              <a:t>petición 2: ¿visto(k-71)? todavía no → cobra → marca</a:t>
            </a:r>
            <a:endParaRPr lang="en-US" sz="1300" dirty="0"/>
          </a:p>
        </p:txBody>
      </p:sp>
      <p:sp>
        <p:nvSpPr>
          <p:cNvPr id="13" name="Text 11"/>
          <p:cNvSpPr txBox="1"/>
          <p:nvPr/>
        </p:nvSpPr>
        <p:spPr>
          <a:xfrm>
            <a:off x="640080" y="2743200"/>
            <a:ext cx="5120640" cy="548640"/>
          </a:xfrm>
          <a:prstGeom prst="rect">
            <a:avLst/>
          </a:prstGeom>
          <a:noFill/>
          <a:ln/>
        </p:spPr>
        <p:txBody>
          <a:bodyPr wrap="square" lIns="0" tIns="0" rIns="0" bIns="0" rtlCol="0" anchor="b"/>
          <a:lstStyle/>
          <a:p>
            <a:pPr algn="l" indent="0" marL="0">
              <a:buNone/>
            </a:pPr>
            <a:r>
              <a:rPr lang="en-US" sz="3000" b="1" dirty="0">
                <a:solidFill>
                  <a:srgbClr val="B91C1C"/>
                </a:solidFill>
                <a:latin typeface="Calibri" pitchFamily="34" charset="0"/>
                <a:ea typeface="Calibri" pitchFamily="34" charset="-122"/>
                <a:cs typeface="Calibri" pitchFamily="34" charset="-120"/>
              </a:rPr>
              <a:t>2 cobros</a:t>
            </a:r>
            <a:endParaRPr lang="en-US" sz="3000" dirty="0"/>
          </a:p>
        </p:txBody>
      </p:sp>
      <p:sp>
        <p:nvSpPr>
          <p:cNvPr id="14" name="Text 12"/>
          <p:cNvSpPr txBox="1"/>
          <p:nvPr/>
        </p:nvSpPr>
        <p:spPr>
          <a:xfrm>
            <a:off x="640080" y="3291840"/>
            <a:ext cx="5120640"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y con dos réplicas, dos mapas que no se ven</a:t>
            </a:r>
            <a:endParaRPr lang="en-US" sz="1200" dirty="0"/>
          </a:p>
        </p:txBody>
      </p:sp>
      <p:sp>
        <p:nvSpPr>
          <p:cNvPr id="15" name="Shape 13"/>
          <p:cNvSpPr/>
          <p:nvPr/>
        </p:nvSpPr>
        <p:spPr>
          <a:xfrm>
            <a:off x="6245352" y="1371600"/>
            <a:ext cx="5486400" cy="2606040"/>
          </a:xfrm>
          <a:prstGeom prst="roundRect">
            <a:avLst>
              <a:gd name="adj" fmla="val 2807"/>
            </a:avLst>
          </a:prstGeom>
          <a:solidFill>
            <a:srgbClr val="FFFFFF"/>
          </a:solidFill>
          <a:ln w="12700">
            <a:solidFill>
              <a:srgbClr val="15803D"/>
            </a:solidFill>
            <a:prstDash val="solid"/>
          </a:ln>
        </p:spPr>
      </p:sp>
      <p:sp>
        <p:nvSpPr>
          <p:cNvPr id="16" name="Text 14"/>
          <p:cNvSpPr txBox="1"/>
          <p:nvPr/>
        </p:nvSpPr>
        <p:spPr>
          <a:xfrm>
            <a:off x="6409944" y="1481328"/>
            <a:ext cx="5157216"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Insertar es comprobar y reservar (tabla con UNIQUE)</a:t>
            </a:r>
            <a:endParaRPr lang="en-US" sz="1300" dirty="0"/>
          </a:p>
        </p:txBody>
      </p:sp>
      <p:sp>
        <p:nvSpPr>
          <p:cNvPr id="17" name="Shape 15"/>
          <p:cNvSpPr/>
          <p:nvPr/>
        </p:nvSpPr>
        <p:spPr>
          <a:xfrm>
            <a:off x="6428232" y="1828800"/>
            <a:ext cx="822960" cy="310896"/>
          </a:xfrm>
          <a:prstGeom prst="roundRect">
            <a:avLst>
              <a:gd name="adj" fmla="val 50000"/>
            </a:avLst>
          </a:prstGeom>
          <a:solidFill>
            <a:srgbClr val="F0FDF4"/>
          </a:solidFill>
          <a:ln w="12700">
            <a:solidFill>
              <a:srgbClr val="F0FDF4"/>
            </a:solidFill>
            <a:prstDash val="solid"/>
          </a:ln>
        </p:spPr>
      </p:sp>
      <p:sp>
        <p:nvSpPr>
          <p:cNvPr id="18" name="Text 16"/>
          <p:cNvSpPr txBox="1"/>
          <p:nvPr/>
        </p:nvSpPr>
        <p:spPr>
          <a:xfrm>
            <a:off x="6428232" y="1828800"/>
            <a:ext cx="822960" cy="310896"/>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t = 0 ms</a:t>
            </a:r>
            <a:endParaRPr lang="en-US" sz="1100" dirty="0"/>
          </a:p>
        </p:txBody>
      </p:sp>
      <p:sp>
        <p:nvSpPr>
          <p:cNvPr id="19" name="Text 17"/>
          <p:cNvSpPr txBox="1"/>
          <p:nvPr/>
        </p:nvSpPr>
        <p:spPr>
          <a:xfrm>
            <a:off x="7342632" y="1828800"/>
            <a:ext cx="4206240" cy="310896"/>
          </a:xfrm>
          <a:prstGeom prst="rect">
            <a:avLst/>
          </a:prstGeom>
          <a:noFill/>
          <a:ln/>
        </p:spPr>
        <p:txBody>
          <a:bodyPr wrap="square" lIns="0" tIns="0" rIns="0" bIns="0" rtlCol="0" anchor="ctr"/>
          <a:lstStyle/>
          <a:p>
            <a:pPr indent="0" marL="0">
              <a:buNone/>
            </a:pPr>
            <a:r>
              <a:rPr lang="en-US" sz="1300" dirty="0">
                <a:solidFill>
                  <a:srgbClr val="12253D"/>
                </a:solidFill>
                <a:latin typeface="Calibri" pitchFamily="34" charset="0"/>
                <a:ea typeface="Calibri" pitchFamily="34" charset="-122"/>
                <a:cs typeface="Calibri" pitchFamily="34" charset="-120"/>
              </a:rPr>
              <a:t>INSERT k-71 → ok → cobra → guarda respuesta</a:t>
            </a:r>
            <a:endParaRPr lang="en-US" sz="1300" dirty="0"/>
          </a:p>
        </p:txBody>
      </p:sp>
      <p:sp>
        <p:nvSpPr>
          <p:cNvPr id="20" name="Shape 18"/>
          <p:cNvSpPr/>
          <p:nvPr/>
        </p:nvSpPr>
        <p:spPr>
          <a:xfrm>
            <a:off x="6428232" y="2286000"/>
            <a:ext cx="822960" cy="310896"/>
          </a:xfrm>
          <a:prstGeom prst="roundRect">
            <a:avLst>
              <a:gd name="adj" fmla="val 50000"/>
            </a:avLst>
          </a:prstGeom>
          <a:solidFill>
            <a:srgbClr val="F0FDF4"/>
          </a:solidFill>
          <a:ln w="12700">
            <a:solidFill>
              <a:srgbClr val="F0FDF4"/>
            </a:solidFill>
            <a:prstDash val="solid"/>
          </a:ln>
        </p:spPr>
      </p:sp>
      <p:sp>
        <p:nvSpPr>
          <p:cNvPr id="21" name="Text 19"/>
          <p:cNvSpPr txBox="1"/>
          <p:nvPr/>
        </p:nvSpPr>
        <p:spPr>
          <a:xfrm>
            <a:off x="6428232" y="2286000"/>
            <a:ext cx="822960" cy="310896"/>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t = 5 ms</a:t>
            </a:r>
            <a:endParaRPr lang="en-US" sz="1100" dirty="0"/>
          </a:p>
        </p:txBody>
      </p:sp>
      <p:sp>
        <p:nvSpPr>
          <p:cNvPr id="22" name="Text 20"/>
          <p:cNvSpPr txBox="1"/>
          <p:nvPr/>
        </p:nvSpPr>
        <p:spPr>
          <a:xfrm>
            <a:off x="7342632" y="2286000"/>
            <a:ext cx="4206240" cy="310896"/>
          </a:xfrm>
          <a:prstGeom prst="rect">
            <a:avLst/>
          </a:prstGeom>
          <a:noFill/>
          <a:ln/>
        </p:spPr>
        <p:txBody>
          <a:bodyPr wrap="square" lIns="0" tIns="0" rIns="0" bIns="0" rtlCol="0" anchor="ctr"/>
          <a:lstStyle/>
          <a:p>
            <a:pPr indent="0" marL="0">
              <a:buNone/>
            </a:pPr>
            <a:r>
              <a:rPr lang="en-US" sz="1300" dirty="0">
                <a:solidFill>
                  <a:srgbClr val="12253D"/>
                </a:solidFill>
                <a:latin typeface="Calibri" pitchFamily="34" charset="0"/>
                <a:ea typeface="Calibri" pitchFamily="34" charset="-122"/>
                <a:cs typeface="Calibri" pitchFamily="34" charset="-120"/>
              </a:rPr>
              <a:t>INSERT k-71 → falla (UNIQUE) → devuelve la guardada</a:t>
            </a:r>
            <a:endParaRPr lang="en-US" sz="1300" dirty="0"/>
          </a:p>
        </p:txBody>
      </p:sp>
      <p:sp>
        <p:nvSpPr>
          <p:cNvPr id="23" name="Text 21"/>
          <p:cNvSpPr txBox="1"/>
          <p:nvPr/>
        </p:nvSpPr>
        <p:spPr>
          <a:xfrm>
            <a:off x="6428232" y="2743200"/>
            <a:ext cx="5120640" cy="548640"/>
          </a:xfrm>
          <a:prstGeom prst="rect">
            <a:avLst/>
          </a:prstGeom>
          <a:noFill/>
          <a:ln/>
        </p:spPr>
        <p:txBody>
          <a:bodyPr wrap="square" lIns="0" tIns="0" rIns="0" bIns="0" rtlCol="0" anchor="b"/>
          <a:lstStyle/>
          <a:p>
            <a:pPr algn="l" indent="0" marL="0">
              <a:buNone/>
            </a:pPr>
            <a:r>
              <a:rPr lang="en-US" sz="3000" b="1" dirty="0">
                <a:solidFill>
                  <a:srgbClr val="15803D"/>
                </a:solidFill>
                <a:latin typeface="Calibri" pitchFamily="34" charset="0"/>
                <a:ea typeface="Calibri" pitchFamily="34" charset="-122"/>
                <a:cs typeface="Calibri" pitchFamily="34" charset="-120"/>
              </a:rPr>
              <a:t>1 cobro</a:t>
            </a:r>
            <a:endParaRPr lang="en-US" sz="3000" dirty="0"/>
          </a:p>
        </p:txBody>
      </p:sp>
      <p:sp>
        <p:nvSpPr>
          <p:cNvPr id="24" name="Text 22"/>
          <p:cNvSpPr txBox="1"/>
          <p:nvPr/>
        </p:nvSpPr>
        <p:spPr>
          <a:xfrm>
            <a:off x="6428232" y="3291840"/>
            <a:ext cx="5120640"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la base de datos serializa; funciona con N réplicas</a:t>
            </a:r>
            <a:endParaRPr lang="en-US" sz="1200" dirty="0"/>
          </a:p>
        </p:txBody>
      </p:sp>
      <p:sp>
        <p:nvSpPr>
          <p:cNvPr id="25" name="Shape 23"/>
          <p:cNvSpPr/>
          <p:nvPr/>
        </p:nvSpPr>
        <p:spPr>
          <a:xfrm>
            <a:off x="457200" y="4206240"/>
            <a:ext cx="11247120" cy="1920240"/>
          </a:xfrm>
          <a:prstGeom prst="roundRect">
            <a:avLst>
              <a:gd name="adj" fmla="val 2857"/>
            </a:avLst>
          </a:prstGeom>
          <a:solidFill>
            <a:srgbClr val="1E293B"/>
          </a:solidFill>
          <a:ln w="12700">
            <a:solidFill>
              <a:srgbClr val="1E293B"/>
            </a:solidFill>
            <a:prstDash val="solid"/>
          </a:ln>
        </p:spPr>
      </p:sp>
      <p:sp>
        <p:nvSpPr>
          <p:cNvPr id="26" name="Text 24"/>
          <p:cNvSpPr txBox="1"/>
          <p:nvPr/>
        </p:nvSpPr>
        <p:spPr>
          <a:xfrm>
            <a:off x="621792" y="4343400"/>
            <a:ext cx="1097280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@Column(unique = true) String clave;                       // en la entidad IdempotencyRecord</a:t>
            </a:r>
            <a:endParaRPr lang="en-US" sz="1200" dirty="0"/>
          </a:p>
        </p:txBody>
      </p:sp>
      <p:sp>
        <p:nvSpPr>
          <p:cNvPr id="27" name="Text 25"/>
          <p:cNvSpPr txBox="1"/>
          <p:nvPr/>
        </p:nvSpPr>
        <p:spPr>
          <a:xfrm>
            <a:off x="621792" y="4617720"/>
            <a:ext cx="1097280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@Transactional public Registro procesarNuevo(String clave, PagoRequest req) {</a:t>
            </a:r>
            <a:endParaRPr lang="en-US" sz="1200" dirty="0"/>
          </a:p>
        </p:txBody>
      </p:sp>
      <p:sp>
        <p:nvSpPr>
          <p:cNvPr id="28" name="Shape 26"/>
          <p:cNvSpPr/>
          <p:nvPr/>
        </p:nvSpPr>
        <p:spPr>
          <a:xfrm>
            <a:off x="530352" y="4873752"/>
            <a:ext cx="11100816" cy="292608"/>
          </a:xfrm>
          <a:prstGeom prst="roundRect">
            <a:avLst>
              <a:gd name="adj" fmla="val 9375"/>
            </a:avLst>
          </a:prstGeom>
          <a:solidFill>
            <a:srgbClr val="334155"/>
          </a:solidFill>
          <a:ln w="12700">
            <a:solidFill>
              <a:srgbClr val="334155"/>
            </a:solidFill>
            <a:prstDash val="solid"/>
          </a:ln>
        </p:spPr>
      </p:sp>
      <p:sp>
        <p:nvSpPr>
          <p:cNvPr id="29" name="Text 27"/>
          <p:cNvSpPr txBox="1"/>
          <p:nvPr/>
        </p:nvSpPr>
        <p:spPr>
          <a:xfrm>
            <a:off x="621792" y="4892040"/>
            <a:ext cx="10972800" cy="274320"/>
          </a:xfrm>
          <a:prstGeom prst="rect">
            <a:avLst/>
          </a:prstGeom>
          <a:noFill/>
          <a:ln/>
        </p:spPr>
        <p:txBody>
          <a:bodyPr wrap="square" lIns="0" tIns="0" rIns="0" bIns="0" rtlCol="0" anchor="ctr"/>
          <a:lstStyle/>
          <a:p>
            <a:pPr indent="0" marL="0">
              <a:buNone/>
            </a:pPr>
            <a:r>
              <a:rPr lang="en-US" sz="1200" dirty="0">
                <a:solidFill>
                  <a:srgbClr val="FDE68A"/>
                </a:solidFill>
                <a:latin typeface="Courier New" pitchFamily="34" charset="0"/>
                <a:ea typeface="Courier New" pitchFamily="34" charset="-122"/>
                <a:cs typeface="Courier New" pitchFamily="34" charset="-120"/>
              </a:rPr>
              <a:t>    var r = repo.saveAndFlush(new Registro(clave));         // INSERT ahora: clave repetida = excepcion</a:t>
            </a:r>
            <a:endParaRPr lang="en-US" sz="1200" dirty="0"/>
          </a:p>
        </p:txBody>
      </p:sp>
      <p:sp>
        <p:nvSpPr>
          <p:cNvPr id="30" name="Text 28"/>
          <p:cNvSpPr txBox="1"/>
          <p:nvPr/>
        </p:nvSpPr>
        <p:spPr>
          <a:xfrm>
            <a:off x="621792" y="5166360"/>
            <a:ext cx="1097280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r.guardar(pasarela.cobrar(req)); return r; }            // el efecto ocurre UNA vez</a:t>
            </a:r>
            <a:endParaRPr lang="en-US" sz="1200" dirty="0"/>
          </a:p>
        </p:txBody>
      </p:sp>
      <p:sp>
        <p:nvSpPr>
          <p:cNvPr id="31" name="Shape 29"/>
          <p:cNvSpPr/>
          <p:nvPr/>
        </p:nvSpPr>
        <p:spPr>
          <a:xfrm>
            <a:off x="530352" y="5422392"/>
            <a:ext cx="11100816" cy="292608"/>
          </a:xfrm>
          <a:prstGeom prst="roundRect">
            <a:avLst>
              <a:gd name="adj" fmla="val 9375"/>
            </a:avLst>
          </a:prstGeom>
          <a:solidFill>
            <a:srgbClr val="334155"/>
          </a:solidFill>
          <a:ln w="12700">
            <a:solidFill>
              <a:srgbClr val="334155"/>
            </a:solidFill>
            <a:prstDash val="solid"/>
          </a:ln>
        </p:spPr>
      </p:sp>
      <p:sp>
        <p:nvSpPr>
          <p:cNvPr id="32" name="Text 30"/>
          <p:cNvSpPr txBox="1"/>
          <p:nvPr/>
        </p:nvSpPr>
        <p:spPr>
          <a:xfrm>
            <a:off x="621792" y="5440680"/>
            <a:ext cx="10972800" cy="274320"/>
          </a:xfrm>
          <a:prstGeom prst="rect">
            <a:avLst/>
          </a:prstGeom>
          <a:noFill/>
          <a:ln/>
        </p:spPr>
        <p:txBody>
          <a:bodyPr wrap="square" lIns="0" tIns="0" rIns="0" bIns="0" rtlCol="0" anchor="ctr"/>
          <a:lstStyle/>
          <a:p>
            <a:pPr indent="0" marL="0">
              <a:buNone/>
            </a:pPr>
            <a:r>
              <a:rPr lang="en-US" sz="1200" dirty="0">
                <a:solidFill>
                  <a:srgbClr val="FDE68A"/>
                </a:solidFill>
                <a:latin typeface="Courier New" pitchFamily="34" charset="0"/>
                <a:ea typeface="Courier New" pitchFamily="34" charset="-122"/>
                <a:cs typeface="Courier New" pitchFamily="34" charset="-120"/>
              </a:rPr>
              <a:t>catch (DataIntegrityViolationException dup) {               // en el controlador</a:t>
            </a:r>
            <a:endParaRPr lang="en-US" sz="1200" dirty="0"/>
          </a:p>
        </p:txBody>
      </p:sp>
      <p:sp>
        <p:nvSpPr>
          <p:cNvPr id="33" name="Text 31"/>
          <p:cNvSpPr txBox="1"/>
          <p:nvPr/>
        </p:nvSpPr>
        <p:spPr>
          <a:xfrm>
            <a:off x="621792" y="5715000"/>
            <a:ext cx="1097280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return respuestaGuardada(clave); }                     // misma respuesta, sin cobrar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Demo: el sistema de referencia, por fuera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17/32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D · Demo</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demo en vivo</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498080" cy="914400"/>
        </p:xfrm>
        <a:graphic>
          <a:graphicData uri="http://schemas.openxmlformats.org/drawingml/2006/table">
            <a:tbl>
              <a:tblPr/>
              <a:tblGrid>
                <a:gridCol w="3566160"/>
                <a:gridCol w="2377440"/>
                <a:gridCol w="1554480"/>
              </a:tblGrid>
              <a:tr h="420624">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Pieza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Rol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Puerto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API Gateway · Spring Cloud Gateway</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entrada única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8080</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Discovery · Eureka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registro de servicios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8761</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Config server · Spring Cloud Config</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configuración central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8888</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Autenticación · Keycloak</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quién es y qué puede hacer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8180</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Broker · RabbitMQ</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mensajería asíncrona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5672 · consola 15672</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Caché · Redis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lecturas rápidas en memoria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6379</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Datos · PostgreSQL · MongoDB</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almacenes de los servicios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5432 · 27017</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Observabilidad · Grafana · Prometheus · Jaeger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métricas y trazas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3000 · 9090 · 16686</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9" name="Shape 5"/>
          <p:cNvSpPr/>
          <p:nvPr/>
        </p:nvSpPr>
        <p:spPr>
          <a:xfrm>
            <a:off x="8183880" y="1371600"/>
            <a:ext cx="3520440" cy="1097280"/>
          </a:xfrm>
          <a:prstGeom prst="roundRect">
            <a:avLst>
              <a:gd name="adj" fmla="val 5000"/>
            </a:avLst>
          </a:prstGeom>
          <a:solidFill>
            <a:srgbClr val="1E293B"/>
          </a:solidFill>
          <a:ln w="12700">
            <a:solidFill>
              <a:srgbClr val="1E293B"/>
            </a:solidFill>
            <a:prstDash val="solid"/>
          </a:ln>
        </p:spPr>
      </p:sp>
      <p:sp>
        <p:nvSpPr>
          <p:cNvPr id="10" name="Text 6"/>
          <p:cNvSpPr txBox="1"/>
          <p:nvPr/>
        </p:nvSpPr>
        <p:spPr>
          <a:xfrm>
            <a:off x="8348472" y="1508760"/>
            <a:ext cx="324612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docker compose up -d</a:t>
            </a:r>
            <a:endParaRPr lang="en-US" sz="1200" dirty="0"/>
          </a:p>
        </p:txBody>
      </p:sp>
      <p:sp>
        <p:nvSpPr>
          <p:cNvPr id="11" name="Text 7"/>
          <p:cNvSpPr txBox="1"/>
          <p:nvPr/>
        </p:nvSpPr>
        <p:spPr>
          <a:xfrm>
            <a:off x="8348472" y="1783080"/>
            <a:ext cx="324612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docker compose ps</a:t>
            </a:r>
            <a:endParaRPr lang="en-US" sz="1200" dirty="0"/>
          </a:p>
        </p:txBody>
      </p:sp>
      <p:sp>
        <p:nvSpPr>
          <p:cNvPr id="12" name="Text 8"/>
          <p:cNvSpPr txBox="1"/>
          <p:nvPr/>
        </p:nvSpPr>
        <p:spPr>
          <a:xfrm>
            <a:off x="8348472" y="2057400"/>
            <a:ext cx="3246120" cy="27432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 docker compose logs -f gateway</a:t>
            </a:r>
            <a:endParaRPr lang="en-US" sz="1200" dirty="0"/>
          </a:p>
        </p:txBody>
      </p:sp>
      <p:sp>
        <p:nvSpPr>
          <p:cNvPr id="13" name="Shape 9"/>
          <p:cNvSpPr/>
          <p:nvPr/>
        </p:nvSpPr>
        <p:spPr>
          <a:xfrm>
            <a:off x="8183880" y="2606040"/>
            <a:ext cx="3520440" cy="2103120"/>
          </a:xfrm>
          <a:prstGeom prst="roundRect">
            <a:avLst>
              <a:gd name="adj" fmla="val 3478"/>
            </a:avLst>
          </a:prstGeom>
          <a:solidFill>
            <a:srgbClr val="FFFFFF"/>
          </a:solidFill>
          <a:ln w="12700">
            <a:solidFill>
              <a:srgbClr val="D9E2EE"/>
            </a:solidFill>
            <a:prstDash val="solid"/>
          </a:ln>
        </p:spPr>
      </p:sp>
      <p:pic>
        <p:nvPicPr>
          <p:cNvPr id="14" name="Image 1" descr="preencoded.png">    </p:cNvPr>
          <p:cNvPicPr>
            <a:picLocks noChangeAspect="1"/>
          </p:cNvPicPr>
          <p:nvPr/>
        </p:nvPicPr>
        <p:blipFill>
          <a:blip r:embed="rId2"/>
          <a:stretch>
            <a:fillRect/>
          </a:stretch>
        </p:blipFill>
        <p:spPr>
          <a:xfrm>
            <a:off x="8348472" y="2743200"/>
            <a:ext cx="274320" cy="274320"/>
          </a:xfrm>
          <a:prstGeom prst="rect">
            <a:avLst/>
          </a:prstGeom>
        </p:spPr>
      </p:pic>
      <p:sp>
        <p:nvSpPr>
          <p:cNvPr id="15" name="Text 10"/>
          <p:cNvSpPr txBox="1"/>
          <p:nvPr/>
        </p:nvSpPr>
        <p:spPr>
          <a:xfrm>
            <a:off x="8732520" y="2715768"/>
            <a:ext cx="280720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Qué van a ver</a:t>
            </a:r>
            <a:endParaRPr lang="en-US" sz="1300" dirty="0"/>
          </a:p>
        </p:txBody>
      </p:sp>
      <p:sp>
        <p:nvSpPr>
          <p:cNvPr id="16" name="Text 11"/>
          <p:cNvSpPr txBox="1"/>
          <p:nvPr/>
        </p:nvSpPr>
        <p:spPr>
          <a:xfrm>
            <a:off x="8348472" y="3081528"/>
            <a:ext cx="3191256" cy="151790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Los mismos comandos del lab de hoy, solo que ahora son ~12 contenedores coordinados. Anoten qué puerto abre cada pieza: la próxima semana lo levantan ustedes.</a:t>
            </a:r>
            <a:endParaRPr lang="en-US" sz="1300" dirty="0"/>
          </a:p>
        </p:txBody>
      </p:sp>
      <p:sp>
        <p:nvSpPr>
          <p:cNvPr id="17" name="Text 12"/>
          <p:cNvSpPr txBox="1"/>
          <p:nvPr/>
        </p:nvSpPr>
        <p:spPr>
          <a:xfrm>
            <a:off x="457200" y="5303520"/>
            <a:ext cx="7498080" cy="36576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Puertos por defecto; los definitivos van en el compose del curso (S4).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Partir el monolito crea cinco problemas nuevos y uno de visibilidad</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18/32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3154680" y="1965960"/>
            <a:ext cx="347472" cy="347472"/>
          </a:xfrm>
          <a:prstGeom prst="ellipse">
            <a:avLst/>
          </a:prstGeom>
          <a:solidFill>
            <a:srgbClr val="B91C1C"/>
          </a:solidFill>
          <a:ln w="12700">
            <a:solidFill>
              <a:srgbClr val="B91C1C"/>
            </a:solidFill>
            <a:prstDash val="solid"/>
          </a:ln>
        </p:spPr>
      </p:sp>
      <p:sp>
        <p:nvSpPr>
          <p:cNvPr id="56" name="Text 44"/>
          <p:cNvSpPr txBox="1"/>
          <p:nvPr/>
        </p:nvSpPr>
        <p:spPr>
          <a:xfrm>
            <a:off x="3154680"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7" name="Shape 45"/>
          <p:cNvSpPr/>
          <p:nvPr/>
        </p:nvSpPr>
        <p:spPr>
          <a:xfrm>
            <a:off x="5029200" y="2286000"/>
            <a:ext cx="347472" cy="347472"/>
          </a:xfrm>
          <a:prstGeom prst="ellipse">
            <a:avLst/>
          </a:prstGeom>
          <a:solidFill>
            <a:srgbClr val="B91C1C"/>
          </a:solidFill>
          <a:ln w="12700">
            <a:solidFill>
              <a:srgbClr val="B91C1C"/>
            </a:solidFill>
            <a:prstDash val="solid"/>
          </a:ln>
        </p:spPr>
      </p:sp>
      <p:sp>
        <p:nvSpPr>
          <p:cNvPr id="58" name="Text 46"/>
          <p:cNvSpPr txBox="1"/>
          <p:nvPr/>
        </p:nvSpPr>
        <p:spPr>
          <a:xfrm>
            <a:off x="5029200" y="2286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9" name="Shape 47"/>
          <p:cNvSpPr/>
          <p:nvPr/>
        </p:nvSpPr>
        <p:spPr>
          <a:xfrm>
            <a:off x="11475720" y="2468880"/>
            <a:ext cx="347472" cy="347472"/>
          </a:xfrm>
          <a:prstGeom prst="ellipse">
            <a:avLst/>
          </a:prstGeom>
          <a:solidFill>
            <a:srgbClr val="B91C1C"/>
          </a:solidFill>
          <a:ln w="12700">
            <a:solidFill>
              <a:srgbClr val="B91C1C"/>
            </a:solidFill>
            <a:prstDash val="solid"/>
          </a:ln>
        </p:spPr>
      </p:sp>
      <p:sp>
        <p:nvSpPr>
          <p:cNvPr id="60" name="Text 48"/>
          <p:cNvSpPr txBox="1"/>
          <p:nvPr/>
        </p:nvSpPr>
        <p:spPr>
          <a:xfrm>
            <a:off x="11475720" y="2468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1" name="Shape 49"/>
          <p:cNvSpPr/>
          <p:nvPr/>
        </p:nvSpPr>
        <p:spPr>
          <a:xfrm>
            <a:off x="6126480" y="3621024"/>
            <a:ext cx="347472" cy="347472"/>
          </a:xfrm>
          <a:prstGeom prst="ellipse">
            <a:avLst/>
          </a:prstGeom>
          <a:solidFill>
            <a:srgbClr val="B91C1C"/>
          </a:solidFill>
          <a:ln w="12700">
            <a:solidFill>
              <a:srgbClr val="B91C1C"/>
            </a:solidFill>
            <a:prstDash val="solid"/>
          </a:ln>
        </p:spPr>
      </p:sp>
      <p:sp>
        <p:nvSpPr>
          <p:cNvPr id="62" name="Text 50"/>
          <p:cNvSpPr txBox="1"/>
          <p:nvPr/>
        </p:nvSpPr>
        <p:spPr>
          <a:xfrm>
            <a:off x="6126480" y="3621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3" name="Shape 51"/>
          <p:cNvSpPr/>
          <p:nvPr/>
        </p:nvSpPr>
        <p:spPr>
          <a:xfrm>
            <a:off x="9281160" y="1371600"/>
            <a:ext cx="347472" cy="347472"/>
          </a:xfrm>
          <a:prstGeom prst="ellipse">
            <a:avLst/>
          </a:prstGeom>
          <a:solidFill>
            <a:srgbClr val="B91C1C"/>
          </a:solidFill>
          <a:ln w="12700">
            <a:solidFill>
              <a:srgbClr val="B91C1C"/>
            </a:solidFill>
            <a:prstDash val="solid"/>
          </a:ln>
        </p:spPr>
      </p:sp>
      <p:sp>
        <p:nvSpPr>
          <p:cNvPr id="64" name="Text 52"/>
          <p:cNvSpPr txBox="1"/>
          <p:nvPr/>
        </p:nvSpPr>
        <p:spPr>
          <a:xfrm>
            <a:off x="9281160" y="13716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5" name="Shape 53"/>
          <p:cNvSpPr/>
          <p:nvPr/>
        </p:nvSpPr>
        <p:spPr>
          <a:xfrm>
            <a:off x="11475720" y="3566160"/>
            <a:ext cx="347472" cy="347472"/>
          </a:xfrm>
          <a:prstGeom prst="ellipse">
            <a:avLst/>
          </a:prstGeom>
          <a:solidFill>
            <a:srgbClr val="B91C1C"/>
          </a:solidFill>
          <a:ln w="12700">
            <a:solidFill>
              <a:srgbClr val="B91C1C"/>
            </a:solidFill>
            <a:prstDash val="solid"/>
          </a:ln>
        </p:spPr>
      </p:sp>
      <p:sp>
        <p:nvSpPr>
          <p:cNvPr id="66" name="Text 54"/>
          <p:cNvSpPr txBox="1"/>
          <p:nvPr/>
        </p:nvSpPr>
        <p:spPr>
          <a:xfrm>
            <a:off x="11475720" y="3566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7" name="Text 55"/>
          <p:cNvSpPr txBox="1"/>
          <p:nvPr/>
        </p:nvSpPr>
        <p:spPr>
          <a:xfrm>
            <a:off x="457200" y="534924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1 · ¿Por dónde entra el cliente si ahora son N servicios?</a:t>
            </a:r>
            <a:endParaRPr lang="en-US" sz="1200" dirty="0"/>
          </a:p>
        </p:txBody>
      </p:sp>
      <p:sp>
        <p:nvSpPr>
          <p:cNvPr id="68" name="Text 56"/>
          <p:cNvSpPr txBox="1"/>
          <p:nvPr/>
        </p:nvSpPr>
        <p:spPr>
          <a:xfrm>
            <a:off x="6126480" y="534924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2 · ¿Cómo se encuentran, si las direcciones cambian?</a:t>
            </a:r>
            <a:endParaRPr lang="en-US" sz="1200" dirty="0"/>
          </a:p>
        </p:txBody>
      </p:sp>
      <p:sp>
        <p:nvSpPr>
          <p:cNvPr id="69" name="Text 57"/>
          <p:cNvSpPr txBox="1"/>
          <p:nvPr/>
        </p:nvSpPr>
        <p:spPr>
          <a:xfrm>
            <a:off x="457200" y="562356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3 · ¿De dónde sale la configuración de cada uno?</a:t>
            </a:r>
            <a:endParaRPr lang="en-US" sz="1200" dirty="0"/>
          </a:p>
        </p:txBody>
      </p:sp>
      <p:sp>
        <p:nvSpPr>
          <p:cNvPr id="70" name="Text 58"/>
          <p:cNvSpPr txBox="1"/>
          <p:nvPr/>
        </p:nvSpPr>
        <p:spPr>
          <a:xfrm>
            <a:off x="6126480" y="562356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4 · ¿Qué pasa con la operación si el otro está caído?</a:t>
            </a:r>
            <a:endParaRPr lang="en-US" sz="1200" dirty="0"/>
          </a:p>
        </p:txBody>
      </p:sp>
      <p:sp>
        <p:nvSpPr>
          <p:cNvPr id="71" name="Text 59"/>
          <p:cNvSpPr txBox="1"/>
          <p:nvPr/>
        </p:nvSpPr>
        <p:spPr>
          <a:xfrm>
            <a:off x="457200" y="589788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5 · ¿Cómo evitar leer lo mismo mil veces de la base?</a:t>
            </a:r>
            <a:endParaRPr lang="en-US" sz="1200" dirty="0"/>
          </a:p>
        </p:txBody>
      </p:sp>
      <p:sp>
        <p:nvSpPr>
          <p:cNvPr id="72" name="Text 60"/>
          <p:cNvSpPr txBox="1"/>
          <p:nvPr/>
        </p:nvSpPr>
        <p:spPr>
          <a:xfrm>
            <a:off x="6126480" y="5897880"/>
            <a:ext cx="5577840" cy="27432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6 · ¿Dónde falló una operación que cruzó varios?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API Gateway: una sola puerta, políticas una sola vez</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19/32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DBEAFE"/>
          </a:solidFill>
          <a:ln w="38100">
            <a:solidFill>
              <a:srgbClr val="2563EB"/>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Sin gateway cada servicio expone su puerto: TLS, identidad y límites se programan N veces y el cliente se acopla a la topología.</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Spring Cloud Gateway 5 (nov-2025). Kubernetes Gateway API es GA desde el 31-oct-2023; Ingress quedó congelado.</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Cloudflare, 18-nov-2025: un archivo creció más de lo previsto, el proxy central hizo panic y devolvió 5xx de 11:28 a 17:06 UTC.</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Service discovery: el nombre es estable, la dirección no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20/32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DBEAFE"/>
          </a:solidFill>
          <a:ln w="38100">
            <a:solidFill>
              <a:srgbClr val="2563EB"/>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En contenedores la IP cambia en cada arranque y al escalar hay N instancias: el nombre (naming) se separa de la dirección (binding).</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Eureka: heartbeat cada 30 s, expulsión a los 90 s. En Kubernetes lo hacen Service + CoreDNS. La JVM cachea DNS 30 s.</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Roblox, 28 al 31-oct-2021: Consul degeneró bajo carga, los servicios dejaron de encontrarse y la telemetría dependía de Consul. 73 horas.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Config server: la imagen es el uniforme, la configuración es el gafete</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21/32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  ·  válvula: se salta si falta tiempo</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DBEAFE"/>
          </a:solidFill>
          <a:ln w="38100">
            <a:solidFill>
              <a:srgbClr val="2563EB"/>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La misma imagen corre en desarrollo y producción con valores distintos; config dentro de la imagen = reconstruir para cambiar un valor.</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Factor III de The Twelve-Factor App: config es "everything that is likely to vary between deploys". Spring Cloud Config 5, ConfigMaps, Vault.</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Fastly, 8-jun-2021: un cambio de configuración válido disparó un bug latente; 85 % de la red con errores durante 49 minutos.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Broker: de "procesar ahora" a "procesar eventualmente"</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22/32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38100">
            <a:solidFill>
              <a:srgbClr val="2563EB"/>
            </a:solidFill>
            <a:prstDash val="solid"/>
          </a:ln>
        </p:spPr>
      </p:sp>
      <p:pic>
        <p:nvPicPr>
          <p:cNvPr id="19" name="Image 2" descr="preencoded.png">    </p:cNvPr>
          <p:cNvPicPr>
            <a:picLocks noChangeAspect="1"/>
          </p:cNvPicPr>
          <p:nvPr/>
        </p:nvPicPr>
        <p:blipFill>
          <a:blip r:embed="rId3"/>
          <a:stretch>
            <a:fillRect/>
          </a:stretch>
        </p:blipFill>
        <p:spPr>
          <a:xfrm>
            <a:off x="4334256" y="3657600"/>
            <a:ext cx="274320" cy="27432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Una llamada síncrona acopla disponibilidad: si notificaciones está caído, la transferencia falla. El broker guarda el mensaje para después.</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At-least-once: ack tras persistir; sin ack, reentrega; N fallos, dead-letter queue. RabbitMQ 4.0 (sep-2024), Kafka 4.0 sin ZooKeeper (mar-2025).</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AWS Kinesis, 25-nov-2020: Cognito escribía al broker de forma bloqueante; con el broker caído, el servicio "asíncrono" cayó también.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Caché: una copia que se permite estar vieja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23/32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DBEAFE"/>
          </a:solidFill>
          <a:ln w="38100">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La base de datos es el recurso caro y compartido. Cache-aside: si la llave está, hit; si no, miss: se lee de la base y se guarda con TTL.</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De 99 % a 98 % de aciertos se duplica el tráfico a la base. Lo difícil es invalidar. Redis 8 (may-2025, AGPLv3) y Valkey (2024).</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Slack, 22-feb-2022: nodos de Memcached sustituidos por instancias vacías en el pico; la base hizo timeout y la caché no se podía rellenar.</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Observabilidad: sin trace id hay veinte bitácoras y ninguna historia</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24/32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DBEAFE"/>
          </a:solidFill>
          <a:ln w="38100">
            <a:solidFill>
              <a:srgbClr val="2563EB"/>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Problema que resuelve</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Cuando una operación cruza varios servicios, ¿dónde falló y dónde tardó? Logs (qué pasó aquí), métricas (cómo se comporta), trazas (el recorrido).</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W3C traceparent = versión, trace id, parent id, flags; viaja en cada llamada. OpenTelemetry con las tres señales estables; Jaeger v2 (nov-2024).</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Incidente real</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El monitoreo que depende de lo que monitorea: la telemetría de Roblox dependía de Consul; CloudWatch dependía de Kinesis (2020).</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Diseña en 3 minutos: notificaciones está caído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25/32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 · Las seis piezas  ·  válvula: se salta si falta tiempo</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en parejas</a:t>
            </a:r>
            <a:endParaRPr lang="en-US" sz="1100" dirty="0"/>
          </a:p>
        </p:txBody>
      </p:sp>
      <p:sp>
        <p:nvSpPr>
          <p:cNvPr id="8" name="Shape 5"/>
          <p:cNvSpPr/>
          <p:nvPr/>
        </p:nvSpPr>
        <p:spPr>
          <a:xfrm>
            <a:off x="457200" y="1371600"/>
            <a:ext cx="6858000" cy="3017520"/>
          </a:xfrm>
          <a:prstGeom prst="roundRect">
            <a:avLst>
              <a:gd name="adj" fmla="val 2424"/>
            </a:avLst>
          </a:prstGeom>
          <a:solidFill>
            <a:srgbClr val="FFFFFF"/>
          </a:solidFill>
          <a:ln w="12700">
            <a:solidFill>
              <a:srgbClr val="D9E2EE"/>
            </a:solidFill>
            <a:prstDash val="solid"/>
          </a:ln>
        </p:spPr>
      </p:sp>
      <p:pic>
        <p:nvPicPr>
          <p:cNvPr id="9" name="Image 1" descr="preencoded.png">    </p:cNvPr>
          <p:cNvPicPr>
            <a:picLocks noChangeAspect="1"/>
          </p:cNvPicPr>
          <p:nvPr/>
        </p:nvPicPr>
        <p:blipFill>
          <a:blip r:embed="rId2"/>
          <a:stretch>
            <a:fillRect/>
          </a:stretch>
        </p:blipFill>
        <p:spPr>
          <a:xfrm>
            <a:off x="621792" y="1508760"/>
            <a:ext cx="274320" cy="274320"/>
          </a:xfrm>
          <a:prstGeom prst="rect">
            <a:avLst/>
          </a:prstGeom>
        </p:spPr>
      </p:pic>
      <p:sp>
        <p:nvSpPr>
          <p:cNvPr id="10" name="Text 6"/>
          <p:cNvSpPr txBox="1"/>
          <p:nvPr/>
        </p:nvSpPr>
        <p:spPr>
          <a:xfrm>
            <a:off x="1005840" y="1481328"/>
            <a:ext cx="61447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El reto</a:t>
            </a:r>
            <a:endParaRPr lang="en-US" sz="1300" dirty="0"/>
          </a:p>
        </p:txBody>
      </p:sp>
      <p:sp>
        <p:nvSpPr>
          <p:cNvPr id="11" name="Text 7"/>
          <p:cNvSpPr txBox="1"/>
          <p:nvPr/>
        </p:nvSpPr>
        <p:spPr>
          <a:xfrm>
            <a:off x="621792" y="1847088"/>
            <a:ext cx="6528816" cy="2432304"/>
          </a:xfrm>
          <a:prstGeom prst="rect">
            <a:avLst/>
          </a:prstGeom>
          <a:noFill/>
          <a:ln/>
        </p:spPr>
        <p:txBody>
          <a:bodyPr wrap="square" lIns="0" tIns="0" rIns="0" bIns="0" rtlCol="0" anchor="t"/>
          <a:lstStyle/>
          <a:p>
            <a:pPr indent="0" marL="0">
              <a:spcAft>
                <a:spcPts val="400"/>
              </a:spcAft>
              <a:buNone/>
            </a:pPr>
            <a:r>
              <a:rPr lang="en-US" sz="1500" dirty="0">
                <a:solidFill>
                  <a:srgbClr val="12253D"/>
                </a:solidFill>
                <a:latin typeface="Calibri" pitchFamily="34" charset="0"/>
                <a:ea typeface="Calibri" pitchFamily="34" charset="-122"/>
                <a:cs typeface="Calibri" pitchFamily="34" charset="-120"/>
              </a:rPr>
              <a:t>Mexi Banco: una transferencia de $250 debe descontar de cuentas, registrarse en transferencias y avisar por SMS. El servicio de notificaciones lleva 10 minutos caído.</a:t>
            </a:r>
            <a:endParaRPr lang="en-US" sz="1500" dirty="0"/>
          </a:p>
          <a:p>
            <a:pPr indent="0" marL="0">
              <a:spcAft>
                <a:spcPts val="400"/>
              </a:spcAft>
              <a:buNone/>
            </a:pPr>
            <a:endParaRPr lang="en-US" sz="1500" dirty="0"/>
          </a:p>
          <a:p>
            <a:pPr indent="0" marL="0">
              <a:spcAft>
                <a:spcPts val="400"/>
              </a:spcAft>
              <a:buNone/>
            </a:pPr>
            <a:r>
              <a:rPr lang="en-US" sz="1500" dirty="0">
                <a:solidFill>
                  <a:srgbClr val="12253D"/>
                </a:solidFill>
                <a:latin typeface="Calibri" pitchFamily="34" charset="0"/>
                <a:ea typeface="Calibri" pitchFamily="34" charset="-122"/>
                <a:cs typeface="Calibri" pitchFamily="34" charset="-120"/>
              </a:rPr>
              <a:t>Dibujen el flujo con las piezas de hoy y respondan: ¿la transferencia se completa? ¿Cuándo llega el SMS? ¿Qué pieza guarda el aviso mientras tanto y qué pasa si llega dos veces?</a:t>
            </a:r>
            <a:endParaRPr lang="en-US" sz="1500" dirty="0"/>
          </a:p>
        </p:txBody>
      </p:sp>
      <p:sp>
        <p:nvSpPr>
          <p:cNvPr id="12" name="Shape 8"/>
          <p:cNvSpPr/>
          <p:nvPr/>
        </p:nvSpPr>
        <p:spPr>
          <a:xfrm>
            <a:off x="7589520" y="1371600"/>
            <a:ext cx="4114800" cy="3017520"/>
          </a:xfrm>
          <a:prstGeom prst="roundRect">
            <a:avLst>
              <a:gd name="adj" fmla="val 2424"/>
            </a:avLst>
          </a:prstGeom>
          <a:solidFill>
            <a:srgbClr val="FFFFFF"/>
          </a:solidFill>
          <a:ln w="12700">
            <a:solidFill>
              <a:srgbClr val="D9E2EE"/>
            </a:solidFill>
            <a:prstDash val="solid"/>
          </a:ln>
        </p:spPr>
      </p:sp>
      <p:pic>
        <p:nvPicPr>
          <p:cNvPr id="13" name="Image 2" descr="preencoded.png">    </p:cNvPr>
          <p:cNvPicPr>
            <a:picLocks noChangeAspect="1"/>
          </p:cNvPicPr>
          <p:nvPr/>
        </p:nvPicPr>
        <p:blipFill>
          <a:blip r:embed="rId3"/>
          <a:stretch>
            <a:fillRect/>
          </a:stretch>
        </p:blipFill>
        <p:spPr>
          <a:xfrm>
            <a:off x="7754112" y="1508760"/>
            <a:ext cx="274320" cy="274320"/>
          </a:xfrm>
          <a:prstGeom prst="rect">
            <a:avLst/>
          </a:prstGeom>
        </p:spPr>
      </p:pic>
      <p:sp>
        <p:nvSpPr>
          <p:cNvPr id="14" name="Text 9"/>
          <p:cNvSpPr txBox="1"/>
          <p:nvPr/>
        </p:nvSpPr>
        <p:spPr>
          <a:xfrm>
            <a:off x="8138160" y="1481328"/>
            <a:ext cx="34015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Criterio de éxito</a:t>
            </a:r>
            <a:endParaRPr lang="en-US" sz="1300" dirty="0"/>
          </a:p>
        </p:txBody>
      </p:sp>
      <p:sp>
        <p:nvSpPr>
          <p:cNvPr id="15" name="Text 10"/>
          <p:cNvSpPr txBox="1"/>
          <p:nvPr/>
        </p:nvSpPr>
        <p:spPr>
          <a:xfrm>
            <a:off x="7754112" y="1847088"/>
            <a:ext cx="3785616" cy="243230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Aparecen el broker, el ack y la idempotencia del consumidor.</a:t>
            </a:r>
            <a:endParaRPr lang="en-US" sz="1400" dirty="0"/>
          </a:p>
          <a:p>
            <a:pPr indent="0" marL="0">
              <a:spcAft>
                <a:spcPts val="400"/>
              </a:spcAft>
              <a:buNone/>
            </a:pPr>
            <a:endParaRPr lang="en-US" sz="1400" dirty="0"/>
          </a:p>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Se dice qué se sacrifica: el SMS deja de ser inmediato.</a:t>
            </a:r>
            <a:endParaRPr lang="en-US" sz="1400" dirty="0"/>
          </a:p>
          <a:p>
            <a:pPr indent="0" marL="0">
              <a:spcAft>
                <a:spcPts val="400"/>
              </a:spcAft>
              <a:buNone/>
            </a:pPr>
            <a:endParaRPr lang="en-US" sz="1400" dirty="0"/>
          </a:p>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Dos parejas comparten su dibujo en el chat.</a:t>
            </a:r>
            <a:endParaRPr lang="en-US" sz="1400" dirty="0"/>
          </a:p>
        </p:txBody>
      </p:sp>
      <p:sp>
        <p:nvSpPr>
          <p:cNvPr id="16" name="Text 11"/>
          <p:cNvSpPr txBox="1"/>
          <p:nvPr/>
        </p:nvSpPr>
        <p:spPr>
          <a:xfrm>
            <a:off x="457200" y="4663440"/>
            <a:ext cx="2286000" cy="502920"/>
          </a:xfrm>
          <a:prstGeom prst="rect">
            <a:avLst/>
          </a:prstGeom>
          <a:noFill/>
          <a:ln/>
        </p:spPr>
        <p:txBody>
          <a:bodyPr wrap="square" lIns="0" tIns="0" rIns="0" bIns="0" rtlCol="0" anchor="b"/>
          <a:lstStyle/>
          <a:p>
            <a:pPr algn="l" indent="0" marL="0">
              <a:buNone/>
            </a:pPr>
            <a:r>
              <a:rPr lang="en-US" sz="3000" b="1" dirty="0">
                <a:solidFill>
                  <a:srgbClr val="12253D"/>
                </a:solidFill>
                <a:latin typeface="Calibri" pitchFamily="34" charset="0"/>
                <a:ea typeface="Calibri" pitchFamily="34" charset="-122"/>
                <a:cs typeface="Calibri" pitchFamily="34" charset="-120"/>
              </a:rPr>
              <a:t>3 min</a:t>
            </a:r>
            <a:endParaRPr lang="en-US" sz="3000" dirty="0"/>
          </a:p>
        </p:txBody>
      </p:sp>
      <p:sp>
        <p:nvSpPr>
          <p:cNvPr id="17" name="Text 12"/>
          <p:cNvSpPr txBox="1"/>
          <p:nvPr/>
        </p:nvSpPr>
        <p:spPr>
          <a:xfrm>
            <a:off x="457200" y="5166360"/>
            <a:ext cx="2286000"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reloj en pantalla</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600" b="1" dirty="0">
                <a:solidFill>
                  <a:srgbClr val="12253D"/>
                </a:solidFill>
                <a:latin typeface="Calibri" pitchFamily="34" charset="0"/>
                <a:ea typeface="Calibri" pitchFamily="34" charset="-122"/>
                <a:cs typeface="Calibri" pitchFamily="34" charset="-120"/>
              </a:rPr>
              <a:t>Cada servicio es dueño de su almacén; se elige por patrón de acceso</a:t>
            </a:r>
            <a:endParaRPr lang="en-US" sz="26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26/32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E · Los datos</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38100">
            <a:solidFill>
              <a:srgbClr val="2563EB"/>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38100">
            <a:solidFill>
              <a:srgbClr val="2563EB"/>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38100">
            <a:solidFill>
              <a:srgbClr val="2563EB"/>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193792"/>
            <a:ext cx="3611880" cy="1097280"/>
          </a:xfrm>
          <a:prstGeom prst="roundRect">
            <a:avLst>
              <a:gd name="adj" fmla="val 6667"/>
            </a:avLst>
          </a:prstGeom>
          <a:solidFill>
            <a:srgbClr val="FFFFFF"/>
          </a:solidFill>
          <a:ln w="12700">
            <a:solidFill>
              <a:srgbClr val="D9E2EE"/>
            </a:solidFill>
            <a:prstDash val="solid"/>
          </a:ln>
        </p:spPr>
      </p:sp>
      <p:pic>
        <p:nvPicPr>
          <p:cNvPr id="56" name="Image 10" descr="preencoded.png">    </p:cNvPr>
          <p:cNvPicPr>
            <a:picLocks noChangeAspect="1"/>
          </p:cNvPicPr>
          <p:nvPr/>
        </p:nvPicPr>
        <p:blipFill>
          <a:blip r:embed="rId11"/>
          <a:stretch>
            <a:fillRect/>
          </a:stretch>
        </p:blipFill>
        <p:spPr>
          <a:xfrm>
            <a:off x="621792" y="5330952"/>
            <a:ext cx="274320" cy="274320"/>
          </a:xfrm>
          <a:prstGeom prst="rect">
            <a:avLst/>
          </a:prstGeom>
        </p:spPr>
      </p:pic>
      <p:sp>
        <p:nvSpPr>
          <p:cNvPr id="57" name="Text 44"/>
          <p:cNvSpPr txBox="1"/>
          <p:nvPr/>
        </p:nvSpPr>
        <p:spPr>
          <a:xfrm>
            <a:off x="100584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La regla</a:t>
            </a:r>
            <a:endParaRPr lang="en-US" sz="1100" dirty="0"/>
          </a:p>
        </p:txBody>
      </p:sp>
      <p:sp>
        <p:nvSpPr>
          <p:cNvPr id="58" name="Text 45"/>
          <p:cNvSpPr txBox="1"/>
          <p:nvPr/>
        </p:nvSpPr>
        <p:spPr>
          <a:xfrm>
            <a:off x="62179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Los datos de un servicio se leen por su API o sus eventos, nunca entrando a la base de datos ajena.</a:t>
            </a:r>
            <a:endParaRPr lang="en-US" sz="1050" dirty="0"/>
          </a:p>
        </p:txBody>
      </p:sp>
      <p:sp>
        <p:nvSpPr>
          <p:cNvPr id="59" name="Shape 46"/>
          <p:cNvSpPr/>
          <p:nvPr/>
        </p:nvSpPr>
        <p:spPr>
          <a:xfrm>
            <a:off x="4251960" y="5193792"/>
            <a:ext cx="3611880" cy="1097280"/>
          </a:xfrm>
          <a:prstGeom prst="roundRect">
            <a:avLst>
              <a:gd name="adj" fmla="val 6667"/>
            </a:avLst>
          </a:prstGeom>
          <a:solidFill>
            <a:srgbClr val="FFFFFF"/>
          </a:solidFill>
          <a:ln w="12700">
            <a:solidFill>
              <a:srgbClr val="D9E2EE"/>
            </a:solidFill>
            <a:prstDash val="solid"/>
          </a:ln>
        </p:spPr>
      </p:sp>
      <p:pic>
        <p:nvPicPr>
          <p:cNvPr id="60" name="Image 11" descr="preencoded.png">    </p:cNvPr>
          <p:cNvPicPr>
            <a:picLocks noChangeAspect="1"/>
          </p:cNvPicPr>
          <p:nvPr/>
        </p:nvPicPr>
        <p:blipFill>
          <a:blip r:embed="rId12"/>
          <a:stretch>
            <a:fillRect/>
          </a:stretch>
        </p:blipFill>
        <p:spPr>
          <a:xfrm>
            <a:off x="4416552" y="5330952"/>
            <a:ext cx="274320" cy="274320"/>
          </a:xfrm>
          <a:prstGeom prst="rect">
            <a:avLst/>
          </a:prstGeom>
        </p:spPr>
      </p:pic>
      <p:sp>
        <p:nvSpPr>
          <p:cNvPr id="61" name="Text 47"/>
          <p:cNvSpPr txBox="1"/>
          <p:nvPr/>
        </p:nvSpPr>
        <p:spPr>
          <a:xfrm>
            <a:off x="480060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Dato duro</a:t>
            </a:r>
            <a:endParaRPr lang="en-US" sz="1100" dirty="0"/>
          </a:p>
        </p:txBody>
      </p:sp>
      <p:sp>
        <p:nvSpPr>
          <p:cNvPr id="62" name="Text 48"/>
          <p:cNvSpPr txBox="1"/>
          <p:nvPr/>
        </p:nvSpPr>
        <p:spPr>
          <a:xfrm>
            <a:off x="441655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Fowler acuñó polyglot persistence el 16-nov-2011: primero cómo se manipulan los datos, después la tecnología.</a:t>
            </a:r>
            <a:endParaRPr lang="en-US" sz="1050" dirty="0"/>
          </a:p>
        </p:txBody>
      </p:sp>
      <p:sp>
        <p:nvSpPr>
          <p:cNvPr id="63" name="Shape 49"/>
          <p:cNvSpPr/>
          <p:nvPr/>
        </p:nvSpPr>
        <p:spPr>
          <a:xfrm>
            <a:off x="8046720" y="5193792"/>
            <a:ext cx="3611880" cy="1097280"/>
          </a:xfrm>
          <a:prstGeom prst="roundRect">
            <a:avLst>
              <a:gd name="adj" fmla="val 6667"/>
            </a:avLst>
          </a:prstGeom>
          <a:solidFill>
            <a:srgbClr val="FFFFFF"/>
          </a:solidFill>
          <a:ln w="12700">
            <a:solidFill>
              <a:srgbClr val="D9E2EE"/>
            </a:solidFill>
            <a:prstDash val="solid"/>
          </a:ln>
        </p:spPr>
      </p:sp>
      <p:pic>
        <p:nvPicPr>
          <p:cNvPr id="64" name="Image 12" descr="preencoded.png">    </p:cNvPr>
          <p:cNvPicPr>
            <a:picLocks noChangeAspect="1"/>
          </p:cNvPicPr>
          <p:nvPr/>
        </p:nvPicPr>
        <p:blipFill>
          <a:blip r:embed="rId13"/>
          <a:stretch>
            <a:fillRect/>
          </a:stretch>
        </p:blipFill>
        <p:spPr>
          <a:xfrm>
            <a:off x="8211312" y="5330952"/>
            <a:ext cx="274320" cy="274320"/>
          </a:xfrm>
          <a:prstGeom prst="rect">
            <a:avLst/>
          </a:prstGeom>
        </p:spPr>
      </p:pic>
      <p:sp>
        <p:nvSpPr>
          <p:cNvPr id="65" name="Text 50"/>
          <p:cNvSpPr txBox="1"/>
          <p:nvPr/>
        </p:nvSpPr>
        <p:spPr>
          <a:xfrm>
            <a:off x="8595360" y="5303520"/>
            <a:ext cx="2898648" cy="329184"/>
          </a:xfrm>
          <a:prstGeom prst="rect">
            <a:avLst/>
          </a:prstGeom>
          <a:noFill/>
          <a:ln/>
        </p:spPr>
        <p:txBody>
          <a:bodyPr wrap="square" lIns="0" tIns="0" rIns="0" bIns="0" rtlCol="0" anchor="ctr"/>
          <a:lstStyle/>
          <a:p>
            <a:pPr indent="0" marL="0">
              <a:buNone/>
            </a:pPr>
            <a:r>
              <a:rPr lang="en-US" sz="1100" b="1" dirty="0">
                <a:solidFill>
                  <a:srgbClr val="4B6178"/>
                </a:solidFill>
                <a:latin typeface="Calibri" pitchFamily="34" charset="0"/>
                <a:ea typeface="Calibri" pitchFamily="34" charset="-122"/>
                <a:cs typeface="Calibri" pitchFamily="34" charset="-120"/>
              </a:rPr>
              <a:t>Lo que se pierde</a:t>
            </a:r>
            <a:endParaRPr lang="en-US" sz="1100" dirty="0"/>
          </a:p>
        </p:txBody>
      </p:sp>
      <p:sp>
        <p:nvSpPr>
          <p:cNvPr id="66" name="Text 51"/>
          <p:cNvSpPr txBox="1"/>
          <p:nvPr/>
        </p:nvSpPr>
        <p:spPr>
          <a:xfrm>
            <a:off x="8211312" y="5669280"/>
            <a:ext cx="3282696" cy="512064"/>
          </a:xfrm>
          <a:prstGeom prst="rect">
            <a:avLst/>
          </a:prstGeom>
          <a:noFill/>
          <a:ln/>
        </p:spPr>
        <p:txBody>
          <a:bodyPr wrap="square" lIns="0" tIns="0" rIns="0" bIns="0" rtlCol="0" anchor="t"/>
          <a:lstStyle/>
          <a:p>
            <a:pPr indent="0" marL="0">
              <a:spcAft>
                <a:spcPts val="400"/>
              </a:spcAft>
              <a:buNone/>
            </a:pPr>
            <a:r>
              <a:rPr lang="en-US" sz="1050" dirty="0">
                <a:solidFill>
                  <a:srgbClr val="12253D"/>
                </a:solidFill>
                <a:latin typeface="Calibri" pitchFamily="34" charset="0"/>
                <a:ea typeface="Calibri" pitchFamily="34" charset="-122"/>
                <a:cs typeface="Calibri" pitchFamily="34" charset="-120"/>
              </a:rPr>
              <a:t>No hay joins ni transacciones entre servicios: la consistencia se vuelve diseño (S6, S12); hacen falta eventos e idempotencia.</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2400" b="1" dirty="0">
                <a:solidFill>
                  <a:srgbClr val="12253D"/>
                </a:solidFill>
                <a:latin typeface="Calibri" pitchFamily="34" charset="0"/>
                <a:ea typeface="Calibri" pitchFamily="34" charset="-122"/>
                <a:cs typeface="Calibri" pitchFamily="34" charset="-120"/>
              </a:rPr>
              <a:t>Seis familias, seis preguntas: el criterio es cómo se lee y cómo se escribe</a:t>
            </a:r>
            <a:endParaRPr lang="en-US" sz="24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27/32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E · Los datos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1645920"/>
                <a:gridCol w="3566160"/>
                <a:gridCol w="3017520"/>
                <a:gridCol w="3017520"/>
              </a:tblGrid>
              <a:tr h="512064">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Familia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Fortaleza</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Caso típico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c>
                  <a:txBody>
                    <a:bodyPr/>
                    <a:lstStyle/>
                    <a:p>
                      <a:pPr indent="0" marL="0">
                        <a:buNone/>
                      </a:pPr>
                      <a:r>
                        <a:rPr lang="en-US" sz="1200" b="1" dirty="0">
                          <a:solidFill>
                            <a:srgbClr val="12253D"/>
                          </a:solidFill>
                          <a:latin typeface="Calibri" pitchFamily="34" charset="0"/>
                          <a:ea typeface="Calibri" pitchFamily="34" charset="-122"/>
                          <a:cs typeface="Calibri" pitchFamily="34" charset="-120"/>
                        </a:rPr>
                        <a:t>Ejemplo · AWS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E8EEF6"/>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Relacional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ACID, joins, integridad (UNIQUE)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cuentas, transferencias, libro mayor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PostgreSQL · Aurora, RDS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Documental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el agregado completo en una lectura, esquema flexible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expediente de cliente, catálogo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MongoDB · DocumentDB</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Llave-valor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acceso por llave en microsegundos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caché, sesiones, contadores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Redis, Valkey · DynamoDB, ElastiCache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Columnar</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agregaciones sobre muchas filas y pocas columnas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analítica, series de tiempo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Cassandra · Redshift, Keyspaces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Grafo</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recorrer relaciones de profundidad variable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fraude, recomendaciones, avales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Neo4j · Neptune</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Objetos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archivos grandes e inmutables por URL</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documentos, imágenes, respaldos</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c>
                  <a:txBody>
                    <a:bodyPr/>
                    <a:lstStyle/>
                    <a:p>
                      <a:pPr indent="0" marL="0">
                        <a:buNone/>
                      </a:pPr>
                      <a:r>
                        <a:rPr lang="en-US" sz="1200" dirty="0">
                          <a:solidFill>
                            <a:srgbClr val="12253D"/>
                          </a:solidFill>
                          <a:latin typeface="Calibri" pitchFamily="34" charset="0"/>
                          <a:ea typeface="Calibri" pitchFamily="34" charset="-122"/>
                          <a:cs typeface="Calibri" pitchFamily="34" charset="-120"/>
                        </a:rPr>
                        <a:t>MinIO · S3</a:t>
                      </a:r>
                      <a:endParaRPr lang="en-US" sz="1200" dirty="0">
                        <a:latin typeface="Calibri" charset="0"/>
                        <a:ea typeface="Calibri" charset="0"/>
                        <a:cs typeface="Calibri" charset="0"/>
                      </a:endParaRPr>
                    </a:p>
                  </a:txBody>
                  <a:tcPr marL="63500" marR="63500" marT="38100" marB="38100" anchor="ctr">
                    <a:lnL w="9525" cap="flat" cmpd="sng" algn="ctr">
                      <a:solidFill>
                        <a:srgbClr val="D9E2EE"/>
                      </a:solidFill>
                      <a:prstDash val="solid"/>
                      <a:round/>
                      <a:headEnd type="none" w="med" len="med"/>
                      <a:tailEnd type="none" w="med" len="med"/>
                    </a:lnL>
                    <a:lnR w="9525" cap="flat" cmpd="sng" algn="ctr">
                      <a:solidFill>
                        <a:srgbClr val="D9E2EE"/>
                      </a:solidFill>
                      <a:prstDash val="solid"/>
                      <a:round/>
                      <a:headEnd type="none" w="med" len="med"/>
                      <a:tailEnd type="none" w="med" len="med"/>
                    </a:lnR>
                    <a:lnT w="9525" cap="flat" cmpd="sng" algn="ctr">
                      <a:solidFill>
                        <a:srgbClr val="D9E2EE"/>
                      </a:solidFill>
                      <a:prstDash val="solid"/>
                      <a:round/>
                      <a:headEnd type="none" w="med" len="med"/>
                      <a:tailEnd type="none" w="med" len="med"/>
                    </a:lnT>
                    <a:lnB w="9525" cap="flat" cmpd="sng" algn="ctr">
                      <a:solidFill>
                        <a:srgbClr val="D9E2E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5257800"/>
            <a:ext cx="11247120" cy="54864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En el sistema de referencia conviven tres: PostgreSQL (transaccional), MongoDB (documentos) y Redis (llave-valor). Profundización en la S9: replicación, sharding, CRDTs.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El mapa completo: seis piezas, un problema cada una</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28/32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Recap</a:t>
            </a:r>
            <a:endParaRPr lang="en-US" sz="1000" dirty="0"/>
          </a:p>
        </p:txBody>
      </p:sp>
      <p:sp>
        <p:nvSpPr>
          <p:cNvPr id="5" name="Shape 3"/>
          <p:cNvSpPr/>
          <p:nvPr/>
        </p:nvSpPr>
        <p:spPr>
          <a:xfrm>
            <a:off x="734263" y="2243023"/>
            <a:ext cx="652882" cy="652882"/>
          </a:xfrm>
          <a:prstGeom prst="ellipse">
            <a:avLst/>
          </a:prstGeom>
          <a:solidFill>
            <a:srgbClr val="E8EEF6"/>
          </a:solidFill>
          <a:ln w="12700">
            <a:solidFill>
              <a:srgbClr val="E8EEF6"/>
            </a:solidFill>
            <a:prstDash val="solid"/>
          </a:ln>
        </p:spPr>
      </p:sp>
      <p:pic>
        <p:nvPicPr>
          <p:cNvPr id="6" name="Image 0" descr="preencoded.png">    </p:cNvPr>
          <p:cNvPicPr>
            <a:picLocks noChangeAspect="1"/>
          </p:cNvPicPr>
          <p:nvPr/>
        </p:nvPicPr>
        <p:blipFill>
          <a:blip r:embed="rId1"/>
          <a:stretch>
            <a:fillRect/>
          </a:stretch>
        </p:blipFill>
        <p:spPr>
          <a:xfrm>
            <a:off x="868680" y="2377440"/>
            <a:ext cx="384048" cy="384048"/>
          </a:xfrm>
          <a:prstGeom prst="rect">
            <a:avLst/>
          </a:prstGeom>
        </p:spPr>
      </p:pic>
      <p:sp>
        <p:nvSpPr>
          <p:cNvPr id="7" name="Text 4"/>
          <p:cNvSpPr txBox="1"/>
          <p:nvPr/>
        </p:nvSpPr>
        <p:spPr>
          <a:xfrm>
            <a:off x="320040" y="3108960"/>
            <a:ext cx="1463040" cy="548640"/>
          </a:xfrm>
          <a:prstGeom prst="rect">
            <a:avLst/>
          </a:prstGeom>
          <a:noFill/>
          <a:ln/>
        </p:spPr>
        <p:txBody>
          <a:bodyPr wrap="square" lIns="0" tIns="0" rIns="0" bIns="0" rtlCol="0" anchor="t"/>
          <a:lstStyle/>
          <a:p>
            <a:pPr algn="ctr" indent="0" marL="0">
              <a:buNone/>
            </a:pPr>
            <a:r>
              <a:rPr lang="en-US" sz="1100" dirty="0">
                <a:solidFill>
                  <a:srgbClr val="4B6178"/>
                </a:solidFill>
                <a:latin typeface="Calibri" pitchFamily="34" charset="0"/>
                <a:ea typeface="Calibri" pitchFamily="34" charset="-122"/>
                <a:cs typeface="Calibri" pitchFamily="34" charset="-120"/>
              </a:rPr>
              <a:t>Clientes</a:t>
            </a:r>
            <a:endParaRPr lang="en-US" sz="1100" dirty="0"/>
          </a:p>
          <a:p>
            <a:pPr algn="ctr" indent="0" marL="0">
              <a:buNone/>
            </a:pPr>
            <a:r>
              <a:rPr lang="en-US" sz="1100" dirty="0">
                <a:solidFill>
                  <a:srgbClr val="4B6178"/>
                </a:solidFill>
                <a:latin typeface="Calibri" pitchFamily="34" charset="0"/>
                <a:ea typeface="Calibri" pitchFamily="34" charset="-122"/>
                <a:cs typeface="Calibri" pitchFamily="34" charset="-120"/>
              </a:rPr>
              <a:t>app y web</a:t>
            </a:r>
            <a:endParaRPr lang="en-US" sz="1100" dirty="0"/>
          </a:p>
        </p:txBody>
      </p:sp>
      <p:sp>
        <p:nvSpPr>
          <p:cNvPr id="8" name="Shape 5"/>
          <p:cNvSpPr/>
          <p:nvPr/>
        </p:nvSpPr>
        <p:spPr>
          <a:xfrm>
            <a:off x="1874520" y="2286000"/>
            <a:ext cx="1508760" cy="685800"/>
          </a:xfrm>
          <a:prstGeom prst="roundRect">
            <a:avLst>
              <a:gd name="adj" fmla="val 10667"/>
            </a:avLst>
          </a:prstGeom>
          <a:solidFill>
            <a:srgbClr val="E8EEF6"/>
          </a:solidFill>
          <a:ln w="12700">
            <a:solidFill>
              <a:srgbClr val="4B6178"/>
            </a:solidFill>
            <a:prstDash val="solid"/>
          </a:ln>
        </p:spPr>
      </p:sp>
      <p:pic>
        <p:nvPicPr>
          <p:cNvPr id="9" name="Image 1" descr="preencoded.png">    </p:cNvPr>
          <p:cNvPicPr>
            <a:picLocks noChangeAspect="1"/>
          </p:cNvPicPr>
          <p:nvPr/>
        </p:nvPicPr>
        <p:blipFill>
          <a:blip r:embed="rId2"/>
          <a:stretch>
            <a:fillRect/>
          </a:stretch>
        </p:blipFill>
        <p:spPr>
          <a:xfrm>
            <a:off x="2002536" y="2491740"/>
            <a:ext cx="274320" cy="274320"/>
          </a:xfrm>
          <a:prstGeom prst="rect">
            <a:avLst/>
          </a:prstGeom>
        </p:spPr>
      </p:pic>
      <p:sp>
        <p:nvSpPr>
          <p:cNvPr id="10" name="Text 6"/>
          <p:cNvSpPr txBox="1"/>
          <p:nvPr/>
        </p:nvSpPr>
        <p:spPr>
          <a:xfrm>
            <a:off x="2350008" y="2286000"/>
            <a:ext cx="941832" cy="685800"/>
          </a:xfrm>
          <a:prstGeom prst="rect">
            <a:avLst/>
          </a:prstGeom>
          <a:noFill/>
          <a:ln/>
        </p:spPr>
        <p:txBody>
          <a:bodyPr wrap="square" lIns="0" tIns="0" rIns="0" bIns="0" rtlCol="0" anchor="ctr"/>
          <a:lstStyle/>
          <a:p>
            <a:pPr algn="l" indent="0" marL="0">
              <a:buNone/>
            </a:pPr>
            <a:r>
              <a:rPr lang="en-US" sz="1300" b="1" dirty="0">
                <a:solidFill>
                  <a:srgbClr val="12253D"/>
                </a:solidFill>
                <a:latin typeface="Calibri" pitchFamily="34" charset="0"/>
                <a:ea typeface="Calibri" pitchFamily="34" charset="-122"/>
                <a:cs typeface="Calibri" pitchFamily="34" charset="-120"/>
              </a:rPr>
              <a:t>API Gateway</a:t>
            </a:r>
            <a:endParaRPr lang="en-US" sz="1300" dirty="0"/>
          </a:p>
        </p:txBody>
      </p:sp>
      <p:sp>
        <p:nvSpPr>
          <p:cNvPr id="11" name="Shape 7"/>
          <p:cNvSpPr/>
          <p:nvPr/>
        </p:nvSpPr>
        <p:spPr>
          <a:xfrm>
            <a:off x="1481328" y="2624328"/>
            <a:ext cx="393192" cy="0"/>
          </a:xfrm>
          <a:prstGeom prst="line">
            <a:avLst/>
          </a:prstGeom>
          <a:noFill/>
          <a:ln w="22225">
            <a:solidFill>
              <a:srgbClr val="4B6178"/>
            </a:solidFill>
            <a:prstDash val="solid"/>
            <a:tailEnd type="triangle"/>
          </a:ln>
        </p:spPr>
      </p:sp>
      <p:sp>
        <p:nvSpPr>
          <p:cNvPr id="12" name="Shape 8"/>
          <p:cNvSpPr/>
          <p:nvPr/>
        </p:nvSpPr>
        <p:spPr>
          <a:xfrm>
            <a:off x="3886200" y="1298448"/>
            <a:ext cx="5806440" cy="3749040"/>
          </a:xfrm>
          <a:prstGeom prst="roundRect">
            <a:avLst>
              <a:gd name="adj" fmla="val 1951"/>
            </a:avLst>
          </a:prstGeom>
          <a:solidFill>
            <a:srgbClr val="F5F8FC">
              <a:alpha val="0"/>
            </a:srgbClr>
          </a:solidFill>
          <a:ln w="12700">
            <a:solidFill>
              <a:srgbClr val="4B6178"/>
            </a:solidFill>
            <a:prstDash val="dash"/>
          </a:ln>
        </p:spPr>
      </p:sp>
      <p:sp>
        <p:nvSpPr>
          <p:cNvPr id="13" name="Text 9"/>
          <p:cNvSpPr txBox="1"/>
          <p:nvPr/>
        </p:nvSpPr>
        <p:spPr>
          <a:xfrm>
            <a:off x="3977640" y="1325880"/>
            <a:ext cx="3657600" cy="228600"/>
          </a:xfrm>
          <a:prstGeom prst="rect">
            <a:avLst/>
          </a:prstGeom>
          <a:noFill/>
          <a:ln/>
        </p:spPr>
        <p:txBody>
          <a:bodyPr wrap="square" lIns="0" tIns="0" rIns="0" bIns="0" rtlCol="0" anchor="t"/>
          <a:lstStyle/>
          <a:p>
            <a:pPr indent="0" marL="0">
              <a:buNone/>
            </a:pPr>
            <a:r>
              <a:rPr lang="en-US" sz="1000" i="1" dirty="0">
                <a:solidFill>
                  <a:srgbClr val="4B6178"/>
                </a:solidFill>
                <a:latin typeface="Calibri" pitchFamily="34" charset="0"/>
                <a:ea typeface="Calibri" pitchFamily="34" charset="-122"/>
                <a:cs typeface="Calibri" pitchFamily="34" charset="-120"/>
              </a:rPr>
              <a:t>red interna: cada flecha cruza la red</a:t>
            </a:r>
            <a:endParaRPr lang="en-US" sz="1000" dirty="0"/>
          </a:p>
        </p:txBody>
      </p:sp>
      <p:sp>
        <p:nvSpPr>
          <p:cNvPr id="14" name="Shape 10"/>
          <p:cNvSpPr/>
          <p:nvPr/>
        </p:nvSpPr>
        <p:spPr>
          <a:xfrm>
            <a:off x="4206240" y="1645920"/>
            <a:ext cx="1737360" cy="566928"/>
          </a:xfrm>
          <a:prstGeom prst="roundRect">
            <a:avLst>
              <a:gd name="adj" fmla="val 12903"/>
            </a:avLst>
          </a:prstGeom>
          <a:solidFill>
            <a:srgbClr val="FFFFFF"/>
          </a:solidFill>
          <a:ln w="15875">
            <a:solidFill>
              <a:srgbClr val="12253D"/>
            </a:solidFill>
            <a:prstDash val="solid"/>
          </a:ln>
        </p:spPr>
      </p:sp>
      <p:sp>
        <p:nvSpPr>
          <p:cNvPr id="15" name="Text 11"/>
          <p:cNvSpPr txBox="1"/>
          <p:nvPr/>
        </p:nvSpPr>
        <p:spPr>
          <a:xfrm>
            <a:off x="4297680" y="164592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cuentas</a:t>
            </a:r>
            <a:endParaRPr lang="en-US" sz="1300" dirty="0"/>
          </a:p>
        </p:txBody>
      </p:sp>
      <p:sp>
        <p:nvSpPr>
          <p:cNvPr id="16" name="Shape 12"/>
          <p:cNvSpPr/>
          <p:nvPr/>
        </p:nvSpPr>
        <p:spPr>
          <a:xfrm>
            <a:off x="4206240" y="2697480"/>
            <a:ext cx="1737360" cy="566928"/>
          </a:xfrm>
          <a:prstGeom prst="roundRect">
            <a:avLst>
              <a:gd name="adj" fmla="val 12903"/>
            </a:avLst>
          </a:prstGeom>
          <a:solidFill>
            <a:srgbClr val="FFFFFF"/>
          </a:solidFill>
          <a:ln w="15875">
            <a:solidFill>
              <a:srgbClr val="12253D"/>
            </a:solidFill>
            <a:prstDash val="solid"/>
          </a:ln>
        </p:spPr>
      </p:sp>
      <p:sp>
        <p:nvSpPr>
          <p:cNvPr id="17" name="Text 13"/>
          <p:cNvSpPr txBox="1"/>
          <p:nvPr/>
        </p:nvSpPr>
        <p:spPr>
          <a:xfrm>
            <a:off x="4297680" y="269748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transferencias</a:t>
            </a:r>
            <a:endParaRPr lang="en-US" sz="1300" dirty="0"/>
          </a:p>
        </p:txBody>
      </p:sp>
      <p:sp>
        <p:nvSpPr>
          <p:cNvPr id="18" name="Shape 14"/>
          <p:cNvSpPr/>
          <p:nvPr/>
        </p:nvSpPr>
        <p:spPr>
          <a:xfrm>
            <a:off x="4206240" y="3566160"/>
            <a:ext cx="1737360" cy="457200"/>
          </a:xfrm>
          <a:prstGeom prst="roundRect">
            <a:avLst>
              <a:gd name="adj" fmla="val 16000"/>
            </a:avLst>
          </a:prstGeom>
          <a:solidFill>
            <a:srgbClr val="B45309"/>
          </a:solidFill>
          <a:ln w="12700">
            <a:solidFill>
              <a:srgbClr val="B45309"/>
            </a:solidFill>
            <a:prstDash val="solid"/>
          </a:ln>
        </p:spPr>
      </p:sp>
      <p:pic>
        <p:nvPicPr>
          <p:cNvPr id="19" name="Image 2" descr="preencoded.png">    </p:cNvPr>
          <p:cNvPicPr>
            <a:picLocks noChangeAspect="1"/>
          </p:cNvPicPr>
          <p:nvPr/>
        </p:nvPicPr>
        <p:blipFill>
          <a:blip r:embed="rId3"/>
          <a:stretch>
            <a:fillRect/>
          </a:stretch>
        </p:blipFill>
        <p:spPr>
          <a:xfrm>
            <a:off x="4334256" y="3680460"/>
            <a:ext cx="228600" cy="228600"/>
          </a:xfrm>
          <a:prstGeom prst="rect">
            <a:avLst/>
          </a:prstGeom>
        </p:spPr>
      </p:pic>
      <p:sp>
        <p:nvSpPr>
          <p:cNvPr id="20" name="Text 15"/>
          <p:cNvSpPr txBox="1"/>
          <p:nvPr/>
        </p:nvSpPr>
        <p:spPr>
          <a:xfrm>
            <a:off x="4681728" y="3566160"/>
            <a:ext cx="1170432"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broker · RabbitMQ</a:t>
            </a:r>
            <a:endParaRPr lang="en-US" sz="1100" dirty="0"/>
          </a:p>
        </p:txBody>
      </p:sp>
      <p:sp>
        <p:nvSpPr>
          <p:cNvPr id="21" name="Shape 16"/>
          <p:cNvSpPr/>
          <p:nvPr/>
        </p:nvSpPr>
        <p:spPr>
          <a:xfrm>
            <a:off x="4206240" y="4343400"/>
            <a:ext cx="1737360" cy="566928"/>
          </a:xfrm>
          <a:prstGeom prst="roundRect">
            <a:avLst>
              <a:gd name="adj" fmla="val 12903"/>
            </a:avLst>
          </a:prstGeom>
          <a:solidFill>
            <a:srgbClr val="FFFFFF"/>
          </a:solidFill>
          <a:ln w="15875">
            <a:solidFill>
              <a:srgbClr val="12253D"/>
            </a:solidFill>
            <a:prstDash val="solid"/>
          </a:ln>
        </p:spPr>
      </p:sp>
      <p:sp>
        <p:nvSpPr>
          <p:cNvPr id="22" name="Text 17"/>
          <p:cNvSpPr txBox="1"/>
          <p:nvPr/>
        </p:nvSpPr>
        <p:spPr>
          <a:xfrm>
            <a:off x="4297680" y="4343400"/>
            <a:ext cx="1554480" cy="566928"/>
          </a:xfrm>
          <a:prstGeom prst="rect">
            <a:avLst/>
          </a:prstGeom>
          <a:noFill/>
          <a:ln/>
        </p:spPr>
        <p:txBody>
          <a:bodyPr wrap="square" lIns="0" tIns="0" rIns="0" bIns="0" rtlCol="0" anchor="ctr"/>
          <a:lstStyle/>
          <a:p>
            <a:pPr algn="ctr" indent="0" marL="0">
              <a:buNone/>
            </a:pPr>
            <a:r>
              <a:rPr lang="en-US" sz="1300" b="1" dirty="0">
                <a:solidFill>
                  <a:srgbClr val="12253D"/>
                </a:solidFill>
                <a:latin typeface="Calibri" pitchFamily="34" charset="0"/>
                <a:ea typeface="Calibri" pitchFamily="34" charset="-122"/>
                <a:cs typeface="Calibri" pitchFamily="34" charset="-120"/>
              </a:rPr>
              <a:t>notificaciones</a:t>
            </a:r>
            <a:endParaRPr lang="en-US" sz="1300" dirty="0"/>
          </a:p>
        </p:txBody>
      </p:sp>
      <p:sp>
        <p:nvSpPr>
          <p:cNvPr id="23" name="Shape 18"/>
          <p:cNvSpPr/>
          <p:nvPr/>
        </p:nvSpPr>
        <p:spPr>
          <a:xfrm>
            <a:off x="6537960" y="1645920"/>
            <a:ext cx="1417320" cy="566928"/>
          </a:xfrm>
          <a:prstGeom prst="roundRect">
            <a:avLst>
              <a:gd name="adj" fmla="val 12903"/>
            </a:avLst>
          </a:prstGeom>
          <a:solidFill>
            <a:srgbClr val="12253D"/>
          </a:solidFill>
          <a:ln w="12700">
            <a:solidFill>
              <a:srgbClr val="12253D"/>
            </a:solidFill>
            <a:prstDash val="solid"/>
          </a:ln>
        </p:spPr>
      </p:sp>
      <p:pic>
        <p:nvPicPr>
          <p:cNvPr id="24" name="Image 3" descr="preencoded.png">    </p:cNvPr>
          <p:cNvPicPr>
            <a:picLocks noChangeAspect="1"/>
          </p:cNvPicPr>
          <p:nvPr/>
        </p:nvPicPr>
        <p:blipFill>
          <a:blip r:embed="rId4"/>
          <a:stretch>
            <a:fillRect/>
          </a:stretch>
        </p:blipFill>
        <p:spPr>
          <a:xfrm>
            <a:off x="6665976" y="1792224"/>
            <a:ext cx="274320" cy="274320"/>
          </a:xfrm>
          <a:prstGeom prst="rect">
            <a:avLst/>
          </a:prstGeom>
        </p:spPr>
      </p:pic>
      <p:sp>
        <p:nvSpPr>
          <p:cNvPr id="25" name="Text 19"/>
          <p:cNvSpPr txBox="1"/>
          <p:nvPr/>
        </p:nvSpPr>
        <p:spPr>
          <a:xfrm>
            <a:off x="7013448" y="164592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6" name="Shape 20"/>
          <p:cNvSpPr/>
          <p:nvPr/>
        </p:nvSpPr>
        <p:spPr>
          <a:xfrm>
            <a:off x="6537960" y="2697480"/>
            <a:ext cx="1417320" cy="566928"/>
          </a:xfrm>
          <a:prstGeom prst="roundRect">
            <a:avLst>
              <a:gd name="adj" fmla="val 12903"/>
            </a:avLst>
          </a:prstGeom>
          <a:solidFill>
            <a:srgbClr val="12253D"/>
          </a:solidFill>
          <a:ln w="12700">
            <a:solidFill>
              <a:srgbClr val="12253D"/>
            </a:solidFill>
            <a:prstDash val="solid"/>
          </a:ln>
        </p:spPr>
      </p:sp>
      <p:pic>
        <p:nvPicPr>
          <p:cNvPr id="27" name="Image 4" descr="preencoded.png">    </p:cNvPr>
          <p:cNvPicPr>
            <a:picLocks noChangeAspect="1"/>
          </p:cNvPicPr>
          <p:nvPr/>
        </p:nvPicPr>
        <p:blipFill>
          <a:blip r:embed="rId5"/>
          <a:stretch>
            <a:fillRect/>
          </a:stretch>
        </p:blipFill>
        <p:spPr>
          <a:xfrm>
            <a:off x="6665976" y="2843784"/>
            <a:ext cx="274320" cy="274320"/>
          </a:xfrm>
          <a:prstGeom prst="rect">
            <a:avLst/>
          </a:prstGeom>
        </p:spPr>
      </p:pic>
      <p:sp>
        <p:nvSpPr>
          <p:cNvPr id="28" name="Text 21"/>
          <p:cNvSpPr txBox="1"/>
          <p:nvPr/>
        </p:nvSpPr>
        <p:spPr>
          <a:xfrm>
            <a:off x="7013448" y="269748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9" name="Shape 22"/>
          <p:cNvSpPr/>
          <p:nvPr/>
        </p:nvSpPr>
        <p:spPr>
          <a:xfrm>
            <a:off x="6537960" y="4343400"/>
            <a:ext cx="1417320" cy="566928"/>
          </a:xfrm>
          <a:prstGeom prst="roundRect">
            <a:avLst>
              <a:gd name="adj" fmla="val 12903"/>
            </a:avLst>
          </a:prstGeom>
          <a:solidFill>
            <a:srgbClr val="12253D"/>
          </a:solidFill>
          <a:ln w="12700">
            <a:solidFill>
              <a:srgbClr val="12253D"/>
            </a:solidFill>
            <a:prstDash val="solid"/>
          </a:ln>
        </p:spPr>
      </p:sp>
      <p:pic>
        <p:nvPicPr>
          <p:cNvPr id="30" name="Image 5" descr="preencoded.png">    </p:cNvPr>
          <p:cNvPicPr>
            <a:picLocks noChangeAspect="1"/>
          </p:cNvPicPr>
          <p:nvPr/>
        </p:nvPicPr>
        <p:blipFill>
          <a:blip r:embed="rId6"/>
          <a:stretch>
            <a:fillRect/>
          </a:stretch>
        </p:blipFill>
        <p:spPr>
          <a:xfrm>
            <a:off x="6665976" y="4489704"/>
            <a:ext cx="274320" cy="274320"/>
          </a:xfrm>
          <a:prstGeom prst="rect">
            <a:avLst/>
          </a:prstGeom>
        </p:spPr>
      </p:pic>
      <p:sp>
        <p:nvSpPr>
          <p:cNvPr id="31" name="Text 23"/>
          <p:cNvSpPr txBox="1"/>
          <p:nvPr/>
        </p:nvSpPr>
        <p:spPr>
          <a:xfrm>
            <a:off x="7013448" y="4343400"/>
            <a:ext cx="850392"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p:txBody>
      </p:sp>
      <p:sp>
        <p:nvSpPr>
          <p:cNvPr id="32" name="Shape 24"/>
          <p:cNvSpPr/>
          <p:nvPr/>
        </p:nvSpPr>
        <p:spPr>
          <a:xfrm>
            <a:off x="8275320" y="1645920"/>
            <a:ext cx="1234440" cy="566928"/>
          </a:xfrm>
          <a:prstGeom prst="roundRect">
            <a:avLst>
              <a:gd name="adj" fmla="val 12903"/>
            </a:avLst>
          </a:prstGeom>
          <a:solidFill>
            <a:srgbClr val="E8EEF6"/>
          </a:solidFill>
          <a:ln w="15875">
            <a:solidFill>
              <a:srgbClr val="2563EB"/>
            </a:solidFill>
            <a:prstDash val="solid"/>
          </a:ln>
        </p:spPr>
      </p:sp>
      <p:pic>
        <p:nvPicPr>
          <p:cNvPr id="33" name="Image 6" descr="preencoded.png">    </p:cNvPr>
          <p:cNvPicPr>
            <a:picLocks noChangeAspect="1"/>
          </p:cNvPicPr>
          <p:nvPr/>
        </p:nvPicPr>
        <p:blipFill>
          <a:blip r:embed="rId7"/>
          <a:stretch>
            <a:fillRect/>
          </a:stretch>
        </p:blipFill>
        <p:spPr>
          <a:xfrm>
            <a:off x="8403336" y="1792224"/>
            <a:ext cx="274320" cy="274320"/>
          </a:xfrm>
          <a:prstGeom prst="rect">
            <a:avLst/>
          </a:prstGeom>
        </p:spPr>
      </p:pic>
      <p:sp>
        <p:nvSpPr>
          <p:cNvPr id="34" name="Text 25"/>
          <p:cNvSpPr txBox="1"/>
          <p:nvPr/>
        </p:nvSpPr>
        <p:spPr>
          <a:xfrm>
            <a:off x="8750808" y="1645920"/>
            <a:ext cx="667512" cy="566928"/>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Redis</a:t>
            </a:r>
            <a:endParaRPr lang="en-US" sz="1200" dirty="0"/>
          </a:p>
        </p:txBody>
      </p:sp>
      <p:sp>
        <p:nvSpPr>
          <p:cNvPr id="35" name="Shape 26"/>
          <p:cNvSpPr/>
          <p:nvPr/>
        </p:nvSpPr>
        <p:spPr>
          <a:xfrm flipV="1">
            <a:off x="3383280" y="1929384"/>
            <a:ext cx="822960" cy="694944"/>
          </a:xfrm>
          <a:prstGeom prst="line">
            <a:avLst/>
          </a:prstGeom>
          <a:noFill/>
          <a:ln w="22225">
            <a:solidFill>
              <a:srgbClr val="4B6178"/>
            </a:solidFill>
            <a:prstDash val="solid"/>
            <a:tailEnd type="triangle"/>
          </a:ln>
        </p:spPr>
      </p:sp>
      <p:sp>
        <p:nvSpPr>
          <p:cNvPr id="36" name="Shape 27"/>
          <p:cNvSpPr/>
          <p:nvPr/>
        </p:nvSpPr>
        <p:spPr>
          <a:xfrm>
            <a:off x="3383280" y="2624328"/>
            <a:ext cx="822960" cy="356616"/>
          </a:xfrm>
          <a:prstGeom prst="line">
            <a:avLst/>
          </a:prstGeom>
          <a:noFill/>
          <a:ln w="22225">
            <a:solidFill>
              <a:srgbClr val="4B6178"/>
            </a:solidFill>
            <a:prstDash val="solid"/>
            <a:tailEnd type="triangle"/>
          </a:ln>
        </p:spPr>
      </p:sp>
      <p:sp>
        <p:nvSpPr>
          <p:cNvPr id="37" name="Shape 28"/>
          <p:cNvSpPr/>
          <p:nvPr/>
        </p:nvSpPr>
        <p:spPr>
          <a:xfrm flipV="1">
            <a:off x="4800600" y="2212848"/>
            <a:ext cx="0" cy="484632"/>
          </a:xfrm>
          <a:prstGeom prst="line">
            <a:avLst/>
          </a:prstGeom>
          <a:noFill/>
          <a:ln w="22225">
            <a:solidFill>
              <a:srgbClr val="12253D"/>
            </a:solidFill>
            <a:prstDash val="solid"/>
            <a:tailEnd type="triangle"/>
          </a:ln>
        </p:spPr>
      </p:sp>
      <p:sp>
        <p:nvSpPr>
          <p:cNvPr id="38" name="Shape 29"/>
          <p:cNvSpPr/>
          <p:nvPr/>
        </p:nvSpPr>
        <p:spPr>
          <a:xfrm>
            <a:off x="5074920" y="3264408"/>
            <a:ext cx="0" cy="301752"/>
          </a:xfrm>
          <a:prstGeom prst="line">
            <a:avLst/>
          </a:prstGeom>
          <a:noFill/>
          <a:ln w="22225">
            <a:solidFill>
              <a:srgbClr val="B45309"/>
            </a:solidFill>
            <a:prstDash val="solid"/>
            <a:tailEnd type="triangle"/>
          </a:ln>
        </p:spPr>
      </p:sp>
      <p:sp>
        <p:nvSpPr>
          <p:cNvPr id="39" name="Shape 30"/>
          <p:cNvSpPr/>
          <p:nvPr/>
        </p:nvSpPr>
        <p:spPr>
          <a:xfrm>
            <a:off x="5074920" y="4023360"/>
            <a:ext cx="0" cy="320040"/>
          </a:xfrm>
          <a:prstGeom prst="line">
            <a:avLst/>
          </a:prstGeom>
          <a:noFill/>
          <a:ln w="22225">
            <a:solidFill>
              <a:srgbClr val="B45309"/>
            </a:solidFill>
            <a:prstDash val="solid"/>
            <a:tailEnd type="triangle"/>
          </a:ln>
        </p:spPr>
      </p:sp>
      <p:sp>
        <p:nvSpPr>
          <p:cNvPr id="40" name="Shape 31"/>
          <p:cNvSpPr/>
          <p:nvPr/>
        </p:nvSpPr>
        <p:spPr>
          <a:xfrm>
            <a:off x="5943600" y="1929384"/>
            <a:ext cx="594360" cy="0"/>
          </a:xfrm>
          <a:prstGeom prst="line">
            <a:avLst/>
          </a:prstGeom>
          <a:noFill/>
          <a:ln w="22225">
            <a:solidFill>
              <a:srgbClr val="4B6178"/>
            </a:solidFill>
            <a:prstDash val="solid"/>
            <a:tailEnd type="triangle"/>
          </a:ln>
        </p:spPr>
      </p:sp>
      <p:sp>
        <p:nvSpPr>
          <p:cNvPr id="41" name="Shape 32"/>
          <p:cNvSpPr/>
          <p:nvPr/>
        </p:nvSpPr>
        <p:spPr>
          <a:xfrm>
            <a:off x="5943600" y="2980944"/>
            <a:ext cx="594360" cy="0"/>
          </a:xfrm>
          <a:prstGeom prst="line">
            <a:avLst/>
          </a:prstGeom>
          <a:noFill/>
          <a:ln w="22225">
            <a:solidFill>
              <a:srgbClr val="4B6178"/>
            </a:solidFill>
            <a:prstDash val="solid"/>
            <a:tailEnd type="triangle"/>
          </a:ln>
        </p:spPr>
      </p:sp>
      <p:sp>
        <p:nvSpPr>
          <p:cNvPr id="42" name="Shape 33"/>
          <p:cNvSpPr/>
          <p:nvPr/>
        </p:nvSpPr>
        <p:spPr>
          <a:xfrm>
            <a:off x="5943600" y="4626864"/>
            <a:ext cx="594360" cy="0"/>
          </a:xfrm>
          <a:prstGeom prst="line">
            <a:avLst/>
          </a:prstGeom>
          <a:noFill/>
          <a:ln w="22225">
            <a:solidFill>
              <a:srgbClr val="4B6178"/>
            </a:solidFill>
            <a:prstDash val="solid"/>
            <a:tailEnd type="triangle"/>
          </a:ln>
        </p:spPr>
      </p:sp>
      <p:sp>
        <p:nvSpPr>
          <p:cNvPr id="43" name="Shape 34"/>
          <p:cNvSpPr/>
          <p:nvPr/>
        </p:nvSpPr>
        <p:spPr>
          <a:xfrm>
            <a:off x="7955280" y="1929384"/>
            <a:ext cx="320040" cy="0"/>
          </a:xfrm>
          <a:prstGeom prst="line">
            <a:avLst/>
          </a:prstGeom>
          <a:noFill/>
          <a:ln w="22225">
            <a:solidFill>
              <a:srgbClr val="2563EB"/>
            </a:solidFill>
            <a:prstDash val="dash"/>
            <a:tailEnd type="triangle"/>
          </a:ln>
        </p:spPr>
      </p:sp>
      <p:sp>
        <p:nvSpPr>
          <p:cNvPr id="44" name="Shape 35"/>
          <p:cNvSpPr/>
          <p:nvPr/>
        </p:nvSpPr>
        <p:spPr>
          <a:xfrm>
            <a:off x="9921240" y="1645920"/>
            <a:ext cx="1828800" cy="530352"/>
          </a:xfrm>
          <a:prstGeom prst="roundRect">
            <a:avLst>
              <a:gd name="adj" fmla="val 13793"/>
            </a:avLst>
          </a:prstGeom>
          <a:solidFill>
            <a:srgbClr val="E8EEF6"/>
          </a:solidFill>
          <a:ln w="12700">
            <a:solidFill>
              <a:srgbClr val="4B6178"/>
            </a:solidFill>
            <a:prstDash val="solid"/>
          </a:ln>
        </p:spPr>
      </p:sp>
      <p:pic>
        <p:nvPicPr>
          <p:cNvPr id="45" name="Image 7" descr="preencoded.png">    </p:cNvPr>
          <p:cNvPicPr>
            <a:picLocks noChangeAspect="1"/>
          </p:cNvPicPr>
          <p:nvPr/>
        </p:nvPicPr>
        <p:blipFill>
          <a:blip r:embed="rId8"/>
          <a:stretch>
            <a:fillRect/>
          </a:stretch>
        </p:blipFill>
        <p:spPr>
          <a:xfrm>
            <a:off x="10049256" y="1773936"/>
            <a:ext cx="274320" cy="274320"/>
          </a:xfrm>
          <a:prstGeom prst="rect">
            <a:avLst/>
          </a:prstGeom>
        </p:spPr>
      </p:pic>
      <p:sp>
        <p:nvSpPr>
          <p:cNvPr id="46" name="Text 36"/>
          <p:cNvSpPr txBox="1"/>
          <p:nvPr/>
        </p:nvSpPr>
        <p:spPr>
          <a:xfrm>
            <a:off x="10396728" y="1645920"/>
            <a:ext cx="1261872" cy="530352"/>
          </a:xfrm>
          <a:prstGeom prst="rect">
            <a:avLst/>
          </a:prstGeom>
          <a:noFill/>
          <a:ln/>
        </p:spPr>
        <p:txBody>
          <a:bodyPr wrap="square" lIns="0" tIns="0" rIns="0" bIns="0" rtlCol="0" anchor="ctr"/>
          <a:lstStyle/>
          <a:p>
            <a:pPr algn="l" indent="0" marL="0">
              <a:buNone/>
            </a:pPr>
            <a:r>
              <a:rPr lang="en-US" sz="1100" b="1" dirty="0">
                <a:solidFill>
                  <a:srgbClr val="12253D"/>
                </a:solidFill>
                <a:latin typeface="Calibri" pitchFamily="34" charset="0"/>
                <a:ea typeface="Calibri" pitchFamily="34" charset="-122"/>
                <a:cs typeface="Calibri" pitchFamily="34" charset="-120"/>
              </a:rPr>
              <a:t>Discovery · Eureka</a:t>
            </a:r>
            <a:endParaRPr lang="en-US" sz="1100" dirty="0"/>
          </a:p>
        </p:txBody>
      </p:sp>
      <p:sp>
        <p:nvSpPr>
          <p:cNvPr id="47" name="Shape 37"/>
          <p:cNvSpPr/>
          <p:nvPr/>
        </p:nvSpPr>
        <p:spPr>
          <a:xfrm>
            <a:off x="9921240" y="2743200"/>
            <a:ext cx="1828800" cy="530352"/>
          </a:xfrm>
          <a:prstGeom prst="roundRect">
            <a:avLst>
              <a:gd name="adj" fmla="val 13793"/>
            </a:avLst>
          </a:prstGeom>
          <a:solidFill>
            <a:srgbClr val="E8EEF6"/>
          </a:solidFill>
          <a:ln w="12700">
            <a:solidFill>
              <a:srgbClr val="4B6178"/>
            </a:solidFill>
            <a:prstDash val="solid"/>
          </a:ln>
        </p:spPr>
      </p:sp>
      <p:pic>
        <p:nvPicPr>
          <p:cNvPr id="48" name="Image 8" descr="preencoded.png">    </p:cNvPr>
          <p:cNvPicPr>
            <a:picLocks noChangeAspect="1"/>
          </p:cNvPicPr>
          <p:nvPr/>
        </p:nvPicPr>
        <p:blipFill>
          <a:blip r:embed="rId9"/>
          <a:stretch>
            <a:fillRect/>
          </a:stretch>
        </p:blipFill>
        <p:spPr>
          <a:xfrm>
            <a:off x="10049256" y="2871216"/>
            <a:ext cx="274320" cy="274320"/>
          </a:xfrm>
          <a:prstGeom prst="rect">
            <a:avLst/>
          </a:prstGeom>
        </p:spPr>
      </p:pic>
      <p:sp>
        <p:nvSpPr>
          <p:cNvPr id="49" name="Text 38"/>
          <p:cNvSpPr txBox="1"/>
          <p:nvPr/>
        </p:nvSpPr>
        <p:spPr>
          <a:xfrm>
            <a:off x="10396728" y="274320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Config server</a:t>
            </a:r>
            <a:endParaRPr lang="en-US" sz="1200" dirty="0"/>
          </a:p>
        </p:txBody>
      </p:sp>
      <p:sp>
        <p:nvSpPr>
          <p:cNvPr id="50" name="Shape 39"/>
          <p:cNvSpPr/>
          <p:nvPr/>
        </p:nvSpPr>
        <p:spPr>
          <a:xfrm>
            <a:off x="9921240" y="3840480"/>
            <a:ext cx="1828800" cy="530352"/>
          </a:xfrm>
          <a:prstGeom prst="roundRect">
            <a:avLst>
              <a:gd name="adj" fmla="val 13793"/>
            </a:avLst>
          </a:prstGeom>
          <a:solidFill>
            <a:srgbClr val="E8EEF6"/>
          </a:solidFill>
          <a:ln w="12700">
            <a:solidFill>
              <a:srgbClr val="4B6178"/>
            </a:solidFill>
            <a:prstDash val="solid"/>
          </a:ln>
        </p:spPr>
      </p:sp>
      <p:pic>
        <p:nvPicPr>
          <p:cNvPr id="51" name="Image 9" descr="preencoded.png">    </p:cNvPr>
          <p:cNvPicPr>
            <a:picLocks noChangeAspect="1"/>
          </p:cNvPicPr>
          <p:nvPr/>
        </p:nvPicPr>
        <p:blipFill>
          <a:blip r:embed="rId10"/>
          <a:stretch>
            <a:fillRect/>
          </a:stretch>
        </p:blipFill>
        <p:spPr>
          <a:xfrm>
            <a:off x="10049256" y="3968496"/>
            <a:ext cx="274320" cy="274320"/>
          </a:xfrm>
          <a:prstGeom prst="rect">
            <a:avLst/>
          </a:prstGeom>
        </p:spPr>
      </p:pic>
      <p:sp>
        <p:nvSpPr>
          <p:cNvPr id="52" name="Text 40"/>
          <p:cNvSpPr txBox="1"/>
          <p:nvPr/>
        </p:nvSpPr>
        <p:spPr>
          <a:xfrm>
            <a:off x="10396728" y="3840480"/>
            <a:ext cx="1261872" cy="530352"/>
          </a:xfrm>
          <a:prstGeom prst="rect">
            <a:avLst/>
          </a:prstGeom>
          <a:noFill/>
          <a:ln/>
        </p:spPr>
        <p:txBody>
          <a:bodyPr wrap="square" lIns="0" tIns="0" rIns="0" bIns="0" rtlCol="0" anchor="ctr"/>
          <a:lstStyle/>
          <a:p>
            <a:pPr algn="l" indent="0" marL="0">
              <a:buNone/>
            </a:pPr>
            <a:r>
              <a:rPr lang="en-US" sz="1200" b="1" dirty="0">
                <a:solidFill>
                  <a:srgbClr val="12253D"/>
                </a:solidFill>
                <a:latin typeface="Calibri" pitchFamily="34" charset="0"/>
                <a:ea typeface="Calibri" pitchFamily="34" charset="-122"/>
                <a:cs typeface="Calibri" pitchFamily="34" charset="-120"/>
              </a:rPr>
              <a:t>Observabilidad</a:t>
            </a:r>
            <a:endParaRPr lang="en-US" sz="1200" dirty="0"/>
          </a:p>
        </p:txBody>
      </p:sp>
      <p:sp>
        <p:nvSpPr>
          <p:cNvPr id="53" name="Text 41"/>
          <p:cNvSpPr txBox="1"/>
          <p:nvPr/>
        </p:nvSpPr>
        <p:spPr>
          <a:xfrm>
            <a:off x="9784080" y="4480560"/>
            <a:ext cx="2194560" cy="274320"/>
          </a:xfrm>
          <a:prstGeom prst="rect">
            <a:avLst/>
          </a:prstGeom>
          <a:noFill/>
          <a:ln/>
        </p:spPr>
        <p:txBody>
          <a:bodyPr wrap="square" lIns="0" tIns="0" rIns="0" bIns="0" rtlCol="0" anchor="t"/>
          <a:lstStyle/>
          <a:p>
            <a:pPr algn="ctr" indent="0" marL="0">
              <a:buNone/>
            </a:pPr>
            <a:r>
              <a:rPr lang="en-US" sz="1000" i="1" dirty="0">
                <a:solidFill>
                  <a:srgbClr val="4B6178"/>
                </a:solidFill>
                <a:latin typeface="Calibri" pitchFamily="34" charset="0"/>
                <a:ea typeface="Calibri" pitchFamily="34" charset="-122"/>
                <a:cs typeface="Calibri" pitchFamily="34" charset="-120"/>
              </a:rPr>
              <a:t>transversales: hablan con todos</a:t>
            </a:r>
            <a:endParaRPr lang="en-US" sz="1000" dirty="0"/>
          </a:p>
        </p:txBody>
      </p:sp>
      <p:sp>
        <p:nvSpPr>
          <p:cNvPr id="54" name="Shape 42"/>
          <p:cNvSpPr/>
          <p:nvPr/>
        </p:nvSpPr>
        <p:spPr>
          <a:xfrm>
            <a:off x="9692640" y="3008376"/>
            <a:ext cx="228600" cy="0"/>
          </a:xfrm>
          <a:prstGeom prst="line">
            <a:avLst/>
          </a:prstGeom>
          <a:noFill/>
          <a:ln w="22225">
            <a:solidFill>
              <a:srgbClr val="4B6178"/>
            </a:solidFill>
            <a:prstDash val="dash"/>
            <a:headEnd type="triangle"/>
            <a:tailEnd type="triangle"/>
          </a:ln>
        </p:spPr>
      </p:sp>
      <p:sp>
        <p:nvSpPr>
          <p:cNvPr id="55" name="Shape 43"/>
          <p:cNvSpPr/>
          <p:nvPr/>
        </p:nvSpPr>
        <p:spPr>
          <a:xfrm>
            <a:off x="457200" y="5440680"/>
            <a:ext cx="1801368" cy="384048"/>
          </a:xfrm>
          <a:prstGeom prst="roundRect">
            <a:avLst>
              <a:gd name="adj" fmla="val 40476"/>
            </a:avLst>
          </a:prstGeom>
          <a:solidFill>
            <a:srgbClr val="FFFFFF"/>
          </a:solidFill>
          <a:ln w="12700">
            <a:solidFill>
              <a:srgbClr val="FFFFFF"/>
            </a:solidFill>
            <a:prstDash val="solid"/>
          </a:ln>
        </p:spPr>
      </p:sp>
      <p:sp>
        <p:nvSpPr>
          <p:cNvPr id="56" name="Text 44"/>
          <p:cNvSpPr txBox="1"/>
          <p:nvPr/>
        </p:nvSpPr>
        <p:spPr>
          <a:xfrm>
            <a:off x="457200"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Gateway: una puerta</a:t>
            </a:r>
            <a:endParaRPr lang="en-US" sz="1000" dirty="0"/>
          </a:p>
        </p:txBody>
      </p:sp>
      <p:sp>
        <p:nvSpPr>
          <p:cNvPr id="57" name="Shape 45"/>
          <p:cNvSpPr/>
          <p:nvPr/>
        </p:nvSpPr>
        <p:spPr>
          <a:xfrm>
            <a:off x="2350008" y="5440680"/>
            <a:ext cx="1801368" cy="384048"/>
          </a:xfrm>
          <a:prstGeom prst="roundRect">
            <a:avLst>
              <a:gd name="adj" fmla="val 40476"/>
            </a:avLst>
          </a:prstGeom>
          <a:solidFill>
            <a:srgbClr val="FFFFFF"/>
          </a:solidFill>
          <a:ln w="12700">
            <a:solidFill>
              <a:srgbClr val="FFFFFF"/>
            </a:solidFill>
            <a:prstDash val="solid"/>
          </a:ln>
        </p:spPr>
      </p:sp>
      <p:sp>
        <p:nvSpPr>
          <p:cNvPr id="58" name="Text 46"/>
          <p:cNvSpPr txBox="1"/>
          <p:nvPr/>
        </p:nvSpPr>
        <p:spPr>
          <a:xfrm>
            <a:off x="2350008"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Discovery: nombre estable</a:t>
            </a:r>
            <a:endParaRPr lang="en-US" sz="1000" dirty="0"/>
          </a:p>
        </p:txBody>
      </p:sp>
      <p:sp>
        <p:nvSpPr>
          <p:cNvPr id="59" name="Shape 47"/>
          <p:cNvSpPr/>
          <p:nvPr/>
        </p:nvSpPr>
        <p:spPr>
          <a:xfrm>
            <a:off x="4242816" y="5440680"/>
            <a:ext cx="1801368" cy="384048"/>
          </a:xfrm>
          <a:prstGeom prst="roundRect">
            <a:avLst>
              <a:gd name="adj" fmla="val 40476"/>
            </a:avLst>
          </a:prstGeom>
          <a:solidFill>
            <a:srgbClr val="FFFFFF"/>
          </a:solidFill>
          <a:ln w="12700">
            <a:solidFill>
              <a:srgbClr val="FFFFFF"/>
            </a:solidFill>
            <a:prstDash val="solid"/>
          </a:ln>
        </p:spPr>
      </p:sp>
      <p:sp>
        <p:nvSpPr>
          <p:cNvPr id="60" name="Text 48"/>
          <p:cNvSpPr txBox="1"/>
          <p:nvPr/>
        </p:nvSpPr>
        <p:spPr>
          <a:xfrm>
            <a:off x="4242816"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Config: fuera de la imagen</a:t>
            </a:r>
            <a:endParaRPr lang="en-US" sz="1000" dirty="0"/>
          </a:p>
        </p:txBody>
      </p:sp>
      <p:sp>
        <p:nvSpPr>
          <p:cNvPr id="61" name="Shape 49"/>
          <p:cNvSpPr/>
          <p:nvPr/>
        </p:nvSpPr>
        <p:spPr>
          <a:xfrm>
            <a:off x="6135624" y="5440680"/>
            <a:ext cx="1801368" cy="384048"/>
          </a:xfrm>
          <a:prstGeom prst="roundRect">
            <a:avLst>
              <a:gd name="adj" fmla="val 40476"/>
            </a:avLst>
          </a:prstGeom>
          <a:solidFill>
            <a:srgbClr val="FFFFFF"/>
          </a:solidFill>
          <a:ln w="12700">
            <a:solidFill>
              <a:srgbClr val="FFFFFF"/>
            </a:solidFill>
            <a:prstDash val="solid"/>
          </a:ln>
        </p:spPr>
      </p:sp>
      <p:sp>
        <p:nvSpPr>
          <p:cNvPr id="62" name="Text 50"/>
          <p:cNvSpPr txBox="1"/>
          <p:nvPr/>
        </p:nvSpPr>
        <p:spPr>
          <a:xfrm>
            <a:off x="6135624"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Broker: al menos una vez</a:t>
            </a:r>
            <a:endParaRPr lang="en-US" sz="1000" dirty="0"/>
          </a:p>
        </p:txBody>
      </p:sp>
      <p:sp>
        <p:nvSpPr>
          <p:cNvPr id="63" name="Shape 51"/>
          <p:cNvSpPr/>
          <p:nvPr/>
        </p:nvSpPr>
        <p:spPr>
          <a:xfrm>
            <a:off x="8028432" y="5440680"/>
            <a:ext cx="1801368" cy="384048"/>
          </a:xfrm>
          <a:prstGeom prst="roundRect">
            <a:avLst>
              <a:gd name="adj" fmla="val 40476"/>
            </a:avLst>
          </a:prstGeom>
          <a:solidFill>
            <a:srgbClr val="FFFFFF"/>
          </a:solidFill>
          <a:ln w="12700">
            <a:solidFill>
              <a:srgbClr val="FFFFFF"/>
            </a:solidFill>
            <a:prstDash val="solid"/>
          </a:ln>
        </p:spPr>
      </p:sp>
      <p:sp>
        <p:nvSpPr>
          <p:cNvPr id="64" name="Text 52"/>
          <p:cNvSpPr txBox="1"/>
          <p:nvPr/>
        </p:nvSpPr>
        <p:spPr>
          <a:xfrm>
            <a:off x="8028432"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Caché: copia con TTL</a:t>
            </a:r>
            <a:endParaRPr lang="en-US" sz="1000" dirty="0"/>
          </a:p>
        </p:txBody>
      </p:sp>
      <p:sp>
        <p:nvSpPr>
          <p:cNvPr id="65" name="Shape 53"/>
          <p:cNvSpPr/>
          <p:nvPr/>
        </p:nvSpPr>
        <p:spPr>
          <a:xfrm>
            <a:off x="9921240" y="5440680"/>
            <a:ext cx="1801368" cy="384048"/>
          </a:xfrm>
          <a:prstGeom prst="roundRect">
            <a:avLst>
              <a:gd name="adj" fmla="val 40476"/>
            </a:avLst>
          </a:prstGeom>
          <a:solidFill>
            <a:srgbClr val="FFFFFF"/>
          </a:solidFill>
          <a:ln w="12700">
            <a:solidFill>
              <a:srgbClr val="FFFFFF"/>
            </a:solidFill>
            <a:prstDash val="solid"/>
          </a:ln>
        </p:spPr>
      </p:sp>
      <p:sp>
        <p:nvSpPr>
          <p:cNvPr id="66" name="Text 54"/>
          <p:cNvSpPr txBox="1"/>
          <p:nvPr/>
        </p:nvSpPr>
        <p:spPr>
          <a:xfrm>
            <a:off x="9921240" y="5440680"/>
            <a:ext cx="1801368" cy="384048"/>
          </a:xfrm>
          <a:prstGeom prst="rect">
            <a:avLst/>
          </a:prstGeom>
          <a:noFill/>
          <a:ln/>
        </p:spPr>
        <p:txBody>
          <a:bodyPr wrap="square" lIns="0" tIns="0" rIns="0" bIns="0" rtlCol="0" anchor="ctr"/>
          <a:lstStyle/>
          <a:p>
            <a:pPr algn="ctr" indent="0" marL="0">
              <a:buNone/>
            </a:pPr>
            <a:r>
              <a:rPr lang="en-US" sz="1000" b="1" dirty="0">
                <a:solidFill>
                  <a:srgbClr val="12253D"/>
                </a:solidFill>
                <a:latin typeface="Calibri" pitchFamily="34" charset="0"/>
                <a:ea typeface="Calibri" pitchFamily="34" charset="-122"/>
                <a:cs typeface="Calibri" pitchFamily="34" charset="-120"/>
              </a:rPr>
              <a:t>Observabilidad: trace id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La decisión de hoy · FarmaYa: ¿reintentar o no?</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29/32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F · La decisión de hoy</a:t>
            </a:r>
            <a:endParaRPr lang="en-US" sz="1000" dirty="0"/>
          </a:p>
        </p:txBody>
      </p:sp>
      <p:sp>
        <p:nvSpPr>
          <p:cNvPr id="5" name="Shape 3"/>
          <p:cNvSpPr/>
          <p:nvPr/>
        </p:nvSpPr>
        <p:spPr>
          <a:xfrm>
            <a:off x="10835640" y="384048"/>
            <a:ext cx="566928" cy="566928"/>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972800" y="521208"/>
            <a:ext cx="292608" cy="292608"/>
          </a:xfrm>
          <a:prstGeom prst="rect">
            <a:avLst/>
          </a:prstGeom>
        </p:spPr>
      </p:pic>
      <p:sp>
        <p:nvSpPr>
          <p:cNvPr id="7" name="Text 4"/>
          <p:cNvSpPr txBox="1"/>
          <p:nvPr/>
        </p:nvSpPr>
        <p:spPr>
          <a:xfrm>
            <a:off x="9418320" y="411480"/>
            <a:ext cx="1325880" cy="502920"/>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ritual · 12 min</a:t>
            </a:r>
            <a:endParaRPr lang="en-US" sz="1100" dirty="0"/>
          </a:p>
        </p:txBody>
      </p:sp>
      <p:sp>
        <p:nvSpPr>
          <p:cNvPr id="8" name="Shape 5"/>
          <p:cNvSpPr/>
          <p:nvPr/>
        </p:nvSpPr>
        <p:spPr>
          <a:xfrm>
            <a:off x="457200" y="1371600"/>
            <a:ext cx="11247120" cy="1234440"/>
          </a:xfrm>
          <a:prstGeom prst="roundRect">
            <a:avLst>
              <a:gd name="adj" fmla="val 5926"/>
            </a:avLst>
          </a:prstGeom>
          <a:solidFill>
            <a:srgbClr val="FFFFFF"/>
          </a:solidFill>
          <a:ln w="12700">
            <a:solidFill>
              <a:srgbClr val="D9E2EE"/>
            </a:solidFill>
            <a:prstDash val="solid"/>
          </a:ln>
        </p:spPr>
      </p:sp>
      <p:pic>
        <p:nvPicPr>
          <p:cNvPr id="9" name="Image 1" descr="preencoded.png">    </p:cNvPr>
          <p:cNvPicPr>
            <a:picLocks noChangeAspect="1"/>
          </p:cNvPicPr>
          <p:nvPr/>
        </p:nvPicPr>
        <p:blipFill>
          <a:blip r:embed="rId2"/>
          <a:stretch>
            <a:fillRect/>
          </a:stretch>
        </p:blipFill>
        <p:spPr>
          <a:xfrm>
            <a:off x="621792" y="1508760"/>
            <a:ext cx="274320" cy="274320"/>
          </a:xfrm>
          <a:prstGeom prst="rect">
            <a:avLst/>
          </a:prstGeom>
        </p:spPr>
      </p:pic>
      <p:sp>
        <p:nvSpPr>
          <p:cNvPr id="10" name="Text 6"/>
          <p:cNvSpPr txBox="1"/>
          <p:nvPr/>
        </p:nvSpPr>
        <p:spPr>
          <a:xfrm>
            <a:off x="1005840" y="1481328"/>
            <a:ext cx="1053388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El caso (ajeno, ensayo, no se califica)</a:t>
            </a:r>
            <a:endParaRPr lang="en-US" sz="1300" dirty="0"/>
          </a:p>
        </p:txBody>
      </p:sp>
      <p:sp>
        <p:nvSpPr>
          <p:cNvPr id="11" name="Text 7"/>
          <p:cNvSpPr txBox="1"/>
          <p:nvPr/>
        </p:nvSpPr>
        <p:spPr>
          <a:xfrm>
            <a:off x="621792" y="1847088"/>
            <a:ext cx="10917936" cy="649224"/>
          </a:xfrm>
          <a:prstGeom prst="rect">
            <a:avLst/>
          </a:prstGeom>
          <a:noFill/>
          <a:ln/>
        </p:spPr>
        <p:txBody>
          <a:bodyPr wrap="square" lIns="0" tIns="0" rIns="0" bIns="0" rtlCol="0" anchor="t"/>
          <a:lstStyle/>
          <a:p>
            <a:pPr indent="0" marL="0">
              <a:spcAft>
                <a:spcPts val="400"/>
              </a:spcAft>
              <a:buNone/>
            </a:pPr>
            <a:r>
              <a:rPr lang="en-US" sz="1400" dirty="0">
                <a:solidFill>
                  <a:srgbClr val="12253D"/>
                </a:solidFill>
                <a:latin typeface="Calibri" pitchFamily="34" charset="0"/>
                <a:ea typeface="Calibri" pitchFamily="34" charset="-122"/>
                <a:cs typeface="Calibri" pitchFamily="34" charset="-120"/>
              </a:rPr>
              <a:t>FarmaYa vende medicinas con entrega a domicilio. Al pagar, la app llama a POST /pedidos/{id}/pagar, que llama a la pasarela de tarjetas. La pasarela tarda de 1 a 8 s y a veces no responde. El timeout de la app es de 3 s. Se venció. ¿Qué hace la app?</a:t>
            </a:r>
            <a:endParaRPr lang="en-US" sz="1400" dirty="0"/>
          </a:p>
        </p:txBody>
      </p:sp>
      <p:sp>
        <p:nvSpPr>
          <p:cNvPr id="12" name="Shape 8"/>
          <p:cNvSpPr/>
          <p:nvPr/>
        </p:nvSpPr>
        <p:spPr>
          <a:xfrm>
            <a:off x="457200" y="2788920"/>
            <a:ext cx="3611880" cy="2148840"/>
          </a:xfrm>
          <a:prstGeom prst="roundRect">
            <a:avLst>
              <a:gd name="adj" fmla="val 3404"/>
            </a:avLst>
          </a:prstGeom>
          <a:solidFill>
            <a:srgbClr val="FFFFFF"/>
          </a:solidFill>
          <a:ln w="12700">
            <a:solidFill>
              <a:srgbClr val="D9E2EE"/>
            </a:solidFill>
            <a:prstDash val="solid"/>
          </a:ln>
        </p:spPr>
      </p:sp>
      <p:sp>
        <p:nvSpPr>
          <p:cNvPr id="13" name="Text 9"/>
          <p:cNvSpPr txBox="1"/>
          <p:nvPr/>
        </p:nvSpPr>
        <p:spPr>
          <a:xfrm>
            <a:off x="621792" y="2880360"/>
            <a:ext cx="3291840" cy="365760"/>
          </a:xfrm>
          <a:prstGeom prst="rect">
            <a:avLst/>
          </a:prstGeom>
          <a:noFill/>
          <a:ln/>
        </p:spPr>
        <p:txBody>
          <a:bodyPr wrap="square" lIns="0" tIns="0" rIns="0" bIns="0" rtlCol="0" anchor="t"/>
          <a:lstStyle/>
          <a:p>
            <a:pPr indent="0" marL="0">
              <a:buNone/>
            </a:pPr>
            <a:r>
              <a:rPr lang="en-US" sz="1600" b="1" dirty="0">
                <a:solidFill>
                  <a:srgbClr val="2563EB"/>
                </a:solidFill>
                <a:latin typeface="Calibri" pitchFamily="34" charset="0"/>
                <a:ea typeface="Calibri" pitchFamily="34" charset="-122"/>
                <a:cs typeface="Calibri" pitchFamily="34" charset="-120"/>
              </a:rPr>
              <a:t>A · Reintentar ya</a:t>
            </a:r>
            <a:endParaRPr lang="en-US" sz="1600" dirty="0"/>
          </a:p>
        </p:txBody>
      </p:sp>
      <p:sp>
        <p:nvSpPr>
          <p:cNvPr id="14" name="Text 10"/>
          <p:cNvSpPr txBox="1"/>
          <p:nvPr/>
        </p:nvSpPr>
        <p:spPr>
          <a:xfrm>
            <a:off x="62179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at-least-once</a:t>
            </a:r>
            <a:endParaRPr lang="en-US" sz="1200" dirty="0"/>
          </a:p>
        </p:txBody>
      </p:sp>
      <p:sp>
        <p:nvSpPr>
          <p:cNvPr id="15" name="Text 11"/>
          <p:cNvSpPr txBox="1"/>
          <p:nvPr/>
        </p:nvSpPr>
        <p:spPr>
          <a:xfrm>
            <a:off x="62179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ningún pedido pagado se pierde.</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Exige: Idempotency-Key en la pasarela.</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latencia y depender de que la pasarela deduplique de verdad.</a:t>
            </a:r>
            <a:endParaRPr lang="en-US" sz="1200" dirty="0"/>
          </a:p>
        </p:txBody>
      </p:sp>
      <p:sp>
        <p:nvSpPr>
          <p:cNvPr id="16" name="Shape 12"/>
          <p:cNvSpPr/>
          <p:nvPr/>
        </p:nvSpPr>
        <p:spPr>
          <a:xfrm>
            <a:off x="4251960" y="2788920"/>
            <a:ext cx="3611880" cy="2148840"/>
          </a:xfrm>
          <a:prstGeom prst="roundRect">
            <a:avLst>
              <a:gd name="adj" fmla="val 3404"/>
            </a:avLst>
          </a:prstGeom>
          <a:solidFill>
            <a:srgbClr val="FFFFFF"/>
          </a:solidFill>
          <a:ln w="12700">
            <a:solidFill>
              <a:srgbClr val="D9E2EE"/>
            </a:solidFill>
            <a:prstDash val="solid"/>
          </a:ln>
        </p:spPr>
      </p:sp>
      <p:sp>
        <p:nvSpPr>
          <p:cNvPr id="17" name="Text 13"/>
          <p:cNvSpPr txBox="1"/>
          <p:nvPr/>
        </p:nvSpPr>
        <p:spPr>
          <a:xfrm>
            <a:off x="4416552" y="2880360"/>
            <a:ext cx="3291840" cy="365760"/>
          </a:xfrm>
          <a:prstGeom prst="rect">
            <a:avLst/>
          </a:prstGeom>
          <a:noFill/>
          <a:ln/>
        </p:spPr>
        <p:txBody>
          <a:bodyPr wrap="square" lIns="0" tIns="0" rIns="0" bIns="0" rtlCol="0" anchor="t"/>
          <a:lstStyle/>
          <a:p>
            <a:pPr indent="0" marL="0">
              <a:buNone/>
            </a:pPr>
            <a:r>
              <a:rPr lang="en-US" sz="1600" b="1" dirty="0">
                <a:solidFill>
                  <a:srgbClr val="15803D"/>
                </a:solidFill>
                <a:latin typeface="Calibri" pitchFamily="34" charset="0"/>
                <a:ea typeface="Calibri" pitchFamily="34" charset="-122"/>
                <a:cs typeface="Calibri" pitchFamily="34" charset="-120"/>
              </a:rPr>
              <a:t>B · No reintentar</a:t>
            </a:r>
            <a:endParaRPr lang="en-US" sz="1600" dirty="0"/>
          </a:p>
        </p:txBody>
      </p:sp>
      <p:sp>
        <p:nvSpPr>
          <p:cNvPr id="18" name="Text 14"/>
          <p:cNvSpPr txBox="1"/>
          <p:nvPr/>
        </p:nvSpPr>
        <p:spPr>
          <a:xfrm>
            <a:off x="441655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at-most-once</a:t>
            </a:r>
            <a:endParaRPr lang="en-US" sz="1200" dirty="0"/>
          </a:p>
        </p:txBody>
      </p:sp>
      <p:sp>
        <p:nvSpPr>
          <p:cNvPr id="19" name="Text 15"/>
          <p:cNvSpPr txBox="1"/>
          <p:nvPr/>
        </p:nvSpPr>
        <p:spPr>
          <a:xfrm>
            <a:off x="441655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nunca cobrar dos veces.</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Pide al cliente revisar su estado.</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pedidos en limbo y soporte manual.</a:t>
            </a:r>
            <a:endParaRPr lang="en-US" sz="1200" dirty="0"/>
          </a:p>
        </p:txBody>
      </p:sp>
      <p:sp>
        <p:nvSpPr>
          <p:cNvPr id="20" name="Shape 16"/>
          <p:cNvSpPr/>
          <p:nvPr/>
        </p:nvSpPr>
        <p:spPr>
          <a:xfrm>
            <a:off x="8046720" y="2788920"/>
            <a:ext cx="3611880" cy="2148840"/>
          </a:xfrm>
          <a:prstGeom prst="roundRect">
            <a:avLst>
              <a:gd name="adj" fmla="val 3404"/>
            </a:avLst>
          </a:prstGeom>
          <a:solidFill>
            <a:srgbClr val="FFFFFF"/>
          </a:solidFill>
          <a:ln w="12700">
            <a:solidFill>
              <a:srgbClr val="D9E2EE"/>
            </a:solidFill>
            <a:prstDash val="solid"/>
          </a:ln>
        </p:spPr>
      </p:sp>
      <p:sp>
        <p:nvSpPr>
          <p:cNvPr id="21" name="Text 17"/>
          <p:cNvSpPr txBox="1"/>
          <p:nvPr/>
        </p:nvSpPr>
        <p:spPr>
          <a:xfrm>
            <a:off x="8211312" y="2880360"/>
            <a:ext cx="3291840" cy="36576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C · Evento al broker</a:t>
            </a:r>
            <a:endParaRPr lang="en-US" sz="1600" dirty="0"/>
          </a:p>
        </p:txBody>
      </p:sp>
      <p:sp>
        <p:nvSpPr>
          <p:cNvPr id="22" name="Text 18"/>
          <p:cNvSpPr txBox="1"/>
          <p:nvPr/>
        </p:nvSpPr>
        <p:spPr>
          <a:xfrm>
            <a:off x="8211312" y="3218688"/>
            <a:ext cx="3291840" cy="27432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"pago solicitado" y responder "en proceso"</a:t>
            </a:r>
            <a:endParaRPr lang="en-US" sz="1200" dirty="0"/>
          </a:p>
        </p:txBody>
      </p:sp>
      <p:sp>
        <p:nvSpPr>
          <p:cNvPr id="23" name="Text 19"/>
          <p:cNvSpPr txBox="1"/>
          <p:nvPr/>
        </p:nvSpPr>
        <p:spPr>
          <a:xfrm>
            <a:off x="8211312" y="3566160"/>
            <a:ext cx="3291840" cy="1508760"/>
          </a:xfrm>
          <a:prstGeom prst="rect">
            <a:avLst/>
          </a:prstGeom>
          <a:noFill/>
          <a:ln/>
        </p:spPr>
        <p:txBody>
          <a:bodyPr wrap="square" lIns="0" tIns="0" rIns="0" bIns="0" rtlCol="0" anchor="t"/>
          <a:lstStyle/>
          <a:p>
            <a:pPr indent="0" marL="0">
              <a:buNone/>
            </a:pPr>
            <a:r>
              <a:rPr lang="en-US" sz="1200" dirty="0">
                <a:solidFill>
                  <a:srgbClr val="12253D"/>
                </a:solidFill>
                <a:latin typeface="Calibri" pitchFamily="34" charset="0"/>
                <a:ea typeface="Calibri" pitchFamily="34" charset="-122"/>
                <a:cs typeface="Calibri" pitchFamily="34" charset="-120"/>
              </a:rPr>
              <a:t>Persigue: la app disponible aunque la pasarela esté lenta.</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Exige: consumidor idempotente y notificar el resultado.</a:t>
            </a:r>
            <a:endParaRPr lang="en-US" sz="1200" dirty="0"/>
          </a:p>
          <a:p>
            <a:pPr indent="0" marL="0">
              <a:buNone/>
            </a:pPr>
            <a:r>
              <a:rPr lang="en-US" sz="1200" dirty="0">
                <a:solidFill>
                  <a:srgbClr val="12253D"/>
                </a:solidFill>
                <a:latin typeface="Calibri" pitchFamily="34" charset="0"/>
                <a:ea typeface="Calibri" pitchFamily="34" charset="-122"/>
                <a:cs typeface="Calibri" pitchFamily="34" charset="-120"/>
              </a:rPr>
              <a:t>Sacrifica: confirmación inmediata.</a:t>
            </a:r>
            <a:endParaRPr lang="en-US" sz="1200" dirty="0"/>
          </a:p>
        </p:txBody>
      </p:sp>
      <p:sp>
        <p:nvSpPr>
          <p:cNvPr id="24" name="Shape 20"/>
          <p:cNvSpPr/>
          <p:nvPr/>
        </p:nvSpPr>
        <p:spPr>
          <a:xfrm>
            <a:off x="457200" y="5120640"/>
            <a:ext cx="11247120" cy="585216"/>
          </a:xfrm>
          <a:prstGeom prst="roundRect">
            <a:avLst>
              <a:gd name="adj" fmla="val 9375"/>
            </a:avLst>
          </a:prstGeom>
          <a:solidFill>
            <a:srgbClr val="1E293B"/>
          </a:solidFill>
          <a:ln w="12700">
            <a:solidFill>
              <a:srgbClr val="1E293B"/>
            </a:solidFill>
            <a:prstDash val="solid"/>
          </a:ln>
        </p:spPr>
      </p:sp>
      <p:sp>
        <p:nvSpPr>
          <p:cNvPr id="25" name="Text 21"/>
          <p:cNvSpPr txBox="1"/>
          <p:nvPr/>
        </p:nvSpPr>
        <p:spPr>
          <a:xfrm>
            <a:off x="621792" y="5257800"/>
            <a:ext cx="10972800" cy="310896"/>
          </a:xfrm>
          <a:prstGeom prst="rect">
            <a:avLst/>
          </a:prstGeom>
          <a:noFill/>
          <a:ln/>
        </p:spPr>
        <p:txBody>
          <a:bodyPr wrap="square" lIns="0" tIns="0" rIns="0" bIns="0" rtlCol="0" anchor="ctr"/>
          <a:lstStyle/>
          <a:p>
            <a:pPr indent="0" marL="0">
              <a:buNone/>
            </a:pPr>
            <a:r>
              <a:rPr lang="en-US" sz="1300" dirty="0">
                <a:solidFill>
                  <a:srgbClr val="E2E8F0"/>
                </a:solidFill>
                <a:latin typeface="Courier New" pitchFamily="34" charset="0"/>
                <a:ea typeface="Courier New" pitchFamily="34" charset="-122"/>
                <a:cs typeface="Courier New" pitchFamily="34" charset="-120"/>
              </a:rPr>
              <a:t>elección: A | B | C     porque: el requisito que persigo     sacrifico: lo que dejo atrás</a:t>
            </a:r>
            <a:endParaRPr lang="en-US" sz="1300" dirty="0"/>
          </a:p>
        </p:txBody>
      </p:sp>
      <p:sp>
        <p:nvSpPr>
          <p:cNvPr id="26" name="Text 22"/>
          <p:cNvSpPr txBox="1"/>
          <p:nvPr/>
        </p:nvSpPr>
        <p:spPr>
          <a:xfrm>
            <a:off x="457200" y="5806440"/>
            <a:ext cx="11247120" cy="320040"/>
          </a:xfrm>
          <a:prstGeom prst="rect">
            <a:avLst/>
          </a:prstGeom>
          <a:noFill/>
          <a:ln/>
        </p:spPr>
        <p:txBody>
          <a:bodyPr wrap="square" lIns="0" tIns="0" rIns="0" bIns="0" rtlCol="0" anchor="t"/>
          <a:lstStyle/>
          <a:p>
            <a:pPr indent="0" marL="0">
              <a:buNone/>
            </a:pPr>
            <a:r>
              <a:rPr lang="en-US" sz="1200" i="1" dirty="0">
                <a:solidFill>
                  <a:srgbClr val="4B6178"/>
                </a:solidFill>
                <a:latin typeface="Calibri" pitchFamily="34" charset="0"/>
                <a:ea typeface="Calibri" pitchFamily="34" charset="-122"/>
                <a:cs typeface="Calibri" pitchFamily="34" charset="-120"/>
              </a:rPr>
              <a:t>Mismo formato de tres líneas que la Decisión 0. Los 10 equipos deciden en el chat; dos defienden en voz.</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Para la S4: el sistema en su máquina, y gRPC</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30/32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G · Para la S4</a:t>
            </a:r>
            <a:endParaRPr lang="en-US" sz="1000" dirty="0"/>
          </a:p>
        </p:txBody>
      </p:sp>
      <p:sp>
        <p:nvSpPr>
          <p:cNvPr id="5" name="Shape 3"/>
          <p:cNvSpPr/>
          <p:nvPr/>
        </p:nvSpPr>
        <p:spPr>
          <a:xfrm>
            <a:off x="457200" y="1371600"/>
            <a:ext cx="3657600" cy="2743200"/>
          </a:xfrm>
          <a:prstGeom prst="roundRect">
            <a:avLst>
              <a:gd name="adj" fmla="val 2667"/>
            </a:avLst>
          </a:prstGeom>
          <a:solidFill>
            <a:srgbClr val="FFFFFF"/>
          </a:solidFill>
          <a:ln w="12700">
            <a:solidFill>
              <a:srgbClr val="D9E2EE"/>
            </a:solidFill>
            <a:prstDash val="solid"/>
          </a:ln>
        </p:spPr>
      </p:sp>
      <p:pic>
        <p:nvPicPr>
          <p:cNvPr id="6" name="Image 0" descr="preencoded.png">    </p:cNvPr>
          <p:cNvPicPr>
            <a:picLocks noChangeAspect="1"/>
          </p:cNvPicPr>
          <p:nvPr/>
        </p:nvPicPr>
        <p:blipFill>
          <a:blip r:embed="rId1"/>
          <a:stretch>
            <a:fillRect/>
          </a:stretch>
        </p:blipFill>
        <p:spPr>
          <a:xfrm>
            <a:off x="621792" y="1508760"/>
            <a:ext cx="274320" cy="274320"/>
          </a:xfrm>
          <a:prstGeom prst="rect">
            <a:avLst/>
          </a:prstGeom>
        </p:spPr>
      </p:pic>
      <p:sp>
        <p:nvSpPr>
          <p:cNvPr id="7" name="Text 4"/>
          <p:cNvSpPr txBox="1"/>
          <p:nvPr/>
        </p:nvSpPr>
        <p:spPr>
          <a:xfrm>
            <a:off x="100584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Lectura 3 · para la S4</a:t>
            </a:r>
            <a:endParaRPr lang="en-US" sz="1300" dirty="0"/>
          </a:p>
        </p:txBody>
      </p:sp>
      <p:sp>
        <p:nvSpPr>
          <p:cNvPr id="8" name="Text 5"/>
          <p:cNvSpPr txBox="1"/>
          <p:nvPr/>
        </p:nvSpPr>
        <p:spPr>
          <a:xfrm>
            <a:off x="621792" y="1847088"/>
            <a:ext cx="3328416" cy="215798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The Twelve-Factor App (12factor.net), los 12 factores; atención a III Config y VI Procesos.</a:t>
            </a:r>
            <a:endParaRPr lang="en-US" sz="1300" dirty="0"/>
          </a:p>
          <a:p>
            <a:pPr indent="0" marL="0">
              <a:spcAft>
                <a:spcPts val="400"/>
              </a:spcAft>
              <a:buNone/>
            </a:pPr>
            <a:endParaRPr lang="en-US" sz="1300" dirty="0"/>
          </a:p>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Burns, Grant, Oppenheimer, Brewer y Wilkes, "Borg, Omega, and Kubernetes" (2016).</a:t>
            </a:r>
            <a:endParaRPr lang="en-US" sz="1300" dirty="0"/>
          </a:p>
        </p:txBody>
      </p:sp>
      <p:sp>
        <p:nvSpPr>
          <p:cNvPr id="9" name="Shape 6"/>
          <p:cNvSpPr/>
          <p:nvPr/>
        </p:nvSpPr>
        <p:spPr>
          <a:xfrm>
            <a:off x="4251960" y="1371600"/>
            <a:ext cx="3657600" cy="2743200"/>
          </a:xfrm>
          <a:prstGeom prst="roundRect">
            <a:avLst>
              <a:gd name="adj" fmla="val 2667"/>
            </a:avLst>
          </a:prstGeom>
          <a:solidFill>
            <a:srgbClr val="FFFFFF"/>
          </a:solidFill>
          <a:ln w="12700">
            <a:solidFill>
              <a:srgbClr val="D9E2EE"/>
            </a:solidFill>
            <a:prstDash val="solid"/>
          </a:ln>
        </p:spPr>
      </p:sp>
      <p:pic>
        <p:nvPicPr>
          <p:cNvPr id="10" name="Image 1" descr="preencoded.png">    </p:cNvPr>
          <p:cNvPicPr>
            <a:picLocks noChangeAspect="1"/>
          </p:cNvPicPr>
          <p:nvPr/>
        </p:nvPicPr>
        <p:blipFill>
          <a:blip r:embed="rId2"/>
          <a:stretch>
            <a:fillRect/>
          </a:stretch>
        </p:blipFill>
        <p:spPr>
          <a:xfrm>
            <a:off x="4416552" y="1508760"/>
            <a:ext cx="274320" cy="274320"/>
          </a:xfrm>
          <a:prstGeom prst="rect">
            <a:avLst/>
          </a:prstGeom>
        </p:spPr>
      </p:pic>
      <p:sp>
        <p:nvSpPr>
          <p:cNvPr id="11" name="Text 7"/>
          <p:cNvSpPr txBox="1"/>
          <p:nvPr/>
        </p:nvSpPr>
        <p:spPr>
          <a:xfrm>
            <a:off x="480060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Entrega</a:t>
            </a:r>
            <a:endParaRPr lang="en-US" sz="1300" dirty="0"/>
          </a:p>
        </p:txBody>
      </p:sp>
      <p:sp>
        <p:nvSpPr>
          <p:cNvPr id="12" name="Text 8"/>
          <p:cNvSpPr txBox="1"/>
          <p:nvPr/>
        </p:nvSpPr>
        <p:spPr>
          <a:xfrm>
            <a:off x="4416552" y="1847088"/>
            <a:ext cx="3328416" cy="215798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2 preguntas + 1 hallazgo en la Discussion de la semana.</a:t>
            </a:r>
            <a:endParaRPr lang="en-US" sz="1300" dirty="0"/>
          </a:p>
          <a:p>
            <a:pPr indent="0" marL="0">
              <a:spcAft>
                <a:spcPts val="400"/>
              </a:spcAft>
              <a:buNone/>
            </a:pPr>
            <a:endParaRPr lang="en-US" sz="1300" dirty="0"/>
          </a:p>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Antes del jueves 10 de septiembre, 23:59.</a:t>
            </a:r>
            <a:endParaRPr lang="en-US" sz="1300" dirty="0"/>
          </a:p>
          <a:p>
            <a:pPr indent="0" marL="0">
              <a:spcAft>
                <a:spcPts val="400"/>
              </a:spcAft>
              <a:buNone/>
            </a:pPr>
            <a:endParaRPr lang="en-US" sz="1300" dirty="0"/>
          </a:p>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Con esta ya cuenta para la calificación de lecturas.</a:t>
            </a:r>
            <a:endParaRPr lang="en-US" sz="1300" dirty="0"/>
          </a:p>
        </p:txBody>
      </p:sp>
      <p:sp>
        <p:nvSpPr>
          <p:cNvPr id="13" name="Shape 9"/>
          <p:cNvSpPr/>
          <p:nvPr/>
        </p:nvSpPr>
        <p:spPr>
          <a:xfrm>
            <a:off x="8046720" y="1371600"/>
            <a:ext cx="3657600" cy="2743200"/>
          </a:xfrm>
          <a:prstGeom prst="roundRect">
            <a:avLst>
              <a:gd name="adj" fmla="val 2667"/>
            </a:avLst>
          </a:prstGeom>
          <a:solidFill>
            <a:srgbClr val="FFFFFF"/>
          </a:solidFill>
          <a:ln w="12700">
            <a:solidFill>
              <a:srgbClr val="D9E2EE"/>
            </a:solidFill>
            <a:prstDash val="solid"/>
          </a:ln>
        </p:spPr>
      </p:sp>
      <p:pic>
        <p:nvPicPr>
          <p:cNvPr id="14" name="Image 2" descr="preencoded.png">    </p:cNvPr>
          <p:cNvPicPr>
            <a:picLocks noChangeAspect="1"/>
          </p:cNvPicPr>
          <p:nvPr/>
        </p:nvPicPr>
        <p:blipFill>
          <a:blip r:embed="rId3"/>
          <a:stretch>
            <a:fillRect/>
          </a:stretch>
        </p:blipFill>
        <p:spPr>
          <a:xfrm>
            <a:off x="8211312" y="1508760"/>
            <a:ext cx="274320" cy="274320"/>
          </a:xfrm>
          <a:prstGeom prst="rect">
            <a:avLst/>
          </a:prstGeom>
        </p:spPr>
      </p:pic>
      <p:sp>
        <p:nvSpPr>
          <p:cNvPr id="15" name="Text 10"/>
          <p:cNvSpPr txBox="1"/>
          <p:nvPr/>
        </p:nvSpPr>
        <p:spPr>
          <a:xfrm>
            <a:off x="8595360" y="1481328"/>
            <a:ext cx="2944368" cy="329184"/>
          </a:xfrm>
          <a:prstGeom prst="rect">
            <a:avLst/>
          </a:prstGeom>
          <a:noFill/>
          <a:ln/>
        </p:spPr>
        <p:txBody>
          <a:bodyPr wrap="square" lIns="0" tIns="0" rIns="0" bIns="0" rtlCol="0" anchor="ctr"/>
          <a:lstStyle/>
          <a:p>
            <a:pPr indent="0" marL="0">
              <a:buNone/>
            </a:pPr>
            <a:r>
              <a:rPr lang="en-US" sz="1300" b="1" dirty="0">
                <a:solidFill>
                  <a:srgbClr val="4B6178"/>
                </a:solidFill>
                <a:latin typeface="Calibri" pitchFamily="34" charset="0"/>
                <a:ea typeface="Calibri" pitchFamily="34" charset="-122"/>
                <a:cs typeface="Calibri" pitchFamily="34" charset="-120"/>
              </a:rPr>
              <a:t>S4 · 12 de septiembre</a:t>
            </a:r>
            <a:endParaRPr lang="en-US" sz="1300" dirty="0"/>
          </a:p>
        </p:txBody>
      </p:sp>
      <p:sp>
        <p:nvSpPr>
          <p:cNvPr id="16" name="Text 11"/>
          <p:cNvSpPr txBox="1"/>
          <p:nvPr/>
        </p:nvSpPr>
        <p:spPr>
          <a:xfrm>
            <a:off x="8211312" y="1847088"/>
            <a:ext cx="3328416" cy="2157984"/>
          </a:xfrm>
          <a:prstGeom prst="rect">
            <a:avLst/>
          </a:prstGeom>
          <a:noFill/>
          <a:ln/>
        </p:spPr>
        <p:txBody>
          <a:bodyPr wrap="square" lIns="0" tIns="0" rIns="0" bIns="0" rtlCol="0" anchor="t"/>
          <a:lstStyle/>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docker pull de las imágenes provistas del curso, levantar el sistema completo con el compose dado y explorarlo por dentro.</a:t>
            </a:r>
            <a:endParaRPr lang="en-US" sz="1300" dirty="0"/>
          </a:p>
          <a:p>
            <a:pPr indent="0" marL="0">
              <a:spcAft>
                <a:spcPts val="400"/>
              </a:spcAft>
              <a:buNone/>
            </a:pPr>
            <a:endParaRPr lang="en-US" sz="1300" dirty="0"/>
          </a:p>
          <a:p>
            <a:pPr indent="0" marL="0">
              <a:spcAft>
                <a:spcPts val="400"/>
              </a:spcAft>
              <a:buNone/>
            </a:pPr>
            <a:r>
              <a:rPr lang="en-US" sz="1300" dirty="0">
                <a:solidFill>
                  <a:srgbClr val="12253D"/>
                </a:solidFill>
                <a:latin typeface="Calibri" pitchFamily="34" charset="0"/>
                <a:ea typeface="Calibri" pitchFamily="34" charset="-122"/>
                <a:cs typeface="Calibri" pitchFamily="34" charset="-120"/>
              </a:rPr>
              <a:t>La teoría abre con gRPC y el criterio REST vs gRPC.</a:t>
            </a:r>
            <a:endParaRPr lang="en-US" sz="1300" dirty="0"/>
          </a:p>
        </p:txBody>
      </p:sp>
      <p:sp>
        <p:nvSpPr>
          <p:cNvPr id="17" name="Text 12"/>
          <p:cNvSpPr txBox="1"/>
          <p:nvPr/>
        </p:nvSpPr>
        <p:spPr>
          <a:xfrm>
            <a:off x="457200" y="4434840"/>
            <a:ext cx="5486400" cy="548640"/>
          </a:xfrm>
          <a:prstGeom prst="rect">
            <a:avLst/>
          </a:prstGeom>
          <a:noFill/>
          <a:ln/>
        </p:spPr>
        <p:txBody>
          <a:bodyPr wrap="square" lIns="0" tIns="0" rIns="0" bIns="0" rtlCol="0" anchor="b"/>
          <a:lstStyle/>
          <a:p>
            <a:pPr algn="l" indent="0" marL="0">
              <a:buNone/>
            </a:pPr>
            <a:r>
              <a:rPr lang="en-US" sz="3200" b="1" dirty="0">
                <a:solidFill>
                  <a:srgbClr val="12253D"/>
                </a:solidFill>
                <a:latin typeface="Calibri" pitchFamily="34" charset="0"/>
                <a:ea typeface="Calibri" pitchFamily="34" charset="-122"/>
                <a:cs typeface="Calibri" pitchFamily="34" charset="-120"/>
              </a:rPr>
              <a:t>38 → 9 bytes</a:t>
            </a:r>
            <a:endParaRPr lang="en-US" sz="3200" dirty="0"/>
          </a:p>
        </p:txBody>
      </p:sp>
      <p:sp>
        <p:nvSpPr>
          <p:cNvPr id="18" name="Text 13"/>
          <p:cNvSpPr txBox="1"/>
          <p:nvPr/>
        </p:nvSpPr>
        <p:spPr>
          <a:xfrm>
            <a:off x="457200" y="4983480"/>
            <a:ext cx="5486400" cy="457200"/>
          </a:xfrm>
          <a:prstGeom prst="rect">
            <a:avLst/>
          </a:prstGeom>
          <a:noFill/>
          <a:ln/>
        </p:spPr>
        <p:txBody>
          <a:bodyPr wrap="square" lIns="0" tIns="0" rIns="0" bIns="0" rtlCol="0" anchor="t"/>
          <a:lstStyle/>
          <a:p>
            <a:pPr algn="l" indent="0" marL="0">
              <a:buNone/>
            </a:pPr>
            <a:r>
              <a:rPr lang="en-US" sz="1200" dirty="0">
                <a:solidFill>
                  <a:srgbClr val="4B6178"/>
                </a:solidFill>
                <a:latin typeface="Calibri" pitchFamily="34" charset="0"/>
                <a:ea typeface="Calibri" pitchFamily="34" charset="-122"/>
                <a:cs typeface="Calibri" pitchFamily="34" charset="-120"/>
              </a:rPr>
              <a:t>el mismo objeto en JSON y en Protobuf: el adelanto de la S4</a:t>
            </a:r>
            <a:endParaRPr lang="en-US" sz="1200" dirty="0"/>
          </a:p>
        </p:txBody>
      </p:sp>
      <p:sp>
        <p:nvSpPr>
          <p:cNvPr id="19" name="Shape 14"/>
          <p:cNvSpPr/>
          <p:nvPr/>
        </p:nvSpPr>
        <p:spPr>
          <a:xfrm>
            <a:off x="6217920" y="4709160"/>
            <a:ext cx="5486400" cy="411480"/>
          </a:xfrm>
          <a:prstGeom prst="roundRect">
            <a:avLst>
              <a:gd name="adj" fmla="val 37778"/>
            </a:avLst>
          </a:prstGeom>
          <a:solidFill>
            <a:srgbClr val="DBEAFE"/>
          </a:solidFill>
          <a:ln w="12700">
            <a:solidFill>
              <a:srgbClr val="DBEAFE"/>
            </a:solidFill>
            <a:prstDash val="solid"/>
          </a:ln>
        </p:spPr>
      </p:sp>
      <p:sp>
        <p:nvSpPr>
          <p:cNvPr id="20" name="Text 15"/>
          <p:cNvSpPr txBox="1"/>
          <p:nvPr/>
        </p:nvSpPr>
        <p:spPr>
          <a:xfrm>
            <a:off x="6217920" y="4709160"/>
            <a:ext cx="5486400" cy="41148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Requisito: Docker funcionando, exactamente lo del lab de hoy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Ocho preguntas que hoy ya pueden responder</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31/32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Cierre</a:t>
            </a:r>
            <a:endParaRPr lang="en-US" sz="1000" dirty="0"/>
          </a:p>
        </p:txBody>
      </p:sp>
      <p:sp>
        <p:nvSpPr>
          <p:cNvPr id="5" name="Shape 3"/>
          <p:cNvSpPr/>
          <p:nvPr/>
        </p:nvSpPr>
        <p:spPr>
          <a:xfrm>
            <a:off x="457200" y="1618488"/>
            <a:ext cx="457200" cy="457200"/>
          </a:xfrm>
          <a:prstGeom prst="ellipse">
            <a:avLst/>
          </a:prstGeom>
          <a:solidFill>
            <a:srgbClr val="DBEAFE"/>
          </a:solidFill>
          <a:ln w="12700">
            <a:solidFill>
              <a:srgbClr val="DBEAFE"/>
            </a:solidFill>
            <a:prstDash val="solid"/>
          </a:ln>
        </p:spPr>
      </p:sp>
      <p:sp>
        <p:nvSpPr>
          <p:cNvPr id="6" name="Text 4"/>
          <p:cNvSpPr txBox="1"/>
          <p:nvPr/>
        </p:nvSpPr>
        <p:spPr>
          <a:xfrm>
            <a:off x="457200" y="161848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97280" y="141732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tres historias esconde un timeout y cuál es la única salida segura?</a:t>
            </a:r>
            <a:endParaRPr lang="en-US" sz="1400" dirty="0"/>
          </a:p>
        </p:txBody>
      </p:sp>
      <p:sp>
        <p:nvSpPr>
          <p:cNvPr id="8" name="Shape 6"/>
          <p:cNvSpPr/>
          <p:nvPr/>
        </p:nvSpPr>
        <p:spPr>
          <a:xfrm>
            <a:off x="6172200" y="1618488"/>
            <a:ext cx="457200" cy="457200"/>
          </a:xfrm>
          <a:prstGeom prst="ellipse">
            <a:avLst/>
          </a:prstGeom>
          <a:solidFill>
            <a:srgbClr val="DBEAFE"/>
          </a:solidFill>
          <a:ln w="12700">
            <a:solidFill>
              <a:srgbClr val="DBEAFE"/>
            </a:solidFill>
            <a:prstDash val="solid"/>
          </a:ln>
        </p:spPr>
      </p:sp>
      <p:sp>
        <p:nvSpPr>
          <p:cNvPr id="9" name="Text 7"/>
          <p:cNvSpPr txBox="1"/>
          <p:nvPr/>
        </p:nvSpPr>
        <p:spPr>
          <a:xfrm>
            <a:off x="6172200" y="161848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6812280" y="141732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diferencia hay entre at-least-once y exactly-once como efecto?</a:t>
            </a:r>
            <a:endParaRPr lang="en-US" sz="1400" dirty="0"/>
          </a:p>
        </p:txBody>
      </p:sp>
      <p:sp>
        <p:nvSpPr>
          <p:cNvPr id="11" name="Shape 9"/>
          <p:cNvSpPr/>
          <p:nvPr/>
        </p:nvSpPr>
        <p:spPr>
          <a:xfrm>
            <a:off x="457200" y="2670048"/>
            <a:ext cx="457200" cy="457200"/>
          </a:xfrm>
          <a:prstGeom prst="ellipse">
            <a:avLst/>
          </a:prstGeom>
          <a:solidFill>
            <a:srgbClr val="DBEAFE"/>
          </a:solidFill>
          <a:ln w="12700">
            <a:solidFill>
              <a:srgbClr val="DBEAFE"/>
            </a:solidFill>
            <a:prstDash val="solid"/>
          </a:ln>
        </p:spPr>
      </p:sp>
      <p:sp>
        <p:nvSpPr>
          <p:cNvPr id="12" name="Text 10"/>
          <p:cNvSpPr txBox="1"/>
          <p:nvPr/>
        </p:nvSpPr>
        <p:spPr>
          <a:xfrm>
            <a:off x="457200" y="267004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97280" y="246888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¿Por qué DELETE es idempotente aunque responda 204 y luego 404?</a:t>
            </a:r>
            <a:endParaRPr lang="en-US" sz="1400" dirty="0"/>
          </a:p>
        </p:txBody>
      </p:sp>
      <p:sp>
        <p:nvSpPr>
          <p:cNvPr id="14" name="Shape 12"/>
          <p:cNvSpPr/>
          <p:nvPr/>
        </p:nvSpPr>
        <p:spPr>
          <a:xfrm>
            <a:off x="6172200" y="2670048"/>
            <a:ext cx="457200" cy="457200"/>
          </a:xfrm>
          <a:prstGeom prst="ellipse">
            <a:avLst/>
          </a:prstGeom>
          <a:solidFill>
            <a:srgbClr val="DBEAFE"/>
          </a:solidFill>
          <a:ln w="12700">
            <a:solidFill>
              <a:srgbClr val="DBEAFE"/>
            </a:solidFill>
            <a:prstDash val="solid"/>
          </a:ln>
        </p:spPr>
      </p:sp>
      <p:sp>
        <p:nvSpPr>
          <p:cNvPr id="15" name="Text 13"/>
          <p:cNvSpPr txBox="1"/>
          <p:nvPr/>
        </p:nvSpPr>
        <p:spPr>
          <a:xfrm>
            <a:off x="6172200" y="267004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4</a:t>
            </a:r>
            <a:endParaRPr lang="en-US" sz="1500" dirty="0"/>
          </a:p>
        </p:txBody>
      </p:sp>
      <p:sp>
        <p:nvSpPr>
          <p:cNvPr id="16" name="Text 14"/>
          <p:cNvSpPr txBox="1"/>
          <p:nvPr/>
        </p:nvSpPr>
        <p:spPr>
          <a:xfrm>
            <a:off x="6812280" y="246888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¿Por qué un Map en memoria no basta para las claves de idempotencia?</a:t>
            </a:r>
            <a:endParaRPr lang="en-US" sz="1400" dirty="0"/>
          </a:p>
        </p:txBody>
      </p:sp>
      <p:sp>
        <p:nvSpPr>
          <p:cNvPr id="17" name="Shape 15"/>
          <p:cNvSpPr/>
          <p:nvPr/>
        </p:nvSpPr>
        <p:spPr>
          <a:xfrm>
            <a:off x="457200" y="3721608"/>
            <a:ext cx="457200" cy="457200"/>
          </a:xfrm>
          <a:prstGeom prst="ellipse">
            <a:avLst/>
          </a:prstGeom>
          <a:solidFill>
            <a:srgbClr val="DBEAFE"/>
          </a:solidFill>
          <a:ln w="12700">
            <a:solidFill>
              <a:srgbClr val="DBEAFE"/>
            </a:solidFill>
            <a:prstDash val="solid"/>
          </a:ln>
        </p:spPr>
      </p:sp>
      <p:sp>
        <p:nvSpPr>
          <p:cNvPr id="18" name="Text 16"/>
          <p:cNvSpPr txBox="1"/>
          <p:nvPr/>
        </p:nvSpPr>
        <p:spPr>
          <a:xfrm>
            <a:off x="457200" y="372160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5</a:t>
            </a:r>
            <a:endParaRPr lang="en-US" sz="1500" dirty="0"/>
          </a:p>
        </p:txBody>
      </p:sp>
      <p:sp>
        <p:nvSpPr>
          <p:cNvPr id="19" name="Text 17"/>
          <p:cNvSpPr txBox="1"/>
          <p:nvPr/>
        </p:nvSpPr>
        <p:spPr>
          <a:xfrm>
            <a:off x="1097280" y="352044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¿Qué problema resuelve el API gateway y qué pasa si él falla?</a:t>
            </a:r>
            <a:endParaRPr lang="en-US" sz="1400" dirty="0"/>
          </a:p>
        </p:txBody>
      </p:sp>
      <p:sp>
        <p:nvSpPr>
          <p:cNvPr id="20" name="Shape 18"/>
          <p:cNvSpPr/>
          <p:nvPr/>
        </p:nvSpPr>
        <p:spPr>
          <a:xfrm>
            <a:off x="6172200" y="3721608"/>
            <a:ext cx="457200" cy="457200"/>
          </a:xfrm>
          <a:prstGeom prst="ellipse">
            <a:avLst/>
          </a:prstGeom>
          <a:solidFill>
            <a:srgbClr val="DBEAFE"/>
          </a:solidFill>
          <a:ln w="12700">
            <a:solidFill>
              <a:srgbClr val="DBEAFE"/>
            </a:solidFill>
            <a:prstDash val="solid"/>
          </a:ln>
        </p:spPr>
      </p:sp>
      <p:sp>
        <p:nvSpPr>
          <p:cNvPr id="21" name="Text 19"/>
          <p:cNvSpPr txBox="1"/>
          <p:nvPr/>
        </p:nvSpPr>
        <p:spPr>
          <a:xfrm>
            <a:off x="6172200" y="372160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6</a:t>
            </a:r>
            <a:endParaRPr lang="en-US" sz="1500" dirty="0"/>
          </a:p>
        </p:txBody>
      </p:sp>
      <p:sp>
        <p:nvSpPr>
          <p:cNvPr id="22" name="Text 20"/>
          <p:cNvSpPr txBox="1"/>
          <p:nvPr/>
        </p:nvSpPr>
        <p:spPr>
          <a:xfrm>
            <a:off x="6812280" y="352044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¿Cómo encuentra un servicio a otro si las IPs cambian, y cada cuánto late Eureka?</a:t>
            </a:r>
            <a:endParaRPr lang="en-US" sz="1400" dirty="0"/>
          </a:p>
        </p:txBody>
      </p:sp>
      <p:sp>
        <p:nvSpPr>
          <p:cNvPr id="23" name="Shape 21"/>
          <p:cNvSpPr/>
          <p:nvPr/>
        </p:nvSpPr>
        <p:spPr>
          <a:xfrm>
            <a:off x="457200" y="4773168"/>
            <a:ext cx="457200" cy="457200"/>
          </a:xfrm>
          <a:prstGeom prst="ellipse">
            <a:avLst/>
          </a:prstGeom>
          <a:solidFill>
            <a:srgbClr val="DBEAFE"/>
          </a:solidFill>
          <a:ln w="12700">
            <a:solidFill>
              <a:srgbClr val="DBEAFE"/>
            </a:solidFill>
            <a:prstDash val="solid"/>
          </a:ln>
        </p:spPr>
      </p:sp>
      <p:sp>
        <p:nvSpPr>
          <p:cNvPr id="24" name="Text 22"/>
          <p:cNvSpPr txBox="1"/>
          <p:nvPr/>
        </p:nvSpPr>
        <p:spPr>
          <a:xfrm>
            <a:off x="457200" y="477316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7</a:t>
            </a:r>
            <a:endParaRPr lang="en-US" sz="1500" dirty="0"/>
          </a:p>
        </p:txBody>
      </p:sp>
      <p:sp>
        <p:nvSpPr>
          <p:cNvPr id="25" name="Text 23"/>
          <p:cNvSpPr txBox="1"/>
          <p:nvPr/>
        </p:nvSpPr>
        <p:spPr>
          <a:xfrm>
            <a:off x="1097280" y="457200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¿Cuándo conviene un broker en lugar de una llamada directa, y qué se sacrifica?</a:t>
            </a:r>
            <a:endParaRPr lang="en-US" sz="1400" dirty="0"/>
          </a:p>
        </p:txBody>
      </p:sp>
      <p:sp>
        <p:nvSpPr>
          <p:cNvPr id="26" name="Shape 24"/>
          <p:cNvSpPr/>
          <p:nvPr/>
        </p:nvSpPr>
        <p:spPr>
          <a:xfrm>
            <a:off x="6172200" y="4773168"/>
            <a:ext cx="457200" cy="457200"/>
          </a:xfrm>
          <a:prstGeom prst="ellipse">
            <a:avLst/>
          </a:prstGeom>
          <a:solidFill>
            <a:srgbClr val="DBEAFE"/>
          </a:solidFill>
          <a:ln w="12700">
            <a:solidFill>
              <a:srgbClr val="DBEAFE"/>
            </a:solidFill>
            <a:prstDash val="solid"/>
          </a:ln>
        </p:spPr>
      </p:sp>
      <p:sp>
        <p:nvSpPr>
          <p:cNvPr id="27" name="Text 25"/>
          <p:cNvSpPr txBox="1"/>
          <p:nvPr/>
        </p:nvSpPr>
        <p:spPr>
          <a:xfrm>
            <a:off x="6172200" y="4773168"/>
            <a:ext cx="457200" cy="457200"/>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8</a:t>
            </a:r>
            <a:endParaRPr lang="en-US" sz="1500" dirty="0"/>
          </a:p>
        </p:txBody>
      </p:sp>
      <p:sp>
        <p:nvSpPr>
          <p:cNvPr id="28" name="Text 26"/>
          <p:cNvSpPr txBox="1"/>
          <p:nvPr/>
        </p:nvSpPr>
        <p:spPr>
          <a:xfrm>
            <a:off x="6812280" y="4572000"/>
            <a:ext cx="4937760" cy="868680"/>
          </a:xfrm>
          <a:prstGeom prst="rect">
            <a:avLst/>
          </a:prstGeom>
          <a:noFill/>
          <a:ln/>
        </p:spPr>
        <p:txBody>
          <a:bodyPr wrap="square" lIns="0" tIns="0" rIns="0" bIns="0" rtlCol="0" anchor="ctr"/>
          <a:lstStyle/>
          <a:p>
            <a:pPr indent="0" marL="0">
              <a:buNone/>
            </a:pPr>
            <a:r>
              <a:rPr lang="en-US" sz="1400" dirty="0">
                <a:solidFill>
                  <a:srgbClr val="12253D"/>
                </a:solidFill>
                <a:latin typeface="Calibri" pitchFamily="34" charset="0"/>
                <a:ea typeface="Calibri" pitchFamily="34" charset="-122"/>
                <a:cs typeface="Calibri" pitchFamily="34" charset="-120"/>
              </a:rPr>
              <a:t>¿Con qué criterio se elige el tipo de base de datos de cada servicio?</a:t>
            </a:r>
            <a:endParaRPr lang="en-US" sz="1400" dirty="0"/>
          </a:p>
        </p:txBody>
      </p:sp>
      <p:sp>
        <p:nvSpPr>
          <p:cNvPr id="29" name="Text 27"/>
          <p:cNvSpPr txBox="1"/>
          <p:nvPr/>
        </p:nvSpPr>
        <p:spPr>
          <a:xfrm>
            <a:off x="457200" y="5760720"/>
            <a:ext cx="11247120" cy="365760"/>
          </a:xfrm>
          <a:prstGeom prst="rect">
            <a:avLst/>
          </a:prstGeom>
          <a:noFill/>
          <a:ln/>
        </p:spPr>
        <p:txBody>
          <a:bodyPr wrap="square" lIns="0" tIns="0" rIns="0" bIns="0" rtlCol="0" anchor="t"/>
          <a:lstStyle/>
          <a:p>
            <a:pPr indent="0" marL="0">
              <a:buNone/>
            </a:pPr>
            <a:r>
              <a:rPr lang="en-US" sz="1300" i="1" dirty="0">
                <a:solidFill>
                  <a:srgbClr val="4B6178"/>
                </a:solidFill>
                <a:latin typeface="Calibri" pitchFamily="34" charset="0"/>
                <a:ea typeface="Calibri" pitchFamily="34" charset="-122"/>
                <a:cs typeface="Calibri" pitchFamily="34" charset="-120"/>
              </a:rPr>
              <a:t>La que no puedan responder, esa es la que se estudia esta semana. Están respondidas en la guía.</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457200" y="292608"/>
            <a:ext cx="10241280" cy="868680"/>
          </a:xfrm>
          <a:prstGeom prst="rect">
            <a:avLst/>
          </a:prstGeom>
          <a:noFill/>
          <a:ln/>
        </p:spPr>
        <p:txBody>
          <a:bodyPr wrap="square" lIns="0" tIns="0" rIns="0" bIns="0" rtlCol="0" anchor="ctr"/>
          <a:lstStyle/>
          <a:p>
            <a:pPr indent="0" marL="0">
              <a:buNone/>
            </a:pPr>
            <a:r>
              <a:rPr lang="en-US" sz="3000" b="1" dirty="0">
                <a:solidFill>
                  <a:srgbClr val="12253D"/>
                </a:solidFill>
                <a:latin typeface="Calibri" pitchFamily="34" charset="0"/>
                <a:ea typeface="Calibri" pitchFamily="34" charset="-122"/>
                <a:cs typeface="Calibri" pitchFamily="34" charset="-120"/>
              </a:rPr>
              <a:t>Fuentes de la sesión</a:t>
            </a:r>
            <a:endParaRPr lang="en-US" sz="3000" dirty="0"/>
          </a:p>
        </p:txBody>
      </p:sp>
      <p:sp>
        <p:nvSpPr>
          <p:cNvPr id="3" name="Text 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4B6178"/>
                </a:solidFill>
                <a:latin typeface="Calibri" pitchFamily="34" charset="0"/>
                <a:ea typeface="Calibri" pitchFamily="34" charset="-122"/>
                <a:cs typeface="Calibri" pitchFamily="34" charset="-120"/>
              </a:rPr>
              <a:t>S03 · Sistemas Distribuidos 2027-1 · 32/32</a:t>
            </a:r>
            <a:endParaRPr lang="en-US" sz="1000" dirty="0"/>
          </a:p>
        </p:txBody>
      </p:sp>
      <p:sp>
        <p:nvSpPr>
          <p:cNvPr id="4" name="Text 2"/>
          <p:cNvSpPr txBox="1"/>
          <p:nvPr/>
        </p:nvSpPr>
        <p:spPr>
          <a:xfrm>
            <a:off x="8074152" y="6446520"/>
            <a:ext cx="3657600" cy="274320"/>
          </a:xfrm>
          <a:prstGeom prst="rect">
            <a:avLst/>
          </a:prstGeom>
          <a:noFill/>
          <a:ln/>
        </p:spPr>
        <p:txBody>
          <a:bodyPr wrap="square" lIns="0" tIns="0" rIns="0" bIns="0" rtlCol="0" anchor="ctr"/>
          <a:lstStyle/>
          <a:p>
            <a:pPr algn="r" indent="0" marL="0">
              <a:buNone/>
            </a:pPr>
            <a:r>
              <a:rPr lang="en-US" sz="1000" dirty="0">
                <a:solidFill>
                  <a:srgbClr val="4B6178"/>
                </a:solidFill>
                <a:latin typeface="Calibri" pitchFamily="34" charset="0"/>
                <a:ea typeface="Calibri" pitchFamily="34" charset="-122"/>
                <a:cs typeface="Calibri" pitchFamily="34" charset="-120"/>
              </a:rPr>
              <a:t>Referencias</a:t>
            </a:r>
            <a:endParaRPr lang="en-US" sz="1000" dirty="0"/>
          </a:p>
        </p:txBody>
      </p:sp>
      <p:sp>
        <p:nvSpPr>
          <p:cNvPr id="5" name="Text 3"/>
          <p:cNvSpPr txBox="1"/>
          <p:nvPr/>
        </p:nvSpPr>
        <p:spPr>
          <a:xfrm>
            <a:off x="457200" y="1371600"/>
            <a:ext cx="11247120" cy="4754880"/>
          </a:xfrm>
          <a:prstGeom prst="rect">
            <a:avLst/>
          </a:prstGeom>
          <a:noFill/>
          <a:ln/>
        </p:spPr>
        <p:txBody>
          <a:bodyPr wrap="square" lIns="0" tIns="0" rIns="0" bIns="0" rtlCol="0" anchor="t"/>
          <a:lstStyle/>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Waldo, Wyant, Wollrath y Kendall. A Note on Distributed Computing. Sun Microsystems, SMLI TR-94-29, 1994 (la Lectura 2).</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Birrell y Nelson. Implementing Remote Procedure Calls. ACM TOCS 2(1), 1984.</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Fielding. Architectural Styles and the Design of Network-based Software Architectures, cap. 5. UC Irvine, 2000.</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RFC 9110, HTTP Semantics (IETF, 2022), §9.2.1 y §9.2.2 · RFC 10008, The HTTP QUERY Method (IETF, 2026).</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Stripe. Idempotent requests (docs.stripe.com) · Leach, Designing robust and predictable APIs with idempotency, 2017.</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AWS. Summary of the Amazon Kinesis Event in US-EAST-1, 25-nov-2020 · Brooker, Exponential Backoff And Jitter, 2015.</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Roblox, Return to Service 10/28-10/31 2021 · Cloudflare, outage on November 18, 2025 · Slack, Incident on 2-22-22 · Fastly, Summary of June 8 outage, 2021 · Twilio, Billing Incident Post-Mortem, 2013.</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Spring Boot 4.1, Spring Cloud 2025.1 (Gateway, Netflix, Config), Spring AMQP 4.0: documentación de referencia en docs.spring.io.</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Fowler. PolyglotPersistence, 2011 · Newman. Building Microservices, 2.ª ed., 2021 · Kleppmann. Designing Data-Intensive Applications, 2017.</a:t>
            </a:r>
            <a:endParaRPr lang="en-US" sz="1350" dirty="0"/>
          </a:p>
          <a:p>
            <a:pPr indent="0" marL="0">
              <a:spcAft>
                <a:spcPts val="800"/>
              </a:spcAft>
              <a:buNone/>
            </a:pPr>
            <a:r>
              <a:rPr lang="en-US" sz="1350" dirty="0">
                <a:solidFill>
                  <a:srgbClr val="12253D"/>
                </a:solidFill>
                <a:latin typeface="Calibri" pitchFamily="34" charset="0"/>
                <a:ea typeface="Calibri" pitchFamily="34" charset="-122"/>
                <a:cs typeface="Calibri" pitchFamily="34" charset="-120"/>
              </a:rPr>
              <a:t>· Sigelman et al. Dapper, Google 2010 · W3C Trace Context Level 1 · OpenTelemetry specification status.</a:t>
            </a:r>
            <a:endParaRPr lang="en-US" sz="1350" dirty="0"/>
          </a:p>
        </p:txBody>
      </p:sp>
      <p:sp>
        <p:nvSpPr>
          <p:cNvPr id="6" name="Text 4"/>
          <p:cNvSpPr txBox="1"/>
          <p:nvPr/>
        </p:nvSpPr>
        <p:spPr>
          <a:xfrm>
            <a:off x="457200" y="5852160"/>
            <a:ext cx="11247120" cy="365760"/>
          </a:xfrm>
          <a:prstGeom prst="rect">
            <a:avLst/>
          </a:prstGeom>
          <a:noFill/>
          <a:ln/>
        </p:spPr>
        <p:txBody>
          <a:bodyPr wrap="square" lIns="0" tIns="0" rIns="0" bIns="0" rtlCol="0" anchor="t"/>
          <a:lstStyle/>
          <a:p>
            <a:pPr indent="0" marL="0">
              <a:buNone/>
            </a:pPr>
            <a:r>
              <a:rPr lang="en-US" sz="1100" i="1" dirty="0">
                <a:solidFill>
                  <a:srgbClr val="4B6178"/>
                </a:solidFill>
                <a:latin typeface="Calibri" pitchFamily="34" charset="0"/>
                <a:ea typeface="Calibri" pitchFamily="34" charset="-122"/>
                <a:cs typeface="Calibri" pitchFamily="34" charset="-120"/>
              </a:rPr>
              <a:t>Enlaces completos y numerados en 01-investigacion.md (103 fuentes) y en lecturas/README.md del repo del curso.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S03 · Anatomía de un sistema real</dc:title>
  <dc:subject>PptxGenJS Presentation</dc:subject>
  <dc:creator>Oscar Manuel Ruiz Hurtado</dc:creator>
  <cp:lastModifiedBy>Oscar Manuel Ruiz Hurtado</cp:lastModifiedBy>
  <cp:revision>1</cp:revision>
  <dcterms:created xsi:type="dcterms:W3CDTF">2026-09-05T04:17:24Z</dcterms:created>
  <dcterms:modified xsi:type="dcterms:W3CDTF">2026-09-05T04:17:24Z</dcterms:modified>
</cp:coreProperties>
</file>